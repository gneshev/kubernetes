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9"/>
  </p:notesMasterIdLst>
  <p:sldIdLst>
    <p:sldId id="256" r:id="rId2"/>
    <p:sldId id="269" r:id="rId3"/>
    <p:sldId id="258" r:id="rId4"/>
    <p:sldId id="336" r:id="rId5"/>
    <p:sldId id="270" r:id="rId6"/>
    <p:sldId id="332" r:id="rId7"/>
    <p:sldId id="335" r:id="rId8"/>
    <p:sldId id="271" r:id="rId9"/>
    <p:sldId id="337" r:id="rId10"/>
    <p:sldId id="272" r:id="rId11"/>
    <p:sldId id="347" r:id="rId12"/>
    <p:sldId id="348" r:id="rId13"/>
    <p:sldId id="273" r:id="rId14"/>
    <p:sldId id="349" r:id="rId15"/>
    <p:sldId id="274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352" r:id="rId27"/>
    <p:sldId id="276" r:id="rId28"/>
    <p:sldId id="278" r:id="rId29"/>
    <p:sldId id="279" r:id="rId30"/>
    <p:sldId id="280" r:id="rId31"/>
    <p:sldId id="281" r:id="rId32"/>
    <p:sldId id="338" r:id="rId33"/>
    <p:sldId id="283" r:id="rId34"/>
    <p:sldId id="284" r:id="rId35"/>
    <p:sldId id="285" r:id="rId36"/>
    <p:sldId id="288" r:id="rId37"/>
    <p:sldId id="291" r:id="rId38"/>
    <p:sldId id="292" r:id="rId39"/>
    <p:sldId id="293" r:id="rId40"/>
    <p:sldId id="298" r:id="rId41"/>
    <p:sldId id="295" r:id="rId42"/>
    <p:sldId id="296" r:id="rId43"/>
    <p:sldId id="297" r:id="rId44"/>
    <p:sldId id="299" r:id="rId45"/>
    <p:sldId id="300" r:id="rId46"/>
    <p:sldId id="301" r:id="rId47"/>
    <p:sldId id="350" r:id="rId48"/>
    <p:sldId id="303" r:id="rId49"/>
    <p:sldId id="351" r:id="rId50"/>
    <p:sldId id="304" r:id="rId51"/>
    <p:sldId id="341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42" r:id="rId64"/>
    <p:sldId id="318" r:id="rId65"/>
    <p:sldId id="319" r:id="rId66"/>
    <p:sldId id="343" r:id="rId67"/>
    <p:sldId id="321" r:id="rId68"/>
    <p:sldId id="322" r:id="rId69"/>
    <p:sldId id="344" r:id="rId70"/>
    <p:sldId id="325" r:id="rId71"/>
    <p:sldId id="324" r:id="rId72"/>
    <p:sldId id="345" r:id="rId73"/>
    <p:sldId id="327" r:id="rId74"/>
    <p:sldId id="328" r:id="rId75"/>
    <p:sldId id="346" r:id="rId76"/>
    <p:sldId id="330" r:id="rId77"/>
    <p:sldId id="331" r:id="rId7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400" autoAdjust="0"/>
  </p:normalViewPr>
  <p:slideViewPr>
    <p:cSldViewPr snapToGrid="0" snapToObjects="1">
      <p:cViewPr varScale="1">
        <p:scale>
          <a:sx n="83" d="100"/>
          <a:sy n="83" d="100"/>
        </p:scale>
        <p:origin x="648" y="2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57925-9CDC-4C89-BFF2-A5D77DBDF6A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4D517-E97B-40BA-9682-97BDE3951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3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Преди</a:t>
            </a:r>
            <a:r>
              <a:rPr lang="ru-RU" dirty="0"/>
              <a:t> да се потопим в </a:t>
            </a:r>
            <a:r>
              <a:rPr lang="ru-RU" dirty="0" err="1"/>
              <a:t>контейнерите</a:t>
            </a:r>
            <a:r>
              <a:rPr lang="ru-RU" dirty="0"/>
              <a:t>, е важно да разберем </a:t>
            </a:r>
            <a:r>
              <a:rPr lang="ru-RU" dirty="0" err="1"/>
              <a:t>разликата</a:t>
            </a:r>
            <a:r>
              <a:rPr lang="ru-RU" dirty="0"/>
              <a:t> между </a:t>
            </a:r>
            <a:r>
              <a:rPr lang="en-US" dirty="0"/>
              <a:t>image</a:t>
            </a:r>
            <a:r>
              <a:rPr lang="ru-RU" dirty="0"/>
              <a:t> и </a:t>
            </a:r>
            <a:r>
              <a:rPr lang="en-US" dirty="0"/>
              <a:t>container</a:t>
            </a:r>
            <a:r>
              <a:rPr lang="ru-RU" dirty="0"/>
              <a:t>.</a:t>
            </a:r>
            <a:r>
              <a:rPr lang="en-US" dirty="0"/>
              <a:t> Image</a:t>
            </a:r>
            <a:r>
              <a:rPr lang="ru-RU" dirty="0"/>
              <a:t> </a:t>
            </a:r>
            <a:r>
              <a:rPr lang="bg-BG" dirty="0"/>
              <a:t>е </a:t>
            </a:r>
            <a:r>
              <a:rPr lang="ru-RU" dirty="0"/>
              <a:t>самостоятелен и </a:t>
            </a:r>
            <a:r>
              <a:rPr lang="ru-RU" dirty="0" err="1"/>
              <a:t>изпълним</a:t>
            </a:r>
            <a:r>
              <a:rPr lang="ru-RU" dirty="0"/>
              <a:t> пакет, </a:t>
            </a:r>
            <a:r>
              <a:rPr lang="ru-RU" dirty="0" err="1"/>
              <a:t>който</a:t>
            </a:r>
            <a:r>
              <a:rPr lang="ru-RU" dirty="0"/>
              <a:t> </a:t>
            </a:r>
            <a:r>
              <a:rPr lang="ru-RU" dirty="0" err="1"/>
              <a:t>включва</a:t>
            </a:r>
            <a:r>
              <a:rPr lang="ru-RU" dirty="0"/>
              <a:t> </a:t>
            </a:r>
            <a:r>
              <a:rPr lang="ru-RU" dirty="0" err="1"/>
              <a:t>всичко</a:t>
            </a:r>
            <a:r>
              <a:rPr lang="ru-RU" dirty="0"/>
              <a:t> необходимо за </a:t>
            </a:r>
            <a:r>
              <a:rPr lang="ru-RU" dirty="0" err="1"/>
              <a:t>стартиране</a:t>
            </a:r>
            <a:r>
              <a:rPr lang="ru-RU" dirty="0"/>
              <a:t> на </a:t>
            </a:r>
            <a:r>
              <a:rPr lang="ru-RU" dirty="0" err="1"/>
              <a:t>софтуер</a:t>
            </a:r>
            <a:r>
              <a:rPr lang="ru-RU" dirty="0"/>
              <a:t>.</a:t>
            </a:r>
            <a:endParaRPr lang="en-US" dirty="0"/>
          </a:p>
          <a:p>
            <a:r>
              <a:rPr lang="en-US" dirty="0"/>
              <a:t>Container </a:t>
            </a:r>
            <a:r>
              <a:rPr lang="bg-BG" dirty="0"/>
              <a:t>е работеща инстанциа на </a:t>
            </a:r>
            <a:r>
              <a:rPr lang="en-US"/>
              <a:t>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07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1. </a:t>
            </a:r>
            <a:r>
              <a:rPr lang="ru-RU" dirty="0" err="1"/>
              <a:t>Бързина</a:t>
            </a:r>
            <a:r>
              <a:rPr lang="ru-RU" dirty="0"/>
              <a:t> и </a:t>
            </a:r>
            <a:r>
              <a:rPr lang="ru-RU" dirty="0" err="1"/>
              <a:t>ефективност</a:t>
            </a:r>
            <a:r>
              <a:rPr lang="ru-RU" dirty="0"/>
              <a:t>: </a:t>
            </a:r>
            <a:r>
              <a:rPr lang="ru-RU" dirty="0" err="1"/>
              <a:t>Стартират</a:t>
            </a:r>
            <a:r>
              <a:rPr lang="ru-RU" dirty="0"/>
              <a:t> за </a:t>
            </a:r>
            <a:r>
              <a:rPr lang="ru-RU" dirty="0" err="1"/>
              <a:t>милисекунди</a:t>
            </a:r>
            <a:r>
              <a:rPr lang="ru-RU" dirty="0"/>
              <a:t>, </a:t>
            </a:r>
            <a:r>
              <a:rPr lang="ru-RU" dirty="0" err="1"/>
              <a:t>защото</a:t>
            </a:r>
            <a:r>
              <a:rPr lang="ru-RU" dirty="0"/>
              <a:t> </a:t>
            </a:r>
            <a:r>
              <a:rPr lang="ru-RU" dirty="0" err="1"/>
              <a:t>споделят</a:t>
            </a:r>
            <a:r>
              <a:rPr lang="ru-RU" dirty="0"/>
              <a:t> </a:t>
            </a:r>
            <a:r>
              <a:rPr lang="ru-RU" dirty="0" err="1"/>
              <a:t>ядрото</a:t>
            </a:r>
            <a:r>
              <a:rPr lang="ru-RU" dirty="0"/>
              <a:t> на хост </a:t>
            </a:r>
            <a:r>
              <a:rPr lang="ru-RU" dirty="0" err="1"/>
              <a:t>операционната</a:t>
            </a:r>
            <a:r>
              <a:rPr lang="ru-RU" dirty="0"/>
              <a:t> система (</a:t>
            </a:r>
            <a:r>
              <a:rPr lang="ru-RU" dirty="0" err="1"/>
              <a:t>Kernel</a:t>
            </a:r>
            <a:r>
              <a:rPr lang="ru-RU" dirty="0"/>
              <a:t>). За </a:t>
            </a:r>
            <a:r>
              <a:rPr lang="ru-RU" dirty="0" err="1"/>
              <a:t>разлика</a:t>
            </a:r>
            <a:r>
              <a:rPr lang="ru-RU" dirty="0"/>
              <a:t> от </a:t>
            </a:r>
            <a:r>
              <a:rPr lang="ru-RU" dirty="0" err="1"/>
              <a:t>виртуалните</a:t>
            </a:r>
            <a:r>
              <a:rPr lang="ru-RU" dirty="0"/>
              <a:t> </a:t>
            </a:r>
            <a:r>
              <a:rPr lang="ru-RU" dirty="0" err="1"/>
              <a:t>машини</a:t>
            </a:r>
            <a:r>
              <a:rPr lang="ru-RU" dirty="0"/>
              <a:t> (</a:t>
            </a:r>
            <a:r>
              <a:rPr lang="ru-RU" dirty="0" err="1"/>
              <a:t>VMs</a:t>
            </a:r>
            <a:r>
              <a:rPr lang="ru-RU" dirty="0"/>
              <a:t>), те не </a:t>
            </a:r>
            <a:r>
              <a:rPr lang="ru-RU" dirty="0" err="1"/>
              <a:t>зареждат</a:t>
            </a:r>
            <a:r>
              <a:rPr lang="ru-RU" dirty="0"/>
              <a:t> </a:t>
            </a:r>
            <a:r>
              <a:rPr lang="ru-RU" dirty="0" err="1"/>
              <a:t>отделна</a:t>
            </a:r>
            <a:r>
              <a:rPr lang="ru-RU" dirty="0"/>
              <a:t> ОС, </a:t>
            </a:r>
            <a:r>
              <a:rPr lang="ru-RU" dirty="0" err="1"/>
              <a:t>което</a:t>
            </a:r>
            <a:r>
              <a:rPr lang="ru-RU" dirty="0"/>
              <a:t> </a:t>
            </a:r>
            <a:r>
              <a:rPr lang="ru-RU" dirty="0" err="1"/>
              <a:t>спестява</a:t>
            </a:r>
            <a:r>
              <a:rPr lang="ru-RU" dirty="0"/>
              <a:t> значителен ресурс от RAM и CPU.</a:t>
            </a:r>
          </a:p>
          <a:p>
            <a:r>
              <a:rPr lang="ru-RU" dirty="0"/>
              <a:t>2. </a:t>
            </a:r>
            <a:r>
              <a:rPr lang="ru-RU" dirty="0" err="1"/>
              <a:t>Пълна</a:t>
            </a:r>
            <a:r>
              <a:rPr lang="ru-RU" dirty="0"/>
              <a:t> </a:t>
            </a:r>
            <a:r>
              <a:rPr lang="ru-RU" dirty="0" err="1"/>
              <a:t>преносимост</a:t>
            </a:r>
            <a:r>
              <a:rPr lang="ru-RU" dirty="0"/>
              <a:t> </a:t>
            </a:r>
            <a:r>
              <a:rPr lang="en-US" dirty="0"/>
              <a:t>: </a:t>
            </a:r>
            <a:r>
              <a:rPr lang="ru-RU" dirty="0" err="1"/>
              <a:t>Приложението</a:t>
            </a:r>
            <a:r>
              <a:rPr lang="ru-RU" dirty="0"/>
              <a:t> и </a:t>
            </a:r>
            <a:r>
              <a:rPr lang="ru-RU" dirty="0" err="1"/>
              <a:t>всички</a:t>
            </a:r>
            <a:r>
              <a:rPr lang="ru-RU" dirty="0"/>
              <a:t> </a:t>
            </a:r>
            <a:r>
              <a:rPr lang="ru-RU" dirty="0" err="1"/>
              <a:t>негови</a:t>
            </a:r>
            <a:r>
              <a:rPr lang="ru-RU" dirty="0"/>
              <a:t> зависимости (</a:t>
            </a:r>
            <a:r>
              <a:rPr lang="en-US" sz="1200" dirty="0">
                <a:solidFill>
                  <a:srgbClr val="E2E8F0"/>
                </a:solidFill>
                <a:latin typeface="Plus Jakarta Sans"/>
              </a:rPr>
              <a:t>runtime, libraries and system tools</a:t>
            </a:r>
            <a:r>
              <a:rPr lang="ru-RU" dirty="0"/>
              <a:t>) </a:t>
            </a:r>
            <a:r>
              <a:rPr lang="ru-RU" dirty="0" err="1"/>
              <a:t>са</a:t>
            </a:r>
            <a:r>
              <a:rPr lang="ru-RU" dirty="0"/>
              <a:t> </a:t>
            </a:r>
            <a:r>
              <a:rPr lang="ru-RU" dirty="0" err="1"/>
              <a:t>пакетирани</a:t>
            </a:r>
            <a:r>
              <a:rPr lang="ru-RU" dirty="0"/>
              <a:t> </a:t>
            </a:r>
            <a:r>
              <a:rPr lang="ru-RU" dirty="0" err="1"/>
              <a:t>заедно</a:t>
            </a:r>
            <a:r>
              <a:rPr lang="ru-RU" dirty="0"/>
              <a:t>. </a:t>
            </a:r>
            <a:r>
              <a:rPr lang="ru-RU" dirty="0" err="1"/>
              <a:t>Ако</a:t>
            </a:r>
            <a:r>
              <a:rPr lang="ru-RU" dirty="0"/>
              <a:t> </a:t>
            </a:r>
            <a:r>
              <a:rPr lang="ru-RU" dirty="0" err="1"/>
              <a:t>работи</a:t>
            </a:r>
            <a:r>
              <a:rPr lang="ru-RU" dirty="0"/>
              <a:t> на лаптопа на разработчика, </a:t>
            </a:r>
            <a:r>
              <a:rPr lang="ru-RU" dirty="0" err="1"/>
              <a:t>ще</a:t>
            </a:r>
            <a:r>
              <a:rPr lang="ru-RU" dirty="0"/>
              <a:t> </a:t>
            </a:r>
            <a:r>
              <a:rPr lang="ru-RU" dirty="0" err="1"/>
              <a:t>работи</a:t>
            </a:r>
            <a:r>
              <a:rPr lang="ru-RU" dirty="0"/>
              <a:t> идентично и в облака.</a:t>
            </a:r>
          </a:p>
          <a:p>
            <a:r>
              <a:rPr lang="ru-RU" dirty="0"/>
              <a:t>3. </a:t>
            </a:r>
            <a:r>
              <a:rPr lang="ru-RU" dirty="0" err="1"/>
              <a:t>Изолираност</a:t>
            </a:r>
            <a:r>
              <a:rPr lang="ru-RU" dirty="0"/>
              <a:t> и </a:t>
            </a:r>
            <a:r>
              <a:rPr lang="ru-RU" dirty="0" err="1"/>
              <a:t>сигурност</a:t>
            </a:r>
            <a:r>
              <a:rPr lang="ru-RU" dirty="0"/>
              <a:t> (</a:t>
            </a:r>
            <a:r>
              <a:rPr lang="ru-RU" dirty="0" err="1"/>
              <a:t>Isolation</a:t>
            </a:r>
            <a:r>
              <a:rPr lang="ru-RU" dirty="0"/>
              <a:t>): </a:t>
            </a:r>
            <a:r>
              <a:rPr lang="ru-RU" dirty="0" err="1"/>
              <a:t>Всеки</a:t>
            </a:r>
            <a:r>
              <a:rPr lang="ru-RU" dirty="0"/>
              <a:t> контейнер </a:t>
            </a:r>
            <a:r>
              <a:rPr lang="ru-RU" dirty="0" err="1"/>
              <a:t>работи</a:t>
            </a:r>
            <a:r>
              <a:rPr lang="ru-RU" dirty="0"/>
              <a:t> в своя </a:t>
            </a:r>
            <a:r>
              <a:rPr lang="ru-RU" dirty="0" err="1"/>
              <a:t>собствена</a:t>
            </a:r>
            <a:r>
              <a:rPr lang="ru-RU" dirty="0"/>
              <a:t> </a:t>
            </a:r>
            <a:r>
              <a:rPr lang="ru-RU" dirty="0" err="1"/>
              <a:t>изолирана</a:t>
            </a:r>
            <a:r>
              <a:rPr lang="ru-RU" dirty="0"/>
              <a:t> среда (благодарение на Linux </a:t>
            </a:r>
            <a:r>
              <a:rPr lang="ru-RU" dirty="0" err="1"/>
              <a:t>namespaces</a:t>
            </a:r>
            <a:r>
              <a:rPr lang="ru-RU" dirty="0"/>
              <a:t> и </a:t>
            </a:r>
            <a:r>
              <a:rPr lang="ru-RU" dirty="0" err="1"/>
              <a:t>cgroups</a:t>
            </a:r>
            <a:r>
              <a:rPr lang="ru-RU" dirty="0"/>
              <a:t>). Проблем или </a:t>
            </a:r>
            <a:r>
              <a:rPr lang="ru-RU" dirty="0" err="1"/>
              <a:t>срив</a:t>
            </a:r>
            <a:r>
              <a:rPr lang="ru-RU" dirty="0"/>
              <a:t> в един контейнер не </a:t>
            </a:r>
            <a:r>
              <a:rPr lang="ru-RU" dirty="0" err="1"/>
              <a:t>засяга</a:t>
            </a:r>
            <a:r>
              <a:rPr lang="ru-RU" dirty="0"/>
              <a:t> </a:t>
            </a:r>
            <a:r>
              <a:rPr lang="ru-RU" dirty="0" err="1"/>
              <a:t>останалите</a:t>
            </a:r>
            <a:r>
              <a:rPr lang="ru-RU" dirty="0"/>
              <a:t>, </a:t>
            </a:r>
            <a:r>
              <a:rPr lang="ru-RU" dirty="0" err="1"/>
              <a:t>работещи</a:t>
            </a:r>
            <a:r>
              <a:rPr lang="ru-RU" dirty="0"/>
              <a:t> на </a:t>
            </a:r>
            <a:r>
              <a:rPr lang="ru-RU" dirty="0" err="1"/>
              <a:t>същия</a:t>
            </a:r>
            <a:r>
              <a:rPr lang="ru-RU" dirty="0"/>
              <a:t> хост.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Virtual Machines (VMs):</a:t>
            </a:r>
            <a:r>
              <a:rPr lang="en-US" dirty="0"/>
              <a:t> Run a complete guest operating system on top of virtualized hardware managed by a hypervisor.</a:t>
            </a:r>
          </a:p>
          <a:p>
            <a:pPr lvl="0"/>
            <a:r>
              <a:rPr lang="en-US" b="1" dirty="0"/>
              <a:t>Containers:</a:t>
            </a:r>
            <a:r>
              <a:rPr lang="en-US" dirty="0"/>
              <a:t> Do not run a guest operating system at all; instead, they run as isolated processes directly on top of the host operating system, sharing the host OS kernel.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50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5C92B-146C-7621-D7C6-8B3ADEAC4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339DC-EBB9-6BC0-99FC-457A3FD34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1F422-5CCE-69E4-6FBA-6D0E8BB90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Virtual Machines (VMs):</a:t>
            </a:r>
            <a:r>
              <a:rPr lang="en-US" dirty="0"/>
              <a:t> Run a complete guest operating system on top of virtualized hardware managed by a hypervisor.</a:t>
            </a:r>
          </a:p>
          <a:p>
            <a:pPr lvl="0"/>
            <a:r>
              <a:rPr lang="en-US" b="1" dirty="0"/>
              <a:t>Containers:</a:t>
            </a:r>
            <a:r>
              <a:rPr lang="en-US" dirty="0"/>
              <a:t> Do not run a guest operating system at all; instead, they run as isolated processes directly on top of the host operating system, sharing the host OS kernel.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76B19-EBDB-B2BF-1405-22B114876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82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Docker:</a:t>
            </a:r>
            <a:r>
              <a:rPr lang="en-US" dirty="0"/>
              <a:t> </a:t>
            </a:r>
            <a:r>
              <a:rPr lang="en-US" dirty="0" err="1"/>
              <a:t>Платформа</a:t>
            </a:r>
            <a:r>
              <a:rPr lang="en-US" dirty="0"/>
              <a:t> с </a:t>
            </a:r>
            <a:r>
              <a:rPr lang="en-US" dirty="0" err="1"/>
              <a:t>отворен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която</a:t>
            </a:r>
            <a:r>
              <a:rPr lang="en-US" dirty="0"/>
              <a:t> </a:t>
            </a:r>
            <a:r>
              <a:rPr lang="en-US" dirty="0" err="1"/>
              <a:t>използва</a:t>
            </a:r>
            <a:r>
              <a:rPr lang="en-US" dirty="0"/>
              <a:t> </a:t>
            </a:r>
            <a:r>
              <a:rPr lang="en-US" dirty="0" err="1"/>
              <a:t>виртуализация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ниво</a:t>
            </a:r>
            <a:r>
              <a:rPr lang="en-US" dirty="0"/>
              <a:t> </a:t>
            </a:r>
            <a:r>
              <a:rPr lang="en-US" dirty="0" err="1"/>
              <a:t>операционна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доставяне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софтуер</a:t>
            </a:r>
            <a:r>
              <a:rPr lang="en-US" dirty="0"/>
              <a:t> в </a:t>
            </a:r>
            <a:r>
              <a:rPr lang="en-US" dirty="0" err="1"/>
              <a:t>контейнери</a:t>
            </a:r>
            <a:r>
              <a:rPr lang="en-US" dirty="0"/>
              <a:t>, </a:t>
            </a:r>
            <a:r>
              <a:rPr lang="en-US" dirty="0" err="1"/>
              <a:t>напълно</a:t>
            </a:r>
            <a:r>
              <a:rPr lang="en-US" dirty="0"/>
              <a:t> </a:t>
            </a:r>
            <a:r>
              <a:rPr lang="en-US" dirty="0" err="1"/>
              <a:t>изолирайки</a:t>
            </a:r>
            <a:r>
              <a:rPr lang="en-US" dirty="0"/>
              <a:t> </a:t>
            </a:r>
            <a:r>
              <a:rPr lang="en-US" dirty="0" err="1"/>
              <a:t>приложенията</a:t>
            </a:r>
            <a:r>
              <a:rPr lang="en-US" dirty="0"/>
              <a:t> и </a:t>
            </a:r>
            <a:r>
              <a:rPr lang="en-US" dirty="0" err="1"/>
              <a:t>техните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основната</a:t>
            </a:r>
            <a:r>
              <a:rPr lang="en-US" dirty="0"/>
              <a:t> </a:t>
            </a:r>
            <a:r>
              <a:rPr lang="en-US" dirty="0" err="1"/>
              <a:t>системна</a:t>
            </a:r>
            <a:r>
              <a:rPr lang="en-US" dirty="0"/>
              <a:t> </a:t>
            </a:r>
            <a:r>
              <a:rPr lang="en-US" dirty="0" err="1"/>
              <a:t>инфраструктура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632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00" dirty="0"/>
              <a:t>Docker Client </a:t>
            </a:r>
            <a:r>
              <a:rPr lang="bg-BG" sz="800" dirty="0"/>
              <a:t>и </a:t>
            </a:r>
            <a:r>
              <a:rPr lang="en-US" sz="800" dirty="0"/>
              <a:t>Docker Server </a:t>
            </a:r>
            <a:r>
              <a:rPr lang="bg-BG" sz="800" dirty="0"/>
              <a:t>са двата основни компонента на клиент-сървър архитектурата, които управляват вашите контейнери и комуникират помежду си чрез </a:t>
            </a:r>
            <a:r>
              <a:rPr lang="en-US" sz="800" dirty="0"/>
              <a:t>REST API.</a:t>
            </a:r>
          </a:p>
          <a:p>
            <a:r>
              <a:rPr lang="bg-BG" sz="800" dirty="0"/>
              <a:t>Когато пишете команди като </a:t>
            </a:r>
            <a:r>
              <a:rPr lang="en-US" sz="800" dirty="0"/>
              <a:t>docker run, docker build </a:t>
            </a:r>
            <a:r>
              <a:rPr lang="bg-BG" sz="800" dirty="0"/>
              <a:t>или </a:t>
            </a:r>
            <a:r>
              <a:rPr lang="en-US" sz="800" dirty="0"/>
              <a:t>docker </a:t>
            </a:r>
            <a:r>
              <a:rPr lang="en-US" sz="800" dirty="0" err="1"/>
              <a:t>ps</a:t>
            </a:r>
            <a:r>
              <a:rPr lang="en-US" sz="800" dirty="0"/>
              <a:t>, </a:t>
            </a:r>
            <a:r>
              <a:rPr lang="bg-BG" sz="800" dirty="0"/>
              <a:t>вие говорите директно с </a:t>
            </a:r>
            <a:r>
              <a:rPr lang="en-US" sz="800" dirty="0"/>
              <a:t>Docker cli, </a:t>
            </a:r>
            <a:r>
              <a:rPr lang="bg-BG" sz="800" dirty="0"/>
              <a:t>за да приеме командите ви, да ги преведе в стандартни </a:t>
            </a:r>
            <a:r>
              <a:rPr lang="en-US" sz="800" dirty="0"/>
              <a:t>REST API </a:t>
            </a:r>
            <a:r>
              <a:rPr lang="bg-BG" sz="800" dirty="0"/>
              <a:t>заявки и да ги изпрати към сървъра.</a:t>
            </a:r>
          </a:p>
          <a:p>
            <a:r>
              <a:rPr lang="en-US" sz="800" dirty="0"/>
              <a:t>Docker Server : </a:t>
            </a:r>
            <a:r>
              <a:rPr lang="bg-BG" sz="800" dirty="0"/>
              <a:t>Компонентът, който непрекъснато слуша за </a:t>
            </a:r>
            <a:r>
              <a:rPr lang="en-US" sz="800" dirty="0"/>
              <a:t>API </a:t>
            </a:r>
            <a:r>
              <a:rPr lang="bg-BG" sz="800" dirty="0"/>
              <a:t>заявки от клиента и управлява целия жизнен цикъл на </a:t>
            </a:r>
            <a:r>
              <a:rPr lang="en-US" sz="800" dirty="0"/>
              <a:t>Docker </a:t>
            </a:r>
            <a:r>
              <a:rPr lang="bg-BG" sz="800" dirty="0"/>
              <a:t>обектите – изтегля </a:t>
            </a:r>
            <a:r>
              <a:rPr lang="en-US" sz="800" dirty="0"/>
              <a:t>image </a:t>
            </a:r>
            <a:r>
              <a:rPr lang="bg-BG" sz="800" dirty="0"/>
              <a:t>от </a:t>
            </a:r>
            <a:r>
              <a:rPr lang="en-US" sz="800" dirty="0"/>
              <a:t>Docker Hub, </a:t>
            </a:r>
            <a:r>
              <a:rPr lang="bg-BG" sz="800" dirty="0"/>
              <a:t>управлява мрежи и </a:t>
            </a:r>
            <a:r>
              <a:rPr lang="en-US" sz="800" dirty="0"/>
              <a:t>volumes, </a:t>
            </a:r>
            <a:r>
              <a:rPr lang="bg-BG" sz="800" dirty="0"/>
              <a:t>и използва </a:t>
            </a:r>
            <a:r>
              <a:rPr lang="en-US" sz="800" dirty="0"/>
              <a:t>host OS kernel features ( namespaces and </a:t>
            </a:r>
            <a:r>
              <a:rPr lang="en-US" sz="800" dirty="0" err="1"/>
              <a:t>cgroups</a:t>
            </a:r>
            <a:r>
              <a:rPr lang="en-US" sz="800" dirty="0"/>
              <a:t>), </a:t>
            </a:r>
            <a:r>
              <a:rPr lang="bg-BG" sz="800" dirty="0"/>
              <a:t>за да стартира и изпълнява контейнери.</a:t>
            </a: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46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Namespaces</a:t>
            </a:r>
            <a:r>
              <a:rPr lang="en-US" dirty="0"/>
              <a:t> </a:t>
            </a:r>
            <a:r>
              <a:rPr lang="en-US" dirty="0" err="1"/>
              <a:t>осигуряват</a:t>
            </a:r>
            <a:r>
              <a:rPr lang="en-US" dirty="0"/>
              <a:t> </a:t>
            </a:r>
            <a:r>
              <a:rPr lang="en-US" b="1" dirty="0" err="1"/>
              <a:t>изолация</a:t>
            </a:r>
            <a:r>
              <a:rPr lang="en-US" dirty="0"/>
              <a:t>, а </a:t>
            </a:r>
            <a:r>
              <a:rPr lang="en-US" b="1" dirty="0" err="1"/>
              <a:t>cgroups</a:t>
            </a:r>
            <a:r>
              <a:rPr lang="en-US" b="1" dirty="0"/>
              <a:t> (Control Groups)</a:t>
            </a:r>
            <a:r>
              <a:rPr lang="en-US" dirty="0"/>
              <a:t> </a:t>
            </a:r>
            <a:r>
              <a:rPr lang="en-US" dirty="0" err="1"/>
              <a:t>осигуряват</a:t>
            </a:r>
            <a:r>
              <a:rPr lang="en-US" dirty="0"/>
              <a:t> </a:t>
            </a:r>
            <a:r>
              <a:rPr lang="en-US" b="1" dirty="0" err="1"/>
              <a:t>ограничение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ресурсите</a:t>
            </a:r>
            <a:r>
              <a:rPr lang="en-US" dirty="0"/>
              <a:t>.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са</a:t>
            </a:r>
            <a:r>
              <a:rPr lang="en-US" dirty="0"/>
              <a:t> </a:t>
            </a:r>
            <a:r>
              <a:rPr lang="en-US" dirty="0" err="1"/>
              <a:t>основните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ядрото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Linux, </a:t>
            </a:r>
            <a:r>
              <a:rPr lang="en-US" dirty="0" err="1"/>
              <a:t>благодарение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които</a:t>
            </a:r>
            <a:r>
              <a:rPr lang="en-US" dirty="0"/>
              <a:t> Docker </a:t>
            </a:r>
            <a:r>
              <a:rPr lang="en-US" dirty="0" err="1"/>
              <a:t>контейнерите</a:t>
            </a:r>
            <a:r>
              <a:rPr lang="en-US" dirty="0"/>
              <a:t> </a:t>
            </a:r>
            <a:r>
              <a:rPr lang="en-US" dirty="0" err="1"/>
              <a:t>работят</a:t>
            </a:r>
            <a:r>
              <a:rPr lang="en-US" dirty="0"/>
              <a:t>.</a:t>
            </a:r>
            <a:r>
              <a:rPr lang="bg-BG" dirty="0"/>
              <a:t> </a:t>
            </a:r>
            <a:r>
              <a:rPr lang="en-US" dirty="0"/>
              <a:t>Namespaces</a:t>
            </a:r>
            <a:r>
              <a:rPr lang="bg-BG" dirty="0"/>
              <a:t> и</a:t>
            </a:r>
            <a:r>
              <a:rPr lang="en-US" dirty="0" err="1"/>
              <a:t>золират</a:t>
            </a:r>
            <a:r>
              <a:rPr lang="en-US" dirty="0"/>
              <a:t> </a:t>
            </a:r>
            <a:r>
              <a:rPr lang="en-US" dirty="0" err="1"/>
              <a:t>контейнера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останалата</a:t>
            </a:r>
            <a:r>
              <a:rPr lang="en-US" dirty="0"/>
              <a:t> </a:t>
            </a:r>
            <a:r>
              <a:rPr lang="en-US" dirty="0" err="1"/>
              <a:t>част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системата</a:t>
            </a:r>
            <a:r>
              <a:rPr lang="en-US" dirty="0"/>
              <a:t>.</a:t>
            </a:r>
            <a:r>
              <a:rPr lang="bg-BG" dirty="0"/>
              <a:t> </a:t>
            </a:r>
            <a:r>
              <a:rPr lang="en-US" dirty="0" err="1"/>
              <a:t>Всеки</a:t>
            </a:r>
            <a:r>
              <a:rPr lang="en-US" dirty="0"/>
              <a:t> </a:t>
            </a:r>
            <a:r>
              <a:rPr lang="en-US" dirty="0" err="1"/>
              <a:t>контейнер</a:t>
            </a:r>
            <a:r>
              <a:rPr lang="en-US" dirty="0"/>
              <a:t> </a:t>
            </a:r>
            <a:r>
              <a:rPr lang="en-US" dirty="0" err="1"/>
              <a:t>получава</a:t>
            </a:r>
            <a:r>
              <a:rPr lang="en-US" dirty="0"/>
              <a:t> </a:t>
            </a:r>
            <a:r>
              <a:rPr lang="en-US" dirty="0" err="1"/>
              <a:t>собствена</a:t>
            </a:r>
            <a:r>
              <a:rPr lang="en-US" dirty="0"/>
              <a:t> "</a:t>
            </a:r>
            <a:r>
              <a:rPr lang="en-US" dirty="0" err="1"/>
              <a:t>виртуална</a:t>
            </a:r>
            <a:r>
              <a:rPr lang="en-US" dirty="0"/>
              <a:t>" </a:t>
            </a:r>
            <a:r>
              <a:rPr lang="en-US" dirty="0" err="1"/>
              <a:t>среда</a:t>
            </a:r>
            <a:r>
              <a:rPr lang="en-US" dirty="0"/>
              <a:t> с </a:t>
            </a:r>
            <a:r>
              <a:rPr lang="en-US" dirty="0" err="1"/>
              <a:t>отделни</a:t>
            </a:r>
            <a:r>
              <a:rPr lang="en-US" dirty="0"/>
              <a:t> </a:t>
            </a:r>
            <a:r>
              <a:rPr lang="en-US" dirty="0" err="1"/>
              <a:t>процеси</a:t>
            </a:r>
            <a:r>
              <a:rPr lang="en-US" dirty="0"/>
              <a:t> (PID), </a:t>
            </a:r>
            <a:r>
              <a:rPr lang="en-US" dirty="0" err="1"/>
              <a:t>мрежови</a:t>
            </a:r>
            <a:r>
              <a:rPr lang="en-US" dirty="0"/>
              <a:t> </a:t>
            </a:r>
            <a:r>
              <a:rPr lang="en-US" dirty="0" err="1"/>
              <a:t>интерфейси</a:t>
            </a:r>
            <a:r>
              <a:rPr lang="en-US" dirty="0"/>
              <a:t> (Network), </a:t>
            </a:r>
            <a:r>
              <a:rPr lang="en-US" dirty="0" err="1"/>
              <a:t>потребители</a:t>
            </a:r>
            <a:r>
              <a:rPr lang="en-US" dirty="0"/>
              <a:t> (User) и </a:t>
            </a:r>
            <a:r>
              <a:rPr lang="en-US" dirty="0" err="1"/>
              <a:t>файлова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(Mount)</a:t>
            </a:r>
            <a:br>
              <a:rPr lang="bg-BG" dirty="0"/>
            </a:br>
            <a:r>
              <a:rPr lang="en-US" dirty="0" err="1"/>
              <a:t>cgroups</a:t>
            </a:r>
            <a:r>
              <a:rPr lang="en-US" dirty="0"/>
              <a:t> / Control Groups</a:t>
            </a:r>
            <a:r>
              <a:rPr lang="bg-BG" dirty="0"/>
              <a:t> о</a:t>
            </a:r>
            <a:r>
              <a:rPr lang="en-US" dirty="0" err="1"/>
              <a:t>граничават</a:t>
            </a:r>
            <a:r>
              <a:rPr lang="en-US" dirty="0"/>
              <a:t> </a:t>
            </a:r>
            <a:r>
              <a:rPr lang="en-US" dirty="0" err="1"/>
              <a:t>използването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хардуерните</a:t>
            </a:r>
            <a:r>
              <a:rPr lang="en-US" dirty="0"/>
              <a:t> </a:t>
            </a:r>
            <a:r>
              <a:rPr lang="en-US" dirty="0" err="1"/>
              <a:t>ресурси</a:t>
            </a:r>
            <a:r>
              <a:rPr lang="bg-BG" dirty="0"/>
              <a:t>л. </a:t>
            </a:r>
            <a:r>
              <a:rPr lang="en-US" dirty="0" err="1"/>
              <a:t>Предотвратяват</a:t>
            </a:r>
            <a:r>
              <a:rPr lang="en-US" dirty="0"/>
              <a:t> </a:t>
            </a:r>
            <a:r>
              <a:rPr lang="en-US" dirty="0" err="1"/>
              <a:t>възможността</a:t>
            </a:r>
            <a:r>
              <a:rPr lang="en-US" dirty="0"/>
              <a:t> </a:t>
            </a:r>
            <a:r>
              <a:rPr lang="en-US" dirty="0" err="1"/>
              <a:t>един</a:t>
            </a:r>
            <a:r>
              <a:rPr lang="en-US" dirty="0"/>
              <a:t> </a:t>
            </a:r>
            <a:r>
              <a:rPr lang="en-US" dirty="0" err="1"/>
              <a:t>контейнер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заеме</a:t>
            </a:r>
            <a:r>
              <a:rPr lang="en-US" dirty="0"/>
              <a:t> </a:t>
            </a:r>
            <a:r>
              <a:rPr lang="en-US" dirty="0" err="1"/>
              <a:t>целия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сървъра</a:t>
            </a:r>
            <a:r>
              <a:rPr lang="en-US" dirty="0"/>
              <a:t> и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срине</a:t>
            </a:r>
            <a:r>
              <a:rPr lang="en-US" dirty="0"/>
              <a:t> </a:t>
            </a:r>
            <a:r>
              <a:rPr lang="en-US" dirty="0" err="1"/>
              <a:t>останалите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33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97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8509F-CD5B-158D-8A88-C0A63853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3B5EB-CAE8-7995-0FC1-6D46C256C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B8C91C-C89C-9A5A-6DC6-497EAA2D8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YAML е </a:t>
            </a:r>
            <a:r>
              <a:rPr lang="en-US" sz="1200" dirty="0">
                <a:solidFill>
                  <a:srgbClr val="E2E8F0"/>
                </a:solidFill>
                <a:latin typeface="Plus Jakarta Sans"/>
              </a:rPr>
              <a:t> data-serialization language </a:t>
            </a:r>
            <a:r>
              <a:rPr lang="ru-RU" dirty="0"/>
              <a:t>, </a:t>
            </a:r>
            <a:r>
              <a:rPr lang="ru-RU" dirty="0" err="1"/>
              <a:t>който</a:t>
            </a:r>
            <a:r>
              <a:rPr lang="ru-RU" dirty="0"/>
              <a:t> се </a:t>
            </a:r>
            <a:r>
              <a:rPr lang="ru-RU" dirty="0" err="1"/>
              <a:t>използва</a:t>
            </a:r>
            <a:r>
              <a:rPr lang="ru-RU" dirty="0"/>
              <a:t> </a:t>
            </a:r>
            <a:r>
              <a:rPr lang="ru-RU" dirty="0" err="1"/>
              <a:t>предимно</a:t>
            </a:r>
            <a:r>
              <a:rPr lang="ru-RU" dirty="0"/>
              <a:t> за </a:t>
            </a:r>
            <a:r>
              <a:rPr lang="ru-RU" dirty="0" err="1"/>
              <a:t>конфигурационни</a:t>
            </a:r>
            <a:r>
              <a:rPr lang="ru-RU" dirty="0"/>
              <a:t> </a:t>
            </a:r>
            <a:r>
              <a:rPr lang="ru-RU" dirty="0" err="1"/>
              <a:t>файлове</a:t>
            </a:r>
            <a:r>
              <a:rPr lang="ru-RU" dirty="0"/>
              <a:t>, </a:t>
            </a:r>
            <a:r>
              <a:rPr lang="ru-RU" dirty="0" err="1"/>
              <a:t>където</a:t>
            </a:r>
            <a:r>
              <a:rPr lang="ru-RU" dirty="0"/>
              <a:t> </a:t>
            </a:r>
            <a:r>
              <a:rPr lang="ru-RU" dirty="0" err="1"/>
              <a:t>структури</a:t>
            </a:r>
            <a:r>
              <a:rPr lang="ru-RU" dirty="0"/>
              <a:t> от </a:t>
            </a:r>
            <a:r>
              <a:rPr lang="ru-RU" dirty="0" err="1"/>
              <a:t>данни</a:t>
            </a:r>
            <a:r>
              <a:rPr lang="ru-RU" dirty="0"/>
              <a:t> </a:t>
            </a:r>
            <a:r>
              <a:rPr lang="ru-RU" dirty="0" err="1"/>
              <a:t>са</a:t>
            </a:r>
            <a:r>
              <a:rPr lang="ru-RU" dirty="0"/>
              <a:t> </a:t>
            </a:r>
            <a:r>
              <a:rPr lang="ru-RU" dirty="0" err="1"/>
              <a:t>представени</a:t>
            </a:r>
            <a:r>
              <a:rPr lang="ru-RU" dirty="0"/>
              <a:t> с </a:t>
            </a:r>
            <a:r>
              <a:rPr lang="ru-RU" dirty="0" err="1"/>
              <a:t>помощта</a:t>
            </a:r>
            <a:r>
              <a:rPr lang="ru-RU" dirty="0"/>
              <a:t> на чист, </a:t>
            </a:r>
            <a:r>
              <a:rPr lang="ru-RU" dirty="0" err="1"/>
              <a:t>базиран</a:t>
            </a:r>
            <a:r>
              <a:rPr lang="ru-RU" dirty="0"/>
              <a:t> на пространства </a:t>
            </a:r>
            <a:r>
              <a:rPr lang="ru-RU" dirty="0" err="1"/>
              <a:t>отстъп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5E5DB-8975-15AA-FA54-08AD347F79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8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Map</a:t>
            </a:r>
            <a:r>
              <a:rPr lang="en-US" dirty="0"/>
              <a:t> е </a:t>
            </a:r>
            <a:r>
              <a:rPr lang="en-US" dirty="0" err="1"/>
              <a:t>структуриран</a:t>
            </a:r>
            <a:r>
              <a:rPr lang="en-US" dirty="0"/>
              <a:t> </a:t>
            </a:r>
            <a:r>
              <a:rPr lang="en-US" dirty="0" err="1"/>
              <a:t>начин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съхранение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информация</a:t>
            </a:r>
            <a:r>
              <a:rPr lang="en-US" dirty="0"/>
              <a:t>, </a:t>
            </a:r>
            <a:r>
              <a:rPr lang="en-US" dirty="0" err="1"/>
              <a:t>изграден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принципа</a:t>
            </a:r>
            <a:r>
              <a:rPr lang="en-US" dirty="0"/>
              <a:t> (key-value)</a:t>
            </a:r>
            <a:endParaRPr lang="en-US" b="1" dirty="0"/>
          </a:p>
          <a:p>
            <a:r>
              <a:rPr lang="en-US" b="1" dirty="0"/>
              <a:t>metadata:</a:t>
            </a:r>
            <a:r>
              <a:rPr lang="en-US" dirty="0"/>
              <a:t> е </a:t>
            </a:r>
            <a:r>
              <a:rPr lang="en-US" dirty="0" err="1"/>
              <a:t>ключ</a:t>
            </a:r>
            <a:r>
              <a:rPr lang="en-US" dirty="0"/>
              <a:t> (</a:t>
            </a:r>
            <a:r>
              <a:rPr lang="en-US" dirty="0" err="1"/>
              <a:t>главен</a:t>
            </a:r>
            <a:r>
              <a:rPr lang="en-US" dirty="0"/>
              <a:t> </a:t>
            </a:r>
            <a:r>
              <a:rPr lang="en-US" dirty="0" err="1"/>
              <a:t>блок</a:t>
            </a:r>
            <a:r>
              <a:rPr lang="en-US" dirty="0"/>
              <a:t>), </a:t>
            </a:r>
            <a:r>
              <a:rPr lang="en-US" dirty="0" err="1"/>
              <a:t>чиято</a:t>
            </a:r>
            <a:r>
              <a:rPr lang="en-US" dirty="0"/>
              <a:t> </a:t>
            </a:r>
            <a:r>
              <a:rPr lang="en-US" dirty="0" err="1"/>
              <a:t>стойност</a:t>
            </a:r>
            <a:r>
              <a:rPr lang="en-US" dirty="0"/>
              <a:t> е Map, </a:t>
            </a:r>
            <a:r>
              <a:rPr lang="en-US" dirty="0" err="1"/>
              <a:t>съдържащ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 </a:t>
            </a:r>
            <a:r>
              <a:rPr lang="en-US" dirty="0" err="1"/>
              <a:t>като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namespace</a:t>
            </a:r>
            <a:r>
              <a:rPr lang="en-US" dirty="0"/>
              <a:t>. </a:t>
            </a:r>
            <a:r>
              <a:rPr lang="en-US" b="1" dirty="0"/>
              <a:t>labels:</a:t>
            </a:r>
            <a:r>
              <a:rPr lang="en-US" dirty="0"/>
              <a:t> </a:t>
            </a:r>
            <a:r>
              <a:rPr lang="en-US" dirty="0" err="1"/>
              <a:t>също</a:t>
            </a:r>
            <a:r>
              <a:rPr lang="en-US" dirty="0"/>
              <a:t> е </a:t>
            </a:r>
            <a:r>
              <a:rPr lang="en-US" dirty="0" err="1"/>
              <a:t>ключ</a:t>
            </a:r>
            <a:r>
              <a:rPr lang="en-US" dirty="0"/>
              <a:t>, </a:t>
            </a:r>
            <a:r>
              <a:rPr lang="en-US" dirty="0" err="1"/>
              <a:t>чиято</a:t>
            </a:r>
            <a:r>
              <a:rPr lang="en-US" dirty="0"/>
              <a:t> </a:t>
            </a:r>
            <a:r>
              <a:rPr lang="en-US" dirty="0" err="1"/>
              <a:t>стойност</a:t>
            </a:r>
            <a:r>
              <a:rPr lang="en-US" dirty="0"/>
              <a:t> </a:t>
            </a:r>
            <a:r>
              <a:rPr lang="en-US" dirty="0" err="1"/>
              <a:t>представлява</a:t>
            </a:r>
            <a:r>
              <a:rPr lang="en-US" dirty="0"/>
              <a:t> </a:t>
            </a:r>
            <a:r>
              <a:rPr lang="en-US" dirty="0" err="1"/>
              <a:t>вложен</a:t>
            </a:r>
            <a:r>
              <a:rPr lang="en-US" dirty="0"/>
              <a:t> Map (</a:t>
            </a:r>
            <a:r>
              <a:rPr lang="en-US" dirty="0" err="1"/>
              <a:t>съдържащ</a:t>
            </a:r>
            <a:r>
              <a:rPr lang="en-US" dirty="0"/>
              <a:t> </a:t>
            </a:r>
            <a:r>
              <a:rPr lang="en-US" dirty="0" err="1"/>
              <a:t>нови</a:t>
            </a:r>
            <a:r>
              <a:rPr lang="en-US" dirty="0"/>
              <a:t> key-value </a:t>
            </a:r>
            <a:r>
              <a:rPr lang="en-US" dirty="0" err="1"/>
              <a:t>двойки</a:t>
            </a:r>
            <a:r>
              <a:rPr lang="en-US" dirty="0"/>
              <a:t> </a:t>
            </a:r>
            <a:r>
              <a:rPr lang="en-US" dirty="0" err="1"/>
              <a:t>като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tier: frontend</a:t>
            </a:r>
            <a:r>
              <a:rPr lang="en-US" dirty="0"/>
              <a:t>)</a:t>
            </a:r>
            <a:r>
              <a:rPr lang="bg-BG" dirty="0"/>
              <a:t> или </a:t>
            </a:r>
            <a:endParaRPr lang="en-US" dirty="0"/>
          </a:p>
          <a:p>
            <a:r>
              <a:rPr lang="en-US" b="1" dirty="0"/>
              <a:t>metadata:</a:t>
            </a:r>
            <a:r>
              <a:rPr lang="en-US" dirty="0"/>
              <a:t> е </a:t>
            </a:r>
            <a:r>
              <a:rPr lang="en-US" dirty="0" err="1"/>
              <a:t>ключ</a:t>
            </a:r>
            <a:r>
              <a:rPr lang="en-US" dirty="0"/>
              <a:t>, </a:t>
            </a:r>
            <a:r>
              <a:rPr lang="en-US" dirty="0" err="1"/>
              <a:t>който</a:t>
            </a:r>
            <a:r>
              <a:rPr lang="en-US" dirty="0"/>
              <a:t> </a:t>
            </a:r>
            <a:r>
              <a:rPr lang="en-US" dirty="0" err="1"/>
              <a:t>съдържа</a:t>
            </a:r>
            <a:r>
              <a:rPr lang="en-US" dirty="0"/>
              <a:t> Map с </a:t>
            </a:r>
            <a:r>
              <a:rPr lang="en-US" dirty="0" err="1"/>
              <a:t>основни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namespace</a:t>
            </a:r>
            <a:r>
              <a:rPr lang="en-US" dirty="0"/>
              <a:t> и </a:t>
            </a:r>
            <a:r>
              <a:rPr lang="en-US" dirty="0" err="1"/>
              <a:t>др</a:t>
            </a:r>
            <a:r>
              <a:rPr lang="en-US" dirty="0"/>
              <a:t>.). </a:t>
            </a:r>
            <a:r>
              <a:rPr lang="en-US" b="1" dirty="0"/>
              <a:t>labels:</a:t>
            </a:r>
            <a:r>
              <a:rPr lang="en-US" dirty="0"/>
              <a:t> е </a:t>
            </a:r>
            <a:r>
              <a:rPr lang="en-US" dirty="0" err="1"/>
              <a:t>вложен</a:t>
            </a:r>
            <a:r>
              <a:rPr lang="en-US" dirty="0"/>
              <a:t> </a:t>
            </a:r>
            <a:r>
              <a:rPr lang="en-US" dirty="0" err="1"/>
              <a:t>ключ</a:t>
            </a:r>
            <a:r>
              <a:rPr lang="en-US" dirty="0"/>
              <a:t>, </a:t>
            </a:r>
            <a:r>
              <a:rPr lang="en-US" dirty="0" err="1"/>
              <a:t>чиято</a:t>
            </a:r>
            <a:r>
              <a:rPr lang="en-US" dirty="0"/>
              <a:t> </a:t>
            </a:r>
            <a:r>
              <a:rPr lang="en-US" dirty="0" err="1"/>
              <a:t>стойност</a:t>
            </a:r>
            <a:r>
              <a:rPr lang="en-US" dirty="0"/>
              <a:t> е </a:t>
            </a:r>
            <a:r>
              <a:rPr lang="en-US" dirty="0" err="1"/>
              <a:t>отделен</a:t>
            </a:r>
            <a:r>
              <a:rPr lang="en-US" dirty="0"/>
              <a:t> Map с </a:t>
            </a:r>
            <a:r>
              <a:rPr lang="en-US" dirty="0" err="1"/>
              <a:t>потребителски</a:t>
            </a:r>
            <a:r>
              <a:rPr lang="en-US" dirty="0"/>
              <a:t> key-value </a:t>
            </a:r>
            <a:r>
              <a:rPr lang="en-US" dirty="0" err="1"/>
              <a:t>двойки</a:t>
            </a:r>
            <a:r>
              <a:rPr lang="en-US" dirty="0"/>
              <a:t> (</a:t>
            </a:r>
            <a:r>
              <a:rPr lang="en-US" dirty="0" err="1"/>
              <a:t>напр</a:t>
            </a:r>
            <a:r>
              <a:rPr lang="en-US" dirty="0"/>
              <a:t>. </a:t>
            </a:r>
            <a:r>
              <a:rPr lang="en-US" dirty="0" err="1"/>
              <a:t>етикети</a:t>
            </a:r>
            <a:r>
              <a:rPr lang="en-US"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26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Последователност от елементи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750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YAML </a:t>
            </a:r>
            <a:r>
              <a:rPr lang="en-US" dirty="0" err="1"/>
              <a:t>тирето</a:t>
            </a:r>
            <a:r>
              <a:rPr lang="en-US" dirty="0"/>
              <a:t> с </a:t>
            </a:r>
            <a:r>
              <a:rPr lang="en-US" dirty="0" err="1"/>
              <a:t>интервал</a:t>
            </a:r>
            <a:r>
              <a:rPr lang="en-US" dirty="0"/>
              <a:t>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en-US" dirty="0"/>
              <a:t>) </a:t>
            </a:r>
            <a:r>
              <a:rPr lang="en-US" dirty="0" err="1"/>
              <a:t>обозначава</a:t>
            </a:r>
            <a:r>
              <a:rPr lang="en-US" dirty="0"/>
              <a:t> </a:t>
            </a:r>
            <a:r>
              <a:rPr lang="en-US" b="1" dirty="0" err="1"/>
              <a:t>нов</a:t>
            </a:r>
            <a:r>
              <a:rPr lang="en-US" b="1" dirty="0"/>
              <a:t> </a:t>
            </a:r>
            <a:r>
              <a:rPr lang="en-US" b="1" dirty="0" err="1"/>
              <a:t>елемент</a:t>
            </a:r>
            <a:r>
              <a:rPr lang="en-US" b="1" dirty="0"/>
              <a:t> в </a:t>
            </a:r>
            <a:r>
              <a:rPr lang="en-US" b="1" dirty="0" err="1"/>
              <a:t>списъка</a:t>
            </a:r>
            <a:r>
              <a:rPr lang="en-US" dirty="0"/>
              <a:t>.</a:t>
            </a:r>
          </a:p>
          <a:p>
            <a:r>
              <a:rPr lang="en-US" dirty="0" err="1"/>
              <a:t>Когато</a:t>
            </a:r>
            <a:r>
              <a:rPr lang="en-US" dirty="0"/>
              <a:t> </a:t>
            </a:r>
            <a:r>
              <a:rPr lang="en-US" dirty="0" err="1"/>
              <a:t>веднага</a:t>
            </a:r>
            <a:r>
              <a:rPr lang="en-US" dirty="0"/>
              <a:t> </a:t>
            </a:r>
            <a:r>
              <a:rPr lang="en-US" dirty="0" err="1"/>
              <a:t>след</a:t>
            </a:r>
            <a:r>
              <a:rPr lang="en-US" dirty="0"/>
              <a:t> </a:t>
            </a:r>
            <a:r>
              <a:rPr lang="en-US" dirty="0" err="1"/>
              <a:t>тирето</a:t>
            </a:r>
            <a:r>
              <a:rPr lang="en-US" dirty="0"/>
              <a:t> </a:t>
            </a:r>
            <a:r>
              <a:rPr lang="en-US" dirty="0" err="1"/>
              <a:t>напишеш</a:t>
            </a:r>
            <a:r>
              <a:rPr lang="en-US" dirty="0"/>
              <a:t> key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name: ...</a:t>
            </a:r>
            <a:r>
              <a:rPr lang="en-US" dirty="0"/>
              <a:t>), YAML </a:t>
            </a:r>
            <a:r>
              <a:rPr lang="en-US" dirty="0" err="1"/>
              <a:t>разбира</a:t>
            </a:r>
            <a:r>
              <a:rPr lang="en-US" dirty="0"/>
              <a:t> </a:t>
            </a:r>
            <a:r>
              <a:rPr lang="en-US" dirty="0" err="1"/>
              <a:t>следното</a:t>
            </a:r>
            <a:r>
              <a:rPr lang="en-US" dirty="0"/>
              <a:t>:</a:t>
            </a:r>
          </a:p>
          <a:p>
            <a:pPr lvl="0"/>
            <a:r>
              <a:rPr lang="en-US" dirty="0" err="1"/>
              <a:t>Тирето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dirty="0"/>
              <a:t> </a:t>
            </a:r>
            <a:r>
              <a:rPr lang="en-US" dirty="0" err="1"/>
              <a:t>казва</a:t>
            </a:r>
            <a:r>
              <a:rPr lang="en-US" dirty="0"/>
              <a:t>: </a:t>
            </a:r>
            <a:r>
              <a:rPr lang="en-US" i="1" dirty="0"/>
              <a:t>"</a:t>
            </a:r>
            <a:r>
              <a:rPr lang="en-US" i="1" dirty="0" err="1"/>
              <a:t>Започва</a:t>
            </a:r>
            <a:r>
              <a:rPr lang="en-US" i="1" dirty="0"/>
              <a:t> </a:t>
            </a:r>
            <a:r>
              <a:rPr lang="en-US" i="1" dirty="0" err="1"/>
              <a:t>нов</a:t>
            </a:r>
            <a:r>
              <a:rPr lang="en-US" i="1" dirty="0"/>
              <a:t> </a:t>
            </a:r>
            <a:r>
              <a:rPr lang="en-US" i="1" dirty="0" err="1"/>
              <a:t>обект</a:t>
            </a:r>
            <a:r>
              <a:rPr lang="en-US" i="1" dirty="0"/>
              <a:t> в </a:t>
            </a:r>
            <a:r>
              <a:rPr lang="en-US" i="1" dirty="0" err="1"/>
              <a:t>списъка</a:t>
            </a:r>
            <a:r>
              <a:rPr lang="en-US" i="1" dirty="0"/>
              <a:t>"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Първият</a:t>
            </a:r>
            <a:r>
              <a:rPr lang="en-US" dirty="0"/>
              <a:t> key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name:</a:t>
            </a:r>
            <a:r>
              <a:rPr lang="en-US" dirty="0"/>
              <a:t> </a:t>
            </a:r>
            <a:r>
              <a:rPr lang="en-US" dirty="0" err="1"/>
              <a:t>казва</a:t>
            </a:r>
            <a:r>
              <a:rPr lang="en-US" dirty="0"/>
              <a:t>: </a:t>
            </a:r>
            <a:r>
              <a:rPr lang="en-US" i="1" dirty="0"/>
              <a:t>"</a:t>
            </a:r>
            <a:r>
              <a:rPr lang="en-US" i="1" dirty="0" err="1"/>
              <a:t>Този</a:t>
            </a:r>
            <a:r>
              <a:rPr lang="en-US" i="1" dirty="0"/>
              <a:t> </a:t>
            </a:r>
            <a:r>
              <a:rPr lang="en-US" i="1" dirty="0" err="1"/>
              <a:t>обект</a:t>
            </a:r>
            <a:r>
              <a:rPr lang="en-US" i="1" dirty="0"/>
              <a:t> в </a:t>
            </a:r>
            <a:r>
              <a:rPr lang="en-US" i="1" dirty="0" err="1"/>
              <a:t>списъка</a:t>
            </a:r>
            <a:r>
              <a:rPr lang="en-US" i="1" dirty="0"/>
              <a:t> е и </a:t>
            </a:r>
            <a:r>
              <a:rPr lang="en-US" i="1" dirty="0" err="1"/>
              <a:t>това</a:t>
            </a:r>
            <a:r>
              <a:rPr lang="en-US" i="1" dirty="0"/>
              <a:t> е </a:t>
            </a:r>
            <a:r>
              <a:rPr lang="en-US" i="1" dirty="0" err="1"/>
              <a:t>първата</a:t>
            </a:r>
            <a:r>
              <a:rPr lang="en-US" i="1" dirty="0"/>
              <a:t> </a:t>
            </a:r>
            <a:r>
              <a:rPr lang="en-US" i="1" dirty="0" err="1"/>
              <a:t>му</a:t>
            </a:r>
            <a:r>
              <a:rPr lang="en-US" i="1" dirty="0"/>
              <a:t> </a:t>
            </a:r>
            <a:r>
              <a:rPr lang="en-US" i="1" dirty="0" err="1"/>
              <a:t>двойка</a:t>
            </a:r>
            <a:r>
              <a:rPr lang="en-US" i="1" dirty="0"/>
              <a:t> key-value"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Всички</a:t>
            </a:r>
            <a:r>
              <a:rPr lang="en-US" dirty="0"/>
              <a:t> </a:t>
            </a:r>
            <a:r>
              <a:rPr lang="en-US" dirty="0" err="1"/>
              <a:t>следващи</a:t>
            </a:r>
            <a:r>
              <a:rPr lang="en-US" dirty="0"/>
              <a:t> key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image: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ports:</a:t>
            </a:r>
            <a:r>
              <a:rPr lang="en-US" dirty="0"/>
              <a:t>, и </a:t>
            </a:r>
            <a:r>
              <a:rPr lang="en-US" dirty="0" err="1"/>
              <a:t>т.н</a:t>
            </a:r>
            <a:r>
              <a:rPr lang="en-US" dirty="0"/>
              <a:t>.), </a:t>
            </a:r>
            <a:r>
              <a:rPr lang="en-US" dirty="0" err="1"/>
              <a:t>които</a:t>
            </a:r>
            <a:r>
              <a:rPr lang="en-US" dirty="0"/>
              <a:t> </a:t>
            </a:r>
            <a:r>
              <a:rPr lang="en-US" dirty="0" err="1"/>
              <a:t>са</a:t>
            </a:r>
            <a:r>
              <a:rPr lang="en-US" dirty="0"/>
              <a:t> </a:t>
            </a:r>
            <a:r>
              <a:rPr lang="en-US" dirty="0" err="1"/>
              <a:t>подравнени</a:t>
            </a:r>
            <a:r>
              <a:rPr lang="en-US" dirty="0"/>
              <a:t> </a:t>
            </a:r>
            <a:r>
              <a:rPr lang="en-US" b="1" dirty="0" err="1"/>
              <a:t>точно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същото</a:t>
            </a:r>
            <a:r>
              <a:rPr lang="en-US" b="1" dirty="0"/>
              <a:t> </a:t>
            </a:r>
            <a:r>
              <a:rPr lang="en-US" b="1" dirty="0" err="1"/>
              <a:t>ниво</a:t>
            </a:r>
            <a:r>
              <a:rPr lang="en-US" b="1" dirty="0"/>
              <a:t> </a:t>
            </a:r>
            <a:r>
              <a:rPr lang="en-US" b="1" dirty="0" err="1"/>
              <a:t>като</a:t>
            </a:r>
            <a:r>
              <a:rPr lang="en-US" b="1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name:</a:t>
            </a:r>
            <a:r>
              <a:rPr lang="en-US" dirty="0"/>
              <a:t>, </a:t>
            </a:r>
            <a:r>
              <a:rPr lang="en-US" dirty="0" err="1"/>
              <a:t>автоматично</a:t>
            </a:r>
            <a:r>
              <a:rPr lang="en-US" dirty="0"/>
              <a:t> </a:t>
            </a:r>
            <a:r>
              <a:rPr lang="en-US" dirty="0" err="1"/>
              <a:t>стават</a:t>
            </a:r>
            <a:r>
              <a:rPr lang="en-US" dirty="0"/>
              <a:t> </a:t>
            </a:r>
            <a:r>
              <a:rPr lang="en-US" dirty="0" err="1"/>
              <a:t>част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b="1" dirty="0" err="1"/>
              <a:t>същия</a:t>
            </a:r>
            <a:r>
              <a:rPr lang="en-US" b="1" dirty="0"/>
              <a:t> </a:t>
            </a:r>
            <a:r>
              <a:rPr lang="en-US" b="1" dirty="0" err="1"/>
              <a:t>този</a:t>
            </a:r>
            <a:r>
              <a:rPr lang="en-US" b="1" dirty="0"/>
              <a:t> Map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766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BEC46-CE4D-B534-2A20-8182E6BF5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D5D52-3095-1143-9773-1B7E79818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93953-F8AE-C029-2B26-8FD7ED939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D2EF7-34F7-7796-7490-6BD500C7D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80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CNI (Container Network Interface):</a:t>
            </a:r>
            <a:r>
              <a:rPr lang="en-US" dirty="0"/>
              <a:t> </a:t>
            </a:r>
            <a:r>
              <a:rPr lang="en-US" dirty="0" err="1"/>
              <a:t>Това</a:t>
            </a:r>
            <a:r>
              <a:rPr lang="en-US" dirty="0"/>
              <a:t> е </a:t>
            </a:r>
            <a:r>
              <a:rPr lang="en-US" dirty="0" err="1"/>
              <a:t>софтуерът</a:t>
            </a:r>
            <a:r>
              <a:rPr lang="en-US" dirty="0"/>
              <a:t> (</a:t>
            </a:r>
            <a:r>
              <a:rPr lang="en-US" dirty="0" err="1"/>
              <a:t>като</a:t>
            </a:r>
            <a:r>
              <a:rPr lang="en-US" dirty="0"/>
              <a:t> Calico, Flannel, Cilium и </a:t>
            </a:r>
            <a:r>
              <a:rPr lang="en-US" dirty="0" err="1"/>
              <a:t>др</a:t>
            </a:r>
            <a:r>
              <a:rPr lang="en-US" dirty="0"/>
              <a:t>.), </a:t>
            </a:r>
            <a:r>
              <a:rPr lang="en-US" dirty="0" err="1"/>
              <a:t>който</a:t>
            </a:r>
            <a:r>
              <a:rPr lang="en-US" dirty="0"/>
              <a:t> </a:t>
            </a:r>
            <a:r>
              <a:rPr lang="en-US" dirty="0" err="1"/>
              <a:t>управлява</a:t>
            </a:r>
            <a:r>
              <a:rPr lang="en-US" dirty="0"/>
              <a:t> </a:t>
            </a:r>
            <a:r>
              <a:rPr lang="bg-BG" dirty="0"/>
              <a:t>мрежата на клъстъра</a:t>
            </a:r>
            <a:r>
              <a:rPr lang="en-US" dirty="0"/>
              <a:t>. </a:t>
            </a:r>
            <a:r>
              <a:rPr lang="en-US" dirty="0" err="1"/>
              <a:t>Когато</a:t>
            </a:r>
            <a:r>
              <a:rPr lang="en-US" dirty="0"/>
              <a:t> </a:t>
            </a:r>
            <a:r>
              <a:rPr lang="en-US" dirty="0" err="1"/>
              <a:t>един</a:t>
            </a:r>
            <a:r>
              <a:rPr lang="en-US" dirty="0"/>
              <a:t> pod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стартира</a:t>
            </a:r>
            <a:r>
              <a:rPr lang="en-US" dirty="0"/>
              <a:t>, CNI </a:t>
            </a:r>
            <a:r>
              <a:rPr lang="en-US" dirty="0" err="1"/>
              <a:t>му</a:t>
            </a:r>
            <a:r>
              <a:rPr lang="en-US" dirty="0"/>
              <a:t> „</a:t>
            </a:r>
            <a:r>
              <a:rPr lang="en-US" dirty="0" err="1"/>
              <a:t>дава</a:t>
            </a:r>
            <a:r>
              <a:rPr lang="en-US" dirty="0"/>
              <a:t>“ </a:t>
            </a:r>
            <a:r>
              <a:rPr lang="en-US" dirty="0" err="1"/>
              <a:t>уникален</a:t>
            </a:r>
            <a:r>
              <a:rPr lang="en-US" dirty="0"/>
              <a:t> IP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bg-BG" dirty="0"/>
              <a:t>заделен</a:t>
            </a:r>
            <a:r>
              <a:rPr lang="en-US" dirty="0"/>
              <a:t> CIDR range. </a:t>
            </a:r>
            <a:r>
              <a:rPr lang="bg-BG" dirty="0"/>
              <a:t>В</a:t>
            </a:r>
            <a:r>
              <a:rPr lang="en-US" dirty="0" err="1"/>
              <a:t>секи</a:t>
            </a:r>
            <a:r>
              <a:rPr lang="en-US" dirty="0"/>
              <a:t> pod </a:t>
            </a:r>
            <a:r>
              <a:rPr lang="en-US" dirty="0" err="1"/>
              <a:t>получава</a:t>
            </a:r>
            <a:r>
              <a:rPr lang="en-US" dirty="0"/>
              <a:t> </a:t>
            </a:r>
            <a:r>
              <a:rPr lang="en-US" dirty="0" err="1"/>
              <a:t>собствен</a:t>
            </a:r>
            <a:r>
              <a:rPr lang="en-US" dirty="0"/>
              <a:t> IP </a:t>
            </a:r>
            <a:r>
              <a:rPr lang="en-US" dirty="0" err="1"/>
              <a:t>адрес</a:t>
            </a:r>
            <a:r>
              <a:rPr lang="en-US" dirty="0"/>
              <a:t> в </a:t>
            </a:r>
            <a:r>
              <a:rPr lang="en-US" dirty="0" err="1"/>
              <a:t>рамките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тази</a:t>
            </a:r>
            <a:r>
              <a:rPr lang="en-US" dirty="0"/>
              <a:t> </a:t>
            </a:r>
            <a:r>
              <a:rPr lang="en-US" dirty="0" err="1"/>
              <a:t>мрежа</a:t>
            </a:r>
            <a:r>
              <a:rPr lang="en-US" dirty="0"/>
              <a:t>, </a:t>
            </a:r>
            <a:r>
              <a:rPr lang="bg-BG" dirty="0"/>
              <a:t>и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могат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си</a:t>
            </a:r>
            <a:r>
              <a:rPr lang="en-US" dirty="0"/>
              <a:t> </a:t>
            </a:r>
            <a:r>
              <a:rPr lang="en-US" dirty="0" err="1"/>
              <a:t>говорят</a:t>
            </a:r>
            <a:r>
              <a:rPr lang="en-US" dirty="0"/>
              <a:t> </a:t>
            </a:r>
            <a:r>
              <a:rPr lang="en-US" dirty="0" err="1"/>
              <a:t>директно</a:t>
            </a:r>
            <a:r>
              <a:rPr lang="en-US" dirty="0"/>
              <a:t> </a:t>
            </a:r>
            <a:r>
              <a:rPr lang="en-US" dirty="0" err="1"/>
              <a:t>помежду</a:t>
            </a:r>
            <a:r>
              <a:rPr lang="en-US" dirty="0"/>
              <a:t> </a:t>
            </a:r>
            <a:r>
              <a:rPr lang="en-US" dirty="0" err="1"/>
              <a:t>си</a:t>
            </a:r>
            <a:r>
              <a:rPr lang="en-US" dirty="0"/>
              <a:t> (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коя</a:t>
            </a:r>
            <a:r>
              <a:rPr lang="en-US" dirty="0"/>
              <a:t> </a:t>
            </a:r>
            <a:r>
              <a:rPr lang="en-US" dirty="0" err="1"/>
              <a:t>физическа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виртуална</a:t>
            </a:r>
            <a:r>
              <a:rPr lang="en-US" dirty="0"/>
              <a:t> </a:t>
            </a:r>
            <a:r>
              <a:rPr lang="en-US" dirty="0" err="1"/>
              <a:t>машина</a:t>
            </a:r>
            <a:r>
              <a:rPr lang="en-US" dirty="0"/>
              <a:t> в </a:t>
            </a:r>
            <a:r>
              <a:rPr lang="en-US" dirty="0" err="1"/>
              <a:t>клъстера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намират</a:t>
            </a:r>
            <a:r>
              <a:rPr lang="en-US" dirty="0"/>
              <a:t>), </a:t>
            </a:r>
            <a:r>
              <a:rPr lang="en-US" dirty="0" err="1"/>
              <a:t>използвайки</a:t>
            </a:r>
            <a:r>
              <a:rPr lang="en-US" dirty="0"/>
              <a:t> </a:t>
            </a:r>
            <a:r>
              <a:rPr lang="en-US" dirty="0" err="1"/>
              <a:t>стандартен</a:t>
            </a:r>
            <a:r>
              <a:rPr lang="en-US" dirty="0"/>
              <a:t> IP </a:t>
            </a:r>
            <a:r>
              <a:rPr lang="en-US" dirty="0" err="1"/>
              <a:t>рутинг</a:t>
            </a:r>
            <a:r>
              <a:rPr lang="en-US" dirty="0"/>
              <a:t>, </a:t>
            </a:r>
            <a:r>
              <a:rPr lang="en-US" dirty="0" err="1"/>
              <a:t>осигурен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CNI plugin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7681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kube-controller-manager</a:t>
            </a:r>
            <a:endParaRPr lang="ru-RU" dirty="0"/>
          </a:p>
          <a:p>
            <a:r>
              <a:rPr lang="ru-RU" dirty="0"/>
              <a:t>Роля: </a:t>
            </a:r>
            <a:r>
              <a:rPr lang="ru-RU" dirty="0" err="1"/>
              <a:t>Непрекъснато</a:t>
            </a:r>
            <a:r>
              <a:rPr lang="ru-RU" dirty="0"/>
              <a:t> следи </a:t>
            </a:r>
            <a:r>
              <a:rPr lang="ru-RU" dirty="0" err="1"/>
              <a:t>текущото</a:t>
            </a:r>
            <a:r>
              <a:rPr lang="ru-RU" dirty="0"/>
              <a:t> </a:t>
            </a:r>
            <a:r>
              <a:rPr lang="ru-RU" dirty="0" err="1"/>
              <a:t>състояние</a:t>
            </a:r>
            <a:r>
              <a:rPr lang="ru-RU" dirty="0"/>
              <a:t> на </a:t>
            </a:r>
            <a:r>
              <a:rPr lang="ru-RU" dirty="0" err="1"/>
              <a:t>клъстера</a:t>
            </a:r>
            <a:r>
              <a:rPr lang="ru-RU" dirty="0"/>
              <a:t> чрез API </a:t>
            </a:r>
            <a:r>
              <a:rPr lang="ru-RU" dirty="0" err="1"/>
              <a:t>сървъра</a:t>
            </a:r>
            <a:r>
              <a:rPr lang="ru-RU" dirty="0"/>
              <a:t> и </a:t>
            </a:r>
            <a:r>
              <a:rPr lang="ru-RU" dirty="0" err="1"/>
              <a:t>управлява</a:t>
            </a:r>
            <a:r>
              <a:rPr lang="ru-RU" dirty="0"/>
              <a:t> </a:t>
            </a:r>
            <a:r>
              <a:rPr lang="ru-RU" dirty="0" err="1"/>
              <a:t>промените</a:t>
            </a:r>
            <a:r>
              <a:rPr lang="ru-RU" dirty="0"/>
              <a:t>, за да </a:t>
            </a:r>
            <a:r>
              <a:rPr lang="ru-RU" dirty="0" err="1"/>
              <a:t>съответстват</a:t>
            </a:r>
            <a:r>
              <a:rPr lang="ru-RU" dirty="0"/>
              <a:t> на </a:t>
            </a:r>
            <a:r>
              <a:rPr lang="ru-RU" dirty="0" err="1"/>
              <a:t>желаното</a:t>
            </a:r>
            <a:r>
              <a:rPr lang="ru-RU" dirty="0"/>
              <a:t> </a:t>
            </a:r>
            <a:r>
              <a:rPr lang="ru-RU" dirty="0" err="1"/>
              <a:t>състояние</a:t>
            </a:r>
            <a:r>
              <a:rPr lang="ru-RU" dirty="0"/>
              <a:t>.</a:t>
            </a:r>
          </a:p>
          <a:p>
            <a:r>
              <a:rPr lang="ru-RU" dirty="0" err="1"/>
              <a:t>Ключов</a:t>
            </a:r>
            <a:r>
              <a:rPr lang="ru-RU" dirty="0"/>
              <a:t> </a:t>
            </a:r>
            <a:r>
              <a:rPr lang="ru-RU" dirty="0" err="1"/>
              <a:t>детайл</a:t>
            </a:r>
            <a:r>
              <a:rPr lang="ru-RU" dirty="0"/>
              <a:t>: </a:t>
            </a:r>
            <a:r>
              <a:rPr lang="ru-RU" dirty="0" err="1"/>
              <a:t>Обединява</a:t>
            </a:r>
            <a:r>
              <a:rPr lang="ru-RU" dirty="0"/>
              <a:t> </a:t>
            </a:r>
            <a:r>
              <a:rPr lang="ru-RU" dirty="0" err="1"/>
              <a:t>основните</a:t>
            </a:r>
            <a:r>
              <a:rPr lang="ru-RU" dirty="0"/>
              <a:t> </a:t>
            </a:r>
            <a:r>
              <a:rPr lang="ru-RU" dirty="0" err="1"/>
              <a:t>контролери</a:t>
            </a:r>
            <a:r>
              <a:rPr lang="ru-RU" dirty="0"/>
              <a:t> (напр. </a:t>
            </a:r>
            <a:r>
              <a:rPr lang="en-US" dirty="0"/>
              <a:t>node</a:t>
            </a:r>
            <a:r>
              <a:rPr lang="ru-RU" dirty="0"/>
              <a:t>, </a:t>
            </a:r>
            <a:r>
              <a:rPr lang="en-US" dirty="0" err="1"/>
              <a:t>ReplicaSet</a:t>
            </a:r>
            <a:r>
              <a:rPr lang="en-US" dirty="0"/>
              <a:t> </a:t>
            </a:r>
            <a:r>
              <a:rPr lang="bg-BG" dirty="0"/>
              <a:t>и др</a:t>
            </a:r>
            <a:r>
              <a:rPr lang="ru-RU" dirty="0"/>
              <a:t>) в един </a:t>
            </a:r>
            <a:r>
              <a:rPr lang="ru-RU" dirty="0" err="1"/>
              <a:t>binary</a:t>
            </a:r>
            <a:r>
              <a:rPr lang="ru-RU" dirty="0"/>
              <a:t> </a:t>
            </a:r>
            <a:r>
              <a:rPr lang="ru-RU" dirty="0" err="1"/>
              <a:t>file</a:t>
            </a:r>
            <a:r>
              <a:rPr lang="ru-RU" dirty="0"/>
              <a:t>, </a:t>
            </a:r>
            <a:r>
              <a:rPr lang="ru-RU" dirty="0" err="1"/>
              <a:t>изпълняващ</a:t>
            </a:r>
            <a:r>
              <a:rPr lang="ru-RU" dirty="0"/>
              <a:t> </a:t>
            </a:r>
            <a:r>
              <a:rPr lang="en-US" b="1" dirty="0"/>
              <a:t>(Control Loop / Reconciliation Loop)</a:t>
            </a:r>
            <a:r>
              <a:rPr lang="ru-RU" dirty="0"/>
              <a:t>, за да </a:t>
            </a:r>
            <a:r>
              <a:rPr lang="ru-RU" dirty="0" err="1"/>
              <a:t>поддържа</a:t>
            </a:r>
            <a:r>
              <a:rPr lang="ru-RU" dirty="0"/>
              <a:t> </a:t>
            </a:r>
            <a:r>
              <a:rPr lang="ru-RU" dirty="0" err="1"/>
              <a:t>желаното</a:t>
            </a:r>
            <a:r>
              <a:rPr lang="ru-RU" dirty="0"/>
              <a:t> </a:t>
            </a:r>
            <a:r>
              <a:rPr lang="ru-RU" dirty="0" err="1"/>
              <a:t>състояние</a:t>
            </a:r>
            <a:r>
              <a:rPr lang="ru-RU" dirty="0"/>
              <a:t>.</a:t>
            </a:r>
          </a:p>
          <a:p>
            <a:r>
              <a:rPr lang="ru-RU" dirty="0" err="1"/>
              <a:t>kube-controller-manager</a:t>
            </a:r>
            <a:r>
              <a:rPr lang="ru-RU" dirty="0"/>
              <a:t> НЕ </a:t>
            </a:r>
            <a:r>
              <a:rPr lang="ru-RU" dirty="0" err="1"/>
              <a:t>стартира</a:t>
            </a:r>
            <a:r>
              <a:rPr lang="ru-RU" dirty="0"/>
              <a:t> на </a:t>
            </a:r>
            <a:r>
              <a:rPr lang="ru-RU" dirty="0" err="1"/>
              <a:t>интервали</a:t>
            </a:r>
            <a:r>
              <a:rPr lang="ru-RU" dirty="0"/>
              <a:t> от </a:t>
            </a:r>
            <a:r>
              <a:rPr lang="ru-RU" dirty="0" err="1"/>
              <a:t>време</a:t>
            </a:r>
            <a:r>
              <a:rPr lang="ru-RU" dirty="0"/>
              <a:t> (например </a:t>
            </a:r>
            <a:r>
              <a:rPr lang="ru-RU" dirty="0" err="1"/>
              <a:t>през</a:t>
            </a:r>
            <a:r>
              <a:rPr lang="ru-RU" dirty="0"/>
              <a:t> 5 или 10 </a:t>
            </a:r>
            <a:r>
              <a:rPr lang="ru-RU" dirty="0" err="1"/>
              <a:t>секунди</a:t>
            </a:r>
            <a:r>
              <a:rPr lang="ru-RU" dirty="0"/>
              <a:t>), за да </a:t>
            </a:r>
            <a:r>
              <a:rPr lang="ru-RU" dirty="0" err="1"/>
              <a:t>сканира</a:t>
            </a:r>
            <a:r>
              <a:rPr lang="ru-RU" dirty="0"/>
              <a:t> и да пита API </a:t>
            </a:r>
            <a:r>
              <a:rPr lang="ru-RU" dirty="0" err="1"/>
              <a:t>сървъра</a:t>
            </a:r>
            <a:r>
              <a:rPr lang="ru-RU" dirty="0"/>
              <a:t> за </a:t>
            </a:r>
            <a:r>
              <a:rPr lang="ru-RU" dirty="0" err="1"/>
              <a:t>промени</a:t>
            </a:r>
            <a:r>
              <a:rPr lang="ru-RU" dirty="0"/>
              <a:t>.</a:t>
            </a:r>
          </a:p>
          <a:p>
            <a:r>
              <a:rPr lang="ru-RU" dirty="0" err="1"/>
              <a:t>Работата</a:t>
            </a:r>
            <a:r>
              <a:rPr lang="ru-RU" dirty="0"/>
              <a:t> </a:t>
            </a:r>
            <a:r>
              <a:rPr lang="ru-RU" dirty="0" err="1"/>
              <a:t>му</a:t>
            </a:r>
            <a:r>
              <a:rPr lang="ru-RU" dirty="0"/>
              <a:t> е </a:t>
            </a:r>
            <a:r>
              <a:rPr lang="ru-RU" dirty="0" err="1"/>
              <a:t>изцяло</a:t>
            </a:r>
            <a:r>
              <a:rPr lang="ru-RU" dirty="0"/>
              <a:t> Event-</a:t>
            </a:r>
            <a:r>
              <a:rPr lang="ru-RU" dirty="0" err="1"/>
              <a:t>driven</a:t>
            </a:r>
            <a:r>
              <a:rPr lang="ru-RU" dirty="0"/>
              <a:t> (</a:t>
            </a:r>
            <a:r>
              <a:rPr lang="ru-RU" dirty="0" err="1"/>
              <a:t>задвижвана</a:t>
            </a:r>
            <a:r>
              <a:rPr lang="ru-RU" dirty="0"/>
              <a:t> от </a:t>
            </a:r>
            <a:r>
              <a:rPr lang="ru-RU" dirty="0" err="1"/>
              <a:t>събития</a:t>
            </a:r>
            <a:r>
              <a:rPr lang="ru-RU" dirty="0"/>
              <a:t>):</a:t>
            </a:r>
          </a:p>
          <a:p>
            <a:r>
              <a:rPr lang="ru-RU" dirty="0" err="1"/>
              <a:t>Непрекъсната</a:t>
            </a:r>
            <a:r>
              <a:rPr lang="ru-RU" dirty="0"/>
              <a:t> </a:t>
            </a:r>
            <a:r>
              <a:rPr lang="ru-RU" dirty="0" err="1"/>
              <a:t>връзка</a:t>
            </a:r>
            <a:r>
              <a:rPr lang="ru-RU" dirty="0"/>
              <a:t> (Watch): </a:t>
            </a:r>
            <a:r>
              <a:rPr lang="ru-RU" dirty="0" err="1"/>
              <a:t>Контролерът</a:t>
            </a:r>
            <a:r>
              <a:rPr lang="ru-RU" dirty="0"/>
              <a:t> </a:t>
            </a:r>
            <a:r>
              <a:rPr lang="ru-RU" dirty="0" err="1"/>
              <a:t>държи</a:t>
            </a:r>
            <a:r>
              <a:rPr lang="ru-RU" dirty="0"/>
              <a:t> отворена HTTP/HTTP2 </a:t>
            </a:r>
            <a:r>
              <a:rPr lang="ru-RU" dirty="0" err="1"/>
              <a:t>сесия</a:t>
            </a:r>
            <a:r>
              <a:rPr lang="ru-RU" dirty="0"/>
              <a:t> </a:t>
            </a:r>
            <a:r>
              <a:rPr lang="ru-RU" dirty="0" err="1"/>
              <a:t>към</a:t>
            </a:r>
            <a:r>
              <a:rPr lang="ru-RU" dirty="0"/>
              <a:t> </a:t>
            </a:r>
            <a:r>
              <a:rPr lang="ru-RU" dirty="0" err="1"/>
              <a:t>kube-apiserver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Докато</a:t>
            </a:r>
            <a:r>
              <a:rPr lang="ru-RU" dirty="0"/>
              <a:t> </a:t>
            </a:r>
            <a:r>
              <a:rPr lang="ru-RU" dirty="0" err="1"/>
              <a:t>няма</a:t>
            </a:r>
            <a:r>
              <a:rPr lang="ru-RU" dirty="0"/>
              <a:t> </a:t>
            </a:r>
            <a:r>
              <a:rPr lang="ru-RU" dirty="0" err="1"/>
              <a:t>промяна</a:t>
            </a:r>
            <a:r>
              <a:rPr lang="ru-RU" dirty="0"/>
              <a:t> в </a:t>
            </a:r>
            <a:r>
              <a:rPr lang="ru-RU" dirty="0" err="1"/>
              <a:t>клъстера</a:t>
            </a:r>
            <a:r>
              <a:rPr lang="ru-RU" dirty="0"/>
              <a:t>, </a:t>
            </a:r>
            <a:r>
              <a:rPr lang="ru-RU" dirty="0" err="1"/>
              <a:t>процесът</a:t>
            </a:r>
            <a:r>
              <a:rPr lang="ru-RU" dirty="0"/>
              <a:t> не </a:t>
            </a:r>
            <a:r>
              <a:rPr lang="ru-RU" dirty="0" err="1"/>
              <a:t>извършва</a:t>
            </a:r>
            <a:r>
              <a:rPr lang="ru-RU" dirty="0"/>
              <a:t> </a:t>
            </a:r>
            <a:r>
              <a:rPr lang="ru-RU" dirty="0" err="1"/>
              <a:t>повторни</a:t>
            </a:r>
            <a:r>
              <a:rPr lang="ru-RU" dirty="0"/>
              <a:t> проверки и не </a:t>
            </a:r>
            <a:r>
              <a:rPr lang="ru-RU" dirty="0" err="1"/>
              <a:t>изразходва</a:t>
            </a:r>
            <a:r>
              <a:rPr lang="ru-RU" dirty="0"/>
              <a:t> ресурс за излишни заявки.</a:t>
            </a:r>
          </a:p>
          <a:p>
            <a:endParaRPr lang="ru-RU" dirty="0"/>
          </a:p>
          <a:p>
            <a:r>
              <a:rPr lang="ru-RU" dirty="0"/>
              <a:t>В момента, в </a:t>
            </a:r>
            <a:r>
              <a:rPr lang="ru-RU" dirty="0" err="1"/>
              <a:t>който</a:t>
            </a:r>
            <a:r>
              <a:rPr lang="ru-RU" dirty="0"/>
              <a:t> </a:t>
            </a:r>
            <a:r>
              <a:rPr lang="ru-RU" dirty="0" err="1"/>
              <a:t>настъпи</a:t>
            </a:r>
            <a:r>
              <a:rPr lang="ru-RU" dirty="0"/>
              <a:t> </a:t>
            </a:r>
            <a:r>
              <a:rPr lang="ru-RU" dirty="0" err="1"/>
              <a:t>промяна</a:t>
            </a:r>
            <a:r>
              <a:rPr lang="ru-RU" dirty="0"/>
              <a:t> (</a:t>
            </a:r>
            <a:r>
              <a:rPr lang="ru-RU" dirty="0" err="1"/>
              <a:t>създаване</a:t>
            </a:r>
            <a:r>
              <a:rPr lang="ru-RU" dirty="0"/>
              <a:t>, модификация или </a:t>
            </a:r>
            <a:r>
              <a:rPr lang="ru-RU" dirty="0" err="1"/>
              <a:t>изтриване</a:t>
            </a:r>
            <a:r>
              <a:rPr lang="ru-RU" dirty="0"/>
              <a:t> на ресурс), API </a:t>
            </a:r>
            <a:r>
              <a:rPr lang="ru-RU" dirty="0" err="1"/>
              <a:t>сървърът</a:t>
            </a:r>
            <a:r>
              <a:rPr lang="ru-RU" dirty="0"/>
              <a:t> </a:t>
            </a:r>
            <a:r>
              <a:rPr lang="ru-RU" dirty="0" err="1"/>
              <a:t>изпраща</a:t>
            </a:r>
            <a:r>
              <a:rPr lang="ru-RU" dirty="0"/>
              <a:t> известие по </a:t>
            </a:r>
            <a:r>
              <a:rPr lang="ru-RU" dirty="0" err="1"/>
              <a:t>отворената</a:t>
            </a:r>
            <a:r>
              <a:rPr lang="ru-RU" dirty="0"/>
              <a:t> </a:t>
            </a:r>
            <a:r>
              <a:rPr lang="ru-RU" dirty="0" err="1"/>
              <a:t>връзка</a:t>
            </a:r>
            <a:r>
              <a:rPr lang="ru-RU" dirty="0"/>
              <a:t>. Едва </a:t>
            </a:r>
            <a:r>
              <a:rPr lang="ru-RU" dirty="0" err="1"/>
              <a:t>тогава</a:t>
            </a:r>
            <a:r>
              <a:rPr lang="ru-RU" dirty="0"/>
              <a:t> </a:t>
            </a:r>
            <a:r>
              <a:rPr lang="ru-RU" dirty="0" err="1"/>
              <a:t>контролерът</a:t>
            </a:r>
            <a:r>
              <a:rPr lang="ru-RU" dirty="0"/>
              <a:t> "се </a:t>
            </a:r>
            <a:r>
              <a:rPr lang="ru-RU" dirty="0" err="1"/>
              <a:t>събужда</a:t>
            </a:r>
            <a:r>
              <a:rPr lang="ru-RU" dirty="0"/>
              <a:t>", </a:t>
            </a:r>
            <a:r>
              <a:rPr lang="ru-RU" dirty="0" err="1"/>
              <a:t>задвижва</a:t>
            </a:r>
            <a:r>
              <a:rPr lang="ru-RU" dirty="0"/>
              <a:t> </a:t>
            </a:r>
            <a:r>
              <a:rPr lang="ru-RU" dirty="0" err="1"/>
              <a:t>логиката</a:t>
            </a:r>
            <a:r>
              <a:rPr lang="ru-RU" dirty="0"/>
              <a:t> си за </a:t>
            </a:r>
            <a:r>
              <a:rPr lang="ru-RU" dirty="0" err="1"/>
              <a:t>заглаждане</a:t>
            </a:r>
            <a:r>
              <a:rPr lang="ru-RU" dirty="0"/>
              <a:t> на </a:t>
            </a:r>
            <a:r>
              <a:rPr lang="ru-RU" dirty="0" err="1"/>
              <a:t>разликите</a:t>
            </a:r>
            <a:r>
              <a:rPr lang="ru-RU" dirty="0"/>
              <a:t> (</a:t>
            </a:r>
            <a:r>
              <a:rPr lang="ru-RU" dirty="0" err="1"/>
              <a:t>reconciliation</a:t>
            </a:r>
            <a:r>
              <a:rPr lang="ru-RU" dirty="0"/>
              <a:t>) за </a:t>
            </a:r>
            <a:r>
              <a:rPr lang="ru-RU" dirty="0" err="1"/>
              <a:t>конкретния</a:t>
            </a:r>
            <a:r>
              <a:rPr lang="ru-RU" dirty="0"/>
              <a:t> </a:t>
            </a:r>
            <a:r>
              <a:rPr lang="ru-RU" dirty="0" err="1"/>
              <a:t>обект</a:t>
            </a:r>
            <a:r>
              <a:rPr lang="ru-RU" dirty="0"/>
              <a:t> и </a:t>
            </a:r>
            <a:r>
              <a:rPr lang="ru-RU" dirty="0" err="1"/>
              <a:t>отново</a:t>
            </a:r>
            <a:r>
              <a:rPr lang="ru-RU" dirty="0"/>
              <a:t> </a:t>
            </a:r>
            <a:r>
              <a:rPr lang="ru-RU" dirty="0" err="1"/>
              <a:t>минава</a:t>
            </a:r>
            <a:r>
              <a:rPr lang="ru-RU" dirty="0"/>
              <a:t> в режим на чакане.</a:t>
            </a:r>
          </a:p>
          <a:p>
            <a:endParaRPr lang="ru-RU" dirty="0"/>
          </a:p>
          <a:p>
            <a:r>
              <a:rPr lang="ru-RU" dirty="0" err="1"/>
              <a:t>Терминът</a:t>
            </a:r>
            <a:r>
              <a:rPr lang="ru-RU" dirty="0"/>
              <a:t> „Control </a:t>
            </a:r>
            <a:r>
              <a:rPr lang="ru-RU" dirty="0" err="1"/>
              <a:t>Loop“Kubernetes</a:t>
            </a:r>
            <a:r>
              <a:rPr lang="ru-RU" dirty="0"/>
              <a:t> </a:t>
            </a:r>
            <a:r>
              <a:rPr lang="ru-RU" dirty="0" err="1"/>
              <a:t>описва</a:t>
            </a:r>
            <a:r>
              <a:rPr lang="ru-RU" dirty="0"/>
              <a:t> </a:t>
            </a:r>
            <a:r>
              <a:rPr lang="ru-RU" dirty="0" err="1"/>
              <a:t>архитектурния</a:t>
            </a:r>
            <a:r>
              <a:rPr lang="ru-RU" dirty="0"/>
              <a:t> </a:t>
            </a:r>
            <a:r>
              <a:rPr lang="ru-RU" dirty="0" err="1"/>
              <a:t>модел</a:t>
            </a:r>
            <a:r>
              <a:rPr lang="ru-RU" dirty="0"/>
              <a:t> (</a:t>
            </a:r>
            <a:r>
              <a:rPr lang="ru-RU" dirty="0" err="1"/>
              <a:t>стремежа</a:t>
            </a:r>
            <a:r>
              <a:rPr lang="ru-RU" dirty="0"/>
              <a:t> да се </a:t>
            </a:r>
            <a:r>
              <a:rPr lang="ru-RU" dirty="0" err="1"/>
              <a:t>изравни</a:t>
            </a:r>
            <a:r>
              <a:rPr lang="ru-RU" dirty="0"/>
              <a:t> </a:t>
            </a:r>
            <a:r>
              <a:rPr lang="ru-RU" dirty="0" err="1"/>
              <a:t>текущото</a:t>
            </a:r>
            <a:r>
              <a:rPr lang="ru-RU" dirty="0"/>
              <a:t> </a:t>
            </a:r>
            <a:r>
              <a:rPr lang="ru-RU" dirty="0" err="1"/>
              <a:t>състояние</a:t>
            </a:r>
            <a:r>
              <a:rPr lang="ru-RU" dirty="0"/>
              <a:t> с </a:t>
            </a:r>
            <a:r>
              <a:rPr lang="ru-RU" dirty="0" err="1"/>
              <a:t>желаното</a:t>
            </a:r>
            <a:r>
              <a:rPr lang="ru-RU" dirty="0"/>
              <a:t>), а не че </a:t>
            </a:r>
            <a:r>
              <a:rPr lang="ru-RU" dirty="0" err="1"/>
              <a:t>има</a:t>
            </a:r>
            <a:r>
              <a:rPr lang="ru-RU" dirty="0"/>
              <a:t> таймер, </a:t>
            </a:r>
            <a:r>
              <a:rPr lang="ru-RU" dirty="0" err="1"/>
              <a:t>който</a:t>
            </a:r>
            <a:r>
              <a:rPr lang="ru-RU" dirty="0"/>
              <a:t> </a:t>
            </a:r>
            <a:r>
              <a:rPr lang="ru-RU" dirty="0" err="1"/>
              <a:t>редовно</a:t>
            </a:r>
            <a:r>
              <a:rPr lang="ru-RU" dirty="0"/>
              <a:t> </a:t>
            </a:r>
            <a:r>
              <a:rPr lang="ru-RU" dirty="0" err="1"/>
              <a:t>рестартира</a:t>
            </a:r>
            <a:r>
              <a:rPr lang="ru-RU" dirty="0"/>
              <a:t> или </a:t>
            </a:r>
            <a:r>
              <a:rPr lang="ru-RU" dirty="0" err="1"/>
              <a:t>изпълнява</a:t>
            </a:r>
            <a:r>
              <a:rPr lang="ru-RU" dirty="0"/>
              <a:t> </a:t>
            </a:r>
            <a:r>
              <a:rPr lang="ru-RU" dirty="0" err="1"/>
              <a:t>проверката</a:t>
            </a:r>
            <a:r>
              <a:rPr lang="ru-RU" dirty="0"/>
              <a:t> по график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736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kube</a:t>
            </a:r>
            <a:r>
              <a:rPr lang="en-US" dirty="0"/>
              <a:t>-proxy </a:t>
            </a:r>
            <a:r>
              <a:rPr lang="bg-BG" dirty="0"/>
              <a:t>работи като мрежов прокси агент, който се изпълнява на всеки </a:t>
            </a:r>
            <a:r>
              <a:rPr lang="en-US" dirty="0"/>
              <a:t>worker node </a:t>
            </a:r>
            <a:r>
              <a:rPr lang="bg-BG" dirty="0"/>
              <a:t>в </a:t>
            </a:r>
            <a:r>
              <a:rPr lang="en-US" dirty="0"/>
              <a:t>Kubernetes </a:t>
            </a:r>
            <a:r>
              <a:rPr lang="bg-BG" dirty="0"/>
              <a:t>клъстера. Основната му задача е да управлява мрежовите правила (</a:t>
            </a:r>
            <a:r>
              <a:rPr lang="en-US" dirty="0"/>
              <a:t>network rules) </a:t>
            </a:r>
            <a:r>
              <a:rPr lang="bg-BG" dirty="0"/>
              <a:t>на хоста, за да осигури правилното пренасочване на трафика (</a:t>
            </a:r>
            <a:r>
              <a:rPr lang="en-US" dirty="0"/>
              <a:t>load balancing) </a:t>
            </a:r>
            <a:r>
              <a:rPr lang="bg-BG" dirty="0"/>
              <a:t>към правилните под-ове (</a:t>
            </a:r>
            <a:r>
              <a:rPr lang="en-US" dirty="0"/>
              <a:t>Pods).</a:t>
            </a:r>
            <a:endParaRPr lang="bg-BG" dirty="0"/>
          </a:p>
          <a:p>
            <a:r>
              <a:rPr lang="en-US" dirty="0" err="1"/>
              <a:t>kube</a:t>
            </a:r>
            <a:r>
              <a:rPr lang="en-US" dirty="0"/>
              <a:t>-proxy </a:t>
            </a:r>
            <a:r>
              <a:rPr lang="bg-BG" dirty="0"/>
              <a:t>изпълнява непрекъснат процес на наблюдение (</a:t>
            </a:r>
            <a:r>
              <a:rPr lang="en-US" dirty="0"/>
              <a:t>watch </a:t>
            </a:r>
            <a:r>
              <a:rPr lang="bg-BG" dirty="0"/>
              <a:t>заявки) към </a:t>
            </a:r>
            <a:r>
              <a:rPr lang="en-US" dirty="0"/>
              <a:t>Kubernetes API </a:t>
            </a:r>
            <a:r>
              <a:rPr lang="bg-BG" dirty="0"/>
              <a:t>сървъра за следните ресурси:</a:t>
            </a:r>
          </a:p>
          <a:p>
            <a:endParaRPr lang="bg-BG" dirty="0"/>
          </a:p>
          <a:p>
            <a:r>
              <a:rPr lang="en-US" dirty="0"/>
              <a:t>Services </a:t>
            </a:r>
            <a:r>
              <a:rPr lang="bg-BG" dirty="0"/>
              <a:t>и</a:t>
            </a:r>
            <a:endParaRPr lang="en-US" dirty="0"/>
          </a:p>
          <a:p>
            <a:r>
              <a:rPr lang="en-US" dirty="0"/>
              <a:t>Endpoints </a:t>
            </a:r>
            <a:r>
              <a:rPr lang="bg-BG" dirty="0"/>
              <a:t>или </a:t>
            </a:r>
            <a:r>
              <a:rPr lang="en-US" dirty="0" err="1"/>
              <a:t>EndpointSlices</a:t>
            </a:r>
            <a:r>
              <a:rPr lang="en-US" dirty="0"/>
              <a:t> (Endpoints – IP </a:t>
            </a:r>
            <a:r>
              <a:rPr lang="bg-BG" dirty="0"/>
              <a:t>адресите и портовете на под-овете, които стоят зад дадения сервис)</a:t>
            </a:r>
          </a:p>
          <a:p>
            <a:endParaRPr lang="bg-BG" dirty="0"/>
          </a:p>
          <a:p>
            <a:r>
              <a:rPr lang="bg-BG" dirty="0"/>
              <a:t>Когато потребител  създаде нов </a:t>
            </a:r>
            <a:r>
              <a:rPr lang="en-US" dirty="0"/>
              <a:t>Service (</a:t>
            </a:r>
            <a:r>
              <a:rPr lang="bg-BG" dirty="0"/>
              <a:t>например чрез </a:t>
            </a:r>
            <a:r>
              <a:rPr lang="en-US" dirty="0" err="1"/>
              <a:t>kubectl</a:t>
            </a:r>
            <a:r>
              <a:rPr lang="en-US" dirty="0"/>
              <a:t> apply -f </a:t>
            </a:r>
            <a:r>
              <a:rPr lang="en-US" dirty="0" err="1"/>
              <a:t>service.yaml</a:t>
            </a:r>
            <a:r>
              <a:rPr lang="en-US" dirty="0"/>
              <a:t>), API </a:t>
            </a:r>
            <a:r>
              <a:rPr lang="bg-BG" dirty="0"/>
              <a:t>сървърът записва това събитие в </a:t>
            </a:r>
            <a:r>
              <a:rPr lang="en-US" dirty="0" err="1"/>
              <a:t>etcd</a:t>
            </a:r>
            <a:r>
              <a:rPr lang="en-US" dirty="0"/>
              <a:t> </a:t>
            </a:r>
            <a:r>
              <a:rPr lang="bg-BG" dirty="0"/>
              <a:t>базата данни. В същия момент </a:t>
            </a:r>
            <a:r>
              <a:rPr lang="en-US" dirty="0" err="1"/>
              <a:t>kube</a:t>
            </a:r>
            <a:r>
              <a:rPr lang="en-US" dirty="0"/>
              <a:t>-proxy, </a:t>
            </a:r>
            <a:r>
              <a:rPr lang="bg-BG" dirty="0"/>
              <a:t>който непрекъснато слуша за промени, получава известие (</a:t>
            </a:r>
            <a:r>
              <a:rPr lang="en-US" dirty="0"/>
              <a:t>event) </a:t>
            </a:r>
            <a:r>
              <a:rPr lang="bg-BG" dirty="0"/>
              <a:t>в реално време, че е регистриран нов сервис.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2258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8939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kubectl</a:t>
            </a:r>
            <a:r>
              <a:rPr lang="en-US" dirty="0"/>
              <a:t> е </a:t>
            </a:r>
            <a:r>
              <a:rPr lang="en-US" dirty="0" err="1"/>
              <a:t>официалният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команден</a:t>
            </a:r>
            <a:r>
              <a:rPr lang="en-US" dirty="0"/>
              <a:t> </a:t>
            </a:r>
            <a:r>
              <a:rPr lang="en-US" dirty="0" err="1"/>
              <a:t>ред</a:t>
            </a:r>
            <a:r>
              <a:rPr lang="en-US" dirty="0"/>
              <a:t> (CLI), </a:t>
            </a:r>
            <a:r>
              <a:rPr lang="en-US" dirty="0" err="1"/>
              <a:t>чрез</a:t>
            </a:r>
            <a:r>
              <a:rPr lang="en-US" dirty="0"/>
              <a:t> </a:t>
            </a:r>
            <a:r>
              <a:rPr lang="en-US" dirty="0" err="1"/>
              <a:t>който</a:t>
            </a:r>
            <a:r>
              <a:rPr lang="en-US" dirty="0"/>
              <a:t> </a:t>
            </a:r>
            <a:r>
              <a:rPr lang="en-US" dirty="0" err="1"/>
              <a:t>управляваме</a:t>
            </a:r>
            <a:r>
              <a:rPr lang="en-US" dirty="0"/>
              <a:t> Kubernetes </a:t>
            </a:r>
            <a:r>
              <a:rPr lang="en-US" dirty="0" err="1"/>
              <a:t>клъстери</a:t>
            </a:r>
            <a:r>
              <a:rPr lang="en-US" dirty="0"/>
              <a:t>. </a:t>
            </a:r>
            <a:r>
              <a:rPr lang="en-US" dirty="0" err="1"/>
              <a:t>Неговата</a:t>
            </a:r>
            <a:r>
              <a:rPr lang="en-US" dirty="0"/>
              <a:t> </a:t>
            </a:r>
            <a:r>
              <a:rPr lang="en-US" dirty="0" err="1"/>
              <a:t>основна</a:t>
            </a:r>
            <a:r>
              <a:rPr lang="en-US" dirty="0"/>
              <a:t> </a:t>
            </a:r>
            <a:r>
              <a:rPr lang="en-US" dirty="0" err="1"/>
              <a:t>роля</a:t>
            </a:r>
            <a:r>
              <a:rPr lang="en-US" dirty="0"/>
              <a:t> е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превежда</a:t>
            </a:r>
            <a:r>
              <a:rPr lang="en-US" dirty="0"/>
              <a:t> </a:t>
            </a:r>
            <a:r>
              <a:rPr lang="en-US" dirty="0" err="1"/>
              <a:t>потребителските</a:t>
            </a:r>
            <a:r>
              <a:rPr lang="en-US" dirty="0"/>
              <a:t> </a:t>
            </a:r>
            <a:r>
              <a:rPr lang="en-US" dirty="0" err="1"/>
              <a:t>команди</a:t>
            </a:r>
            <a:r>
              <a:rPr lang="en-US" dirty="0"/>
              <a:t> в HTTP REST API </a:t>
            </a:r>
            <a:r>
              <a:rPr lang="en-US" dirty="0" err="1"/>
              <a:t>заявки</a:t>
            </a:r>
            <a:r>
              <a:rPr lang="en-US" dirty="0"/>
              <a:t> </a:t>
            </a:r>
            <a:r>
              <a:rPr lang="en-US" dirty="0" err="1"/>
              <a:t>към</a:t>
            </a:r>
            <a:r>
              <a:rPr lang="en-US" dirty="0"/>
              <a:t> control plane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клъстера</a:t>
            </a:r>
            <a:r>
              <a:rPr lang="en-US" dirty="0"/>
              <a:t>. 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kube-apiserver</a:t>
            </a:r>
            <a:r>
              <a:rPr lang="en-US" dirty="0"/>
              <a:t> е </a:t>
            </a:r>
            <a:r>
              <a:rPr lang="en-US" dirty="0" err="1"/>
              <a:t>неговият</a:t>
            </a:r>
            <a:r>
              <a:rPr lang="en-US" dirty="0"/>
              <a:t> "</a:t>
            </a:r>
            <a:r>
              <a:rPr lang="en-US" dirty="0" err="1"/>
              <a:t>фронтенд</a:t>
            </a:r>
            <a:r>
              <a:rPr lang="en-US" dirty="0"/>
              <a:t>" и </a:t>
            </a:r>
            <a:r>
              <a:rPr lang="en-US" dirty="0" err="1"/>
              <a:t>единственият</a:t>
            </a:r>
            <a:r>
              <a:rPr lang="en-US" dirty="0"/>
              <a:t> </a:t>
            </a:r>
            <a:r>
              <a:rPr lang="en-US" dirty="0" err="1"/>
              <a:t>портал</a:t>
            </a:r>
            <a:r>
              <a:rPr lang="en-US" dirty="0"/>
              <a:t>, с </a:t>
            </a:r>
            <a:r>
              <a:rPr lang="en-US" dirty="0" err="1"/>
              <a:t>който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kubectl</a:t>
            </a:r>
            <a:r>
              <a:rPr lang="en-US" dirty="0"/>
              <a:t> </a:t>
            </a:r>
            <a:r>
              <a:rPr lang="en-US" dirty="0" err="1"/>
              <a:t>комуникира</a:t>
            </a:r>
            <a:r>
              <a:rPr lang="en-US" dirty="0"/>
              <a:t> </a:t>
            </a:r>
            <a:r>
              <a:rPr lang="en-US" dirty="0" err="1"/>
              <a:t>директно</a:t>
            </a:r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всяко</a:t>
            </a:r>
            <a:r>
              <a:rPr lang="en-US" dirty="0"/>
              <a:t> </a:t>
            </a:r>
            <a:r>
              <a:rPr lang="en-US" dirty="0" err="1"/>
              <a:t>изпълнение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kubectl</a:t>
            </a:r>
            <a:r>
              <a:rPr lang="en-US" dirty="0"/>
              <a:t> </a:t>
            </a:r>
            <a:r>
              <a:rPr lang="en-US" dirty="0" err="1"/>
              <a:t>първо</a:t>
            </a:r>
            <a:r>
              <a:rPr lang="en-US" dirty="0"/>
              <a:t> </a:t>
            </a:r>
            <a:r>
              <a:rPr lang="en-US" dirty="0" err="1"/>
              <a:t>прочита</a:t>
            </a:r>
            <a:r>
              <a:rPr lang="en-US" dirty="0"/>
              <a:t> </a:t>
            </a:r>
            <a:r>
              <a:rPr lang="en-US" dirty="0" err="1"/>
              <a:t>файла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~/.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kube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/config</a:t>
            </a:r>
            <a:r>
              <a:rPr lang="en-US" dirty="0"/>
              <a:t>,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bg-BG" dirty="0"/>
              <a:t>разбере </a:t>
            </a:r>
            <a:r>
              <a:rPr lang="ru-RU" dirty="0"/>
              <a:t>как да се </a:t>
            </a:r>
            <a:r>
              <a:rPr lang="ru-RU" dirty="0" err="1"/>
              <a:t>свърже</a:t>
            </a:r>
            <a:r>
              <a:rPr lang="ru-RU" dirty="0"/>
              <a:t> с </a:t>
            </a:r>
            <a:r>
              <a:rPr lang="ru-RU" dirty="0" err="1"/>
              <a:t>клъстера</a:t>
            </a:r>
            <a:r>
              <a:rPr lang="ru-RU" dirty="0"/>
              <a:t> и кои </a:t>
            </a:r>
            <a:r>
              <a:rPr lang="ru-RU" dirty="0" err="1"/>
              <a:t>идентификационни</a:t>
            </a:r>
            <a:r>
              <a:rPr lang="ru-RU" dirty="0"/>
              <a:t> </a:t>
            </a:r>
            <a:r>
              <a:rPr lang="ru-RU" dirty="0" err="1"/>
              <a:t>данни</a:t>
            </a:r>
            <a:r>
              <a:rPr lang="ru-RU" dirty="0"/>
              <a:t> да </a:t>
            </a:r>
            <a:r>
              <a:rPr lang="ru-RU" dirty="0" err="1"/>
              <a:t>представи</a:t>
            </a:r>
            <a:r>
              <a:rPr lang="ru-RU" dirty="0"/>
              <a:t>, за да </a:t>
            </a:r>
            <a:r>
              <a:rPr lang="ru-RU" dirty="0" err="1"/>
              <a:t>удостовери</a:t>
            </a:r>
            <a:r>
              <a:rPr lang="ru-RU" dirty="0"/>
              <a:t> </a:t>
            </a:r>
            <a:r>
              <a:rPr lang="ru-RU" dirty="0" err="1"/>
              <a:t>самоличността</a:t>
            </a:r>
            <a:r>
              <a:rPr lang="en-US" dirty="0"/>
              <a:t>. </a:t>
            </a:r>
            <a:r>
              <a:rPr lang="en-US" dirty="0" err="1"/>
              <a:t>Едва</a:t>
            </a:r>
            <a:r>
              <a:rPr lang="en-US" dirty="0"/>
              <a:t> </a:t>
            </a:r>
            <a:r>
              <a:rPr lang="en-US" dirty="0" err="1"/>
              <a:t>след</a:t>
            </a:r>
            <a:r>
              <a:rPr lang="en-US" dirty="0"/>
              <a:t> </a:t>
            </a:r>
            <a:r>
              <a:rPr lang="en-US" dirty="0" err="1"/>
              <a:t>това</a:t>
            </a:r>
            <a:r>
              <a:rPr lang="en-US" dirty="0"/>
              <a:t> </a:t>
            </a:r>
            <a:r>
              <a:rPr lang="en-US" dirty="0" err="1"/>
              <a:t>превежда</a:t>
            </a:r>
            <a:r>
              <a:rPr lang="en-US" dirty="0"/>
              <a:t> </a:t>
            </a:r>
            <a:r>
              <a:rPr lang="en-US" dirty="0" err="1"/>
              <a:t>подадената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 в HTTP REST API </a:t>
            </a:r>
            <a:r>
              <a:rPr lang="en-US" dirty="0" err="1"/>
              <a:t>заявка</a:t>
            </a:r>
            <a:r>
              <a:rPr lang="en-US" dirty="0"/>
              <a:t>, </a:t>
            </a:r>
            <a:r>
              <a:rPr lang="en-US" dirty="0" err="1"/>
              <a:t>която</a:t>
            </a:r>
            <a:r>
              <a:rPr lang="en-US" dirty="0"/>
              <a:t> </a:t>
            </a:r>
            <a:r>
              <a:rPr lang="en-US" dirty="0" err="1"/>
              <a:t>изпраща</a:t>
            </a:r>
            <a:r>
              <a:rPr lang="en-US" dirty="0"/>
              <a:t> </a:t>
            </a:r>
            <a:r>
              <a:rPr lang="en-US" dirty="0" err="1"/>
              <a:t>директно</a:t>
            </a:r>
            <a:r>
              <a:rPr lang="en-US" dirty="0"/>
              <a:t> </a:t>
            </a:r>
            <a:r>
              <a:rPr lang="en-US" dirty="0" err="1"/>
              <a:t>към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kube-apiserver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1004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kubecongi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казва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kubectl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как да се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свърже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клъстера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кои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идентификационни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данни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представи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за 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удостовери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самоличността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542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093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Предимства и недостатъци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1917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67E50-C1A0-5C19-3E6E-371A75712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52AC34-590E-FDAA-A8A3-0ECBD729D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C73E1E-17FD-D461-BCA0-233AB907F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25978-929C-C153-89C5-E2A9A70D9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776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CF4D2-1062-21DC-293C-8D0BDC073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3BA65-82A6-9993-0AE9-66908DCE3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785303-B10A-98D5-DA88-E78E99C10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(</a:t>
            </a:r>
            <a:r>
              <a:rPr lang="ru-RU" dirty="0" err="1"/>
              <a:t>Pod</a:t>
            </a:r>
            <a:r>
              <a:rPr lang="ru-RU" dirty="0"/>
              <a:t>) е най-</a:t>
            </a:r>
            <a:r>
              <a:rPr lang="ru-RU" dirty="0" err="1"/>
              <a:t>малката</a:t>
            </a:r>
            <a:r>
              <a:rPr lang="ru-RU" dirty="0"/>
              <a:t> единица в </a:t>
            </a:r>
            <a:r>
              <a:rPr lang="ru-RU" dirty="0" err="1"/>
              <a:t>Kubernetes</a:t>
            </a:r>
            <a:r>
              <a:rPr lang="ru-RU" dirty="0"/>
              <a:t>, </a:t>
            </a:r>
            <a:r>
              <a:rPr lang="ru-RU" dirty="0" err="1"/>
              <a:t>която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да </a:t>
            </a:r>
            <a:r>
              <a:rPr lang="ru-RU" dirty="0" err="1"/>
              <a:t>съдържа</a:t>
            </a:r>
            <a:r>
              <a:rPr lang="ru-RU" dirty="0"/>
              <a:t> един или </a:t>
            </a:r>
            <a:r>
              <a:rPr lang="ru-RU" dirty="0" err="1"/>
              <a:t>няколко</a:t>
            </a:r>
            <a:r>
              <a:rPr lang="ru-RU" dirty="0"/>
              <a:t> </a:t>
            </a:r>
            <a:r>
              <a:rPr lang="ru-RU" dirty="0" err="1"/>
              <a:t>силно</a:t>
            </a:r>
            <a:r>
              <a:rPr lang="ru-RU" dirty="0"/>
              <a:t> </a:t>
            </a:r>
            <a:r>
              <a:rPr lang="ru-RU" dirty="0" err="1"/>
              <a:t>обвързани</a:t>
            </a:r>
            <a:r>
              <a:rPr lang="ru-RU" dirty="0"/>
              <a:t> контейнера. </a:t>
            </a:r>
            <a:r>
              <a:rPr lang="ru-RU" dirty="0" err="1"/>
              <a:t>Всички</a:t>
            </a:r>
            <a:r>
              <a:rPr lang="ru-RU" dirty="0"/>
              <a:t> </a:t>
            </a:r>
            <a:r>
              <a:rPr lang="ru-RU" dirty="0" err="1"/>
              <a:t>контейнери</a:t>
            </a:r>
            <a:r>
              <a:rPr lang="ru-RU" dirty="0"/>
              <a:t> в един </a:t>
            </a:r>
            <a:r>
              <a:rPr lang="ru-RU" dirty="0" err="1"/>
              <a:t>Pod</a:t>
            </a:r>
            <a:r>
              <a:rPr lang="ru-RU" dirty="0"/>
              <a:t> </a:t>
            </a:r>
            <a:r>
              <a:rPr lang="ru-RU" dirty="0" err="1"/>
              <a:t>споделят</a:t>
            </a:r>
            <a:r>
              <a:rPr lang="ru-RU" dirty="0"/>
              <a:t> общ IP адрес и </a:t>
            </a:r>
            <a:r>
              <a:rPr lang="ru-RU" dirty="0" err="1"/>
              <a:t>файлова</a:t>
            </a:r>
            <a:r>
              <a:rPr lang="ru-RU" dirty="0"/>
              <a:t> система, </a:t>
            </a:r>
            <a:r>
              <a:rPr lang="ru-RU" dirty="0" err="1"/>
              <a:t>като</a:t>
            </a:r>
            <a:r>
              <a:rPr lang="ru-RU" dirty="0"/>
              <a:t> </a:t>
            </a:r>
            <a:r>
              <a:rPr lang="ru-RU" dirty="0" err="1"/>
              <a:t>комуникират</a:t>
            </a:r>
            <a:r>
              <a:rPr lang="ru-RU" dirty="0"/>
              <a:t> </a:t>
            </a:r>
            <a:r>
              <a:rPr lang="ru-RU" dirty="0" err="1"/>
              <a:t>директно</a:t>
            </a:r>
            <a:r>
              <a:rPr lang="ru-RU" dirty="0"/>
              <a:t> </a:t>
            </a:r>
            <a:r>
              <a:rPr lang="ru-RU" dirty="0" err="1"/>
              <a:t>помежду</a:t>
            </a:r>
            <a:r>
              <a:rPr lang="ru-RU" dirty="0"/>
              <a:t> си </a:t>
            </a:r>
            <a:r>
              <a:rPr lang="ru-RU" dirty="0" err="1"/>
              <a:t>през</a:t>
            </a:r>
            <a:r>
              <a:rPr lang="ru-RU" dirty="0"/>
              <a:t> </a:t>
            </a:r>
            <a:r>
              <a:rPr lang="ru-RU" dirty="0" err="1"/>
              <a:t>localhost</a:t>
            </a:r>
            <a:r>
              <a:rPr lang="ru-RU" dirty="0"/>
              <a:t> на </a:t>
            </a:r>
            <a:r>
              <a:rPr lang="ru-RU" dirty="0" err="1"/>
              <a:t>различни</a:t>
            </a:r>
            <a:r>
              <a:rPr lang="ru-RU" dirty="0"/>
              <a:t> </a:t>
            </a:r>
            <a:r>
              <a:rPr lang="ru-RU" dirty="0" err="1"/>
              <a:t>портове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2812A-BE99-8CFE-6B9C-97A45977B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259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Избягвайте</a:t>
            </a:r>
            <a:r>
              <a:rPr lang="en-US" b="1" dirty="0"/>
              <a:t> </a:t>
            </a:r>
            <a:r>
              <a:rPr lang="en-US" b="1" dirty="0" err="1"/>
              <a:t>прекалено</a:t>
            </a:r>
            <a:r>
              <a:rPr lang="en-US" b="1" dirty="0"/>
              <a:t> </a:t>
            </a:r>
            <a:r>
              <a:rPr lang="en-US" b="1" dirty="0" err="1"/>
              <a:t>строги</a:t>
            </a:r>
            <a:r>
              <a:rPr lang="en-US" b="1" dirty="0"/>
              <a:t> CPU Limits:</a:t>
            </a:r>
            <a:r>
              <a:rPr lang="en-US" dirty="0"/>
              <a:t> </a:t>
            </a:r>
            <a:r>
              <a:rPr lang="en-US" dirty="0" err="1"/>
              <a:t>Прекалено</a:t>
            </a:r>
            <a:r>
              <a:rPr lang="en-US" dirty="0"/>
              <a:t> </a:t>
            </a:r>
            <a:r>
              <a:rPr lang="en-US" dirty="0" err="1"/>
              <a:t>ниските</a:t>
            </a:r>
            <a:r>
              <a:rPr lang="en-US" dirty="0"/>
              <a:t> </a:t>
            </a:r>
            <a:r>
              <a:rPr lang="en-US" dirty="0" err="1"/>
              <a:t>лимити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процесор</a:t>
            </a:r>
            <a:r>
              <a:rPr lang="en-US" dirty="0"/>
              <a:t> </a:t>
            </a:r>
            <a:r>
              <a:rPr lang="en-US" dirty="0" err="1"/>
              <a:t>водят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CPU throttling (</a:t>
            </a:r>
            <a:r>
              <a:rPr lang="en-US" dirty="0" err="1"/>
              <a:t>ограничаване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процесорното</a:t>
            </a:r>
            <a:r>
              <a:rPr lang="en-US" dirty="0"/>
              <a:t> </a:t>
            </a:r>
            <a:r>
              <a:rPr lang="en-US" dirty="0" err="1"/>
              <a:t>време</a:t>
            </a:r>
            <a:r>
              <a:rPr lang="en-US" dirty="0"/>
              <a:t>), </a:t>
            </a:r>
            <a:r>
              <a:rPr lang="en-US" dirty="0" err="1"/>
              <a:t>което</a:t>
            </a:r>
            <a:r>
              <a:rPr lang="en-US" dirty="0"/>
              <a:t> </a:t>
            </a:r>
            <a:r>
              <a:rPr lang="en-US" dirty="0" err="1"/>
              <a:t>създава</a:t>
            </a:r>
            <a:r>
              <a:rPr lang="en-US" dirty="0"/>
              <a:t> </a:t>
            </a:r>
            <a:r>
              <a:rPr lang="en-US" dirty="0" err="1"/>
              <a:t>изкуствено</a:t>
            </a:r>
            <a:r>
              <a:rPr lang="en-US" dirty="0"/>
              <a:t> </a:t>
            </a:r>
            <a:r>
              <a:rPr lang="en-US" dirty="0" err="1"/>
              <a:t>забавяне</a:t>
            </a:r>
            <a:r>
              <a:rPr lang="en-US" dirty="0"/>
              <a:t> (artificial latency), </a:t>
            </a:r>
            <a:r>
              <a:rPr lang="en-US" dirty="0" err="1"/>
              <a:t>дори</a:t>
            </a:r>
            <a:r>
              <a:rPr lang="en-US" dirty="0"/>
              <a:t> </a:t>
            </a:r>
            <a:r>
              <a:rPr lang="en-US" dirty="0" err="1"/>
              <a:t>когато</a:t>
            </a:r>
            <a:r>
              <a:rPr lang="en-US" dirty="0"/>
              <a:t> </a:t>
            </a:r>
            <a:r>
              <a:rPr lang="en-US" dirty="0" err="1"/>
              <a:t>нодът</a:t>
            </a:r>
            <a:r>
              <a:rPr lang="en-US" dirty="0"/>
              <a:t> </a:t>
            </a:r>
            <a:r>
              <a:rPr lang="en-US" dirty="0" err="1"/>
              <a:t>има</a:t>
            </a:r>
            <a:r>
              <a:rPr lang="en-US" dirty="0"/>
              <a:t> </a:t>
            </a:r>
            <a:r>
              <a:rPr lang="en-US" dirty="0" err="1"/>
              <a:t>предостатъчно</a:t>
            </a:r>
            <a:r>
              <a:rPr lang="en-US" dirty="0"/>
              <a:t> </a:t>
            </a:r>
            <a:r>
              <a:rPr lang="en-US" dirty="0" err="1"/>
              <a:t>свободен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4842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Labels: Key-value pair </a:t>
            </a:r>
            <a:r>
              <a:rPr lang="ru-RU" dirty="0" err="1"/>
              <a:t>прикрепени</a:t>
            </a:r>
            <a:r>
              <a:rPr lang="ru-RU" dirty="0"/>
              <a:t> </a:t>
            </a:r>
            <a:r>
              <a:rPr lang="ru-RU" dirty="0" err="1"/>
              <a:t>към</a:t>
            </a:r>
            <a:r>
              <a:rPr lang="ru-RU" dirty="0"/>
              <a:t> </a:t>
            </a:r>
            <a:r>
              <a:rPr lang="ru-RU" dirty="0" err="1"/>
              <a:t>обекти</a:t>
            </a:r>
            <a:r>
              <a:rPr lang="ru-RU" dirty="0"/>
              <a:t> на </a:t>
            </a:r>
            <a:r>
              <a:rPr lang="ru-RU" dirty="0" err="1"/>
              <a:t>Kubernetes</a:t>
            </a:r>
            <a:r>
              <a:rPr lang="ru-RU" dirty="0"/>
              <a:t> за </a:t>
            </a:r>
            <a:r>
              <a:rPr lang="ru-RU" dirty="0" err="1"/>
              <a:t>логическо</a:t>
            </a:r>
            <a:r>
              <a:rPr lang="ru-RU" dirty="0"/>
              <a:t> </a:t>
            </a:r>
            <a:r>
              <a:rPr lang="ru-RU" dirty="0" err="1"/>
              <a:t>организиране</a:t>
            </a:r>
            <a:r>
              <a:rPr lang="ru-RU" dirty="0"/>
              <a:t>, </a:t>
            </a:r>
            <a:r>
              <a:rPr lang="ru-RU" dirty="0" err="1"/>
              <a:t>категоризиране</a:t>
            </a:r>
            <a:r>
              <a:rPr lang="ru-RU" dirty="0"/>
              <a:t> и </a:t>
            </a:r>
            <a:r>
              <a:rPr lang="ru-RU" dirty="0" err="1"/>
              <a:t>групиране</a:t>
            </a:r>
            <a:r>
              <a:rPr lang="ru-RU" dirty="0"/>
              <a:t> на </a:t>
            </a:r>
            <a:r>
              <a:rPr lang="ru-RU" dirty="0" err="1"/>
              <a:t>ресурси</a:t>
            </a:r>
            <a:r>
              <a:rPr lang="ru-RU" dirty="0"/>
              <a:t>.</a:t>
            </a:r>
            <a:br>
              <a:rPr lang="en-US" dirty="0"/>
            </a:br>
            <a:r>
              <a:rPr lang="ru-RU" dirty="0" err="1"/>
              <a:t>Селектори</a:t>
            </a:r>
            <a:r>
              <a:rPr lang="ru-RU" dirty="0"/>
              <a:t>: </a:t>
            </a:r>
            <a:r>
              <a:rPr lang="ru-RU" dirty="0" err="1"/>
              <a:t>механизми</a:t>
            </a:r>
            <a:r>
              <a:rPr lang="ru-RU" dirty="0"/>
              <a:t> за </a:t>
            </a:r>
            <a:r>
              <a:rPr lang="ru-RU" dirty="0" err="1"/>
              <a:t>филтриране</a:t>
            </a:r>
            <a:r>
              <a:rPr lang="ru-RU" dirty="0"/>
              <a:t>, </a:t>
            </a:r>
            <a:r>
              <a:rPr lang="ru-RU" dirty="0" err="1"/>
              <a:t>използвани</a:t>
            </a:r>
            <a:r>
              <a:rPr lang="ru-RU" dirty="0"/>
              <a:t> за </a:t>
            </a:r>
            <a:r>
              <a:rPr lang="ru-RU" dirty="0" err="1"/>
              <a:t>намиране</a:t>
            </a:r>
            <a:r>
              <a:rPr lang="ru-RU" dirty="0"/>
              <a:t> и </a:t>
            </a:r>
            <a:r>
              <a:rPr lang="ru-RU" dirty="0" err="1"/>
              <a:t>насочване</a:t>
            </a:r>
            <a:r>
              <a:rPr lang="ru-RU" dirty="0"/>
              <a:t> </a:t>
            </a:r>
            <a:r>
              <a:rPr lang="ru-RU" dirty="0" err="1"/>
              <a:t>към</a:t>
            </a:r>
            <a:r>
              <a:rPr lang="ru-RU" dirty="0"/>
              <a:t> </a:t>
            </a:r>
            <a:r>
              <a:rPr lang="ru-RU" dirty="0" err="1"/>
              <a:t>обекти</a:t>
            </a:r>
            <a:r>
              <a:rPr lang="ru-RU" dirty="0"/>
              <a:t> </a:t>
            </a:r>
            <a:r>
              <a:rPr lang="ru-RU" dirty="0" err="1"/>
              <a:t>въз</a:t>
            </a:r>
            <a:r>
              <a:rPr lang="ru-RU" dirty="0"/>
              <a:t> основа на </a:t>
            </a:r>
            <a:r>
              <a:rPr lang="ru-RU" dirty="0" err="1"/>
              <a:t>присвоените</a:t>
            </a:r>
            <a:r>
              <a:rPr lang="ru-RU" dirty="0"/>
              <a:t> им </a:t>
            </a:r>
            <a:r>
              <a:rPr lang="ru-RU" dirty="0" err="1"/>
              <a:t>етикети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9433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За упражнението</a:t>
            </a:r>
            <a:r>
              <a:rPr lang="en-US" dirty="0"/>
              <a:t>:</a:t>
            </a:r>
            <a:r>
              <a:rPr lang="bg-BG" dirty="0"/>
              <a:t> ще създадем </a:t>
            </a:r>
            <a:r>
              <a:rPr lang="en-US" dirty="0"/>
              <a:t>pod </a:t>
            </a:r>
            <a:r>
              <a:rPr lang="bg-BG" dirty="0"/>
              <a:t>и </a:t>
            </a:r>
            <a:r>
              <a:rPr lang="en-US" dirty="0"/>
              <a:t>service </a:t>
            </a:r>
            <a:r>
              <a:rPr lang="bg-BG" dirty="0"/>
              <a:t>за него</a:t>
            </a:r>
            <a:endParaRPr lang="en-US" dirty="0"/>
          </a:p>
          <a:p>
            <a:r>
              <a:rPr lang="ru-RU" dirty="0" err="1"/>
              <a:t>Pod-овете</a:t>
            </a:r>
            <a:r>
              <a:rPr lang="ru-RU" dirty="0"/>
              <a:t> </a:t>
            </a:r>
            <a:r>
              <a:rPr lang="ru-RU" dirty="0" err="1"/>
              <a:t>са</a:t>
            </a:r>
            <a:r>
              <a:rPr lang="ru-RU" dirty="0"/>
              <a:t> </a:t>
            </a:r>
            <a:r>
              <a:rPr lang="ru-RU" dirty="0" err="1"/>
              <a:t>временни</a:t>
            </a:r>
            <a:r>
              <a:rPr lang="ru-RU" dirty="0"/>
              <a:t> (</a:t>
            </a:r>
            <a:r>
              <a:rPr lang="ru-RU" dirty="0" err="1"/>
              <a:t>ephemeral</a:t>
            </a:r>
            <a:r>
              <a:rPr lang="ru-RU" dirty="0"/>
              <a:t>). </a:t>
            </a:r>
            <a:r>
              <a:rPr lang="ru-RU" dirty="0" err="1"/>
              <a:t>Когато</a:t>
            </a:r>
            <a:r>
              <a:rPr lang="ru-RU" dirty="0"/>
              <a:t> даден </a:t>
            </a:r>
            <a:r>
              <a:rPr lang="ru-RU" dirty="0" err="1"/>
              <a:t>Pod</a:t>
            </a:r>
            <a:r>
              <a:rPr lang="ru-RU" dirty="0"/>
              <a:t> се </a:t>
            </a:r>
            <a:r>
              <a:rPr lang="ru-RU" dirty="0" err="1"/>
              <a:t>рестартира</a:t>
            </a:r>
            <a:r>
              <a:rPr lang="ru-RU" dirty="0"/>
              <a:t> </a:t>
            </a:r>
            <a:r>
              <a:rPr lang="ru-RU" dirty="0" err="1"/>
              <a:t>неговият</a:t>
            </a:r>
            <a:r>
              <a:rPr lang="ru-RU" dirty="0"/>
              <a:t> </a:t>
            </a:r>
            <a:r>
              <a:rPr lang="ru-RU" dirty="0" err="1"/>
              <a:t>вътрешен</a:t>
            </a:r>
            <a:r>
              <a:rPr lang="ru-RU" dirty="0"/>
              <a:t> IP адрес се </a:t>
            </a:r>
            <a:r>
              <a:rPr lang="ru-RU" dirty="0" err="1"/>
              <a:t>променя</a:t>
            </a:r>
            <a:r>
              <a:rPr lang="ru-RU" dirty="0"/>
              <a:t> автоматично. </a:t>
            </a:r>
          </a:p>
          <a:p>
            <a:r>
              <a:rPr lang="ru-RU" dirty="0"/>
              <a:t>Service </a:t>
            </a:r>
            <a:r>
              <a:rPr lang="ru-RU" dirty="0" err="1"/>
              <a:t>осигурява</a:t>
            </a:r>
            <a:r>
              <a:rPr lang="ru-RU" dirty="0"/>
              <a:t> статичен IP , </a:t>
            </a:r>
            <a:r>
              <a:rPr lang="ru-RU" dirty="0" err="1"/>
              <a:t>към</a:t>
            </a:r>
            <a:r>
              <a:rPr lang="ru-RU" dirty="0"/>
              <a:t> </a:t>
            </a:r>
            <a:r>
              <a:rPr lang="ru-RU" dirty="0" err="1"/>
              <a:t>която</a:t>
            </a:r>
            <a:r>
              <a:rPr lang="ru-RU" dirty="0"/>
              <a:t> </a:t>
            </a:r>
            <a:r>
              <a:rPr lang="ru-RU" dirty="0" err="1"/>
              <a:t>клиентите</a:t>
            </a:r>
            <a:r>
              <a:rPr lang="ru-RU" dirty="0"/>
              <a:t> </a:t>
            </a:r>
            <a:r>
              <a:rPr lang="ru-RU" dirty="0" err="1"/>
              <a:t>могат</a:t>
            </a:r>
            <a:r>
              <a:rPr lang="ru-RU" dirty="0"/>
              <a:t> да се </a:t>
            </a:r>
            <a:r>
              <a:rPr lang="ru-RU" dirty="0" err="1"/>
              <a:t>свързват</a:t>
            </a:r>
            <a:r>
              <a:rPr lang="ru-RU" dirty="0"/>
              <a:t> без значение </a:t>
            </a:r>
            <a:r>
              <a:rPr lang="ru-RU" dirty="0" err="1"/>
              <a:t>какво</a:t>
            </a:r>
            <a:r>
              <a:rPr lang="ru-RU" dirty="0"/>
              <a:t> се </a:t>
            </a:r>
            <a:r>
              <a:rPr lang="ru-RU" dirty="0" err="1"/>
              <a:t>случва</a:t>
            </a:r>
            <a:r>
              <a:rPr lang="ru-RU" dirty="0"/>
              <a:t> с </a:t>
            </a:r>
            <a:r>
              <a:rPr lang="ru-RU" dirty="0" err="1"/>
              <a:t>отделните</a:t>
            </a:r>
            <a:r>
              <a:rPr lang="ru-RU" dirty="0"/>
              <a:t> </a:t>
            </a:r>
            <a:r>
              <a:rPr lang="ru-RU" dirty="0" err="1"/>
              <a:t>Pod-ове</a:t>
            </a:r>
            <a:r>
              <a:rPr lang="ru-RU" dirty="0"/>
              <a:t>.</a:t>
            </a:r>
            <a:endParaRPr lang="en-US" dirty="0"/>
          </a:p>
          <a:p>
            <a:r>
              <a:rPr lang="bg-BG" dirty="0"/>
              <a:t>Когато създадете и изпратите </a:t>
            </a:r>
            <a:r>
              <a:rPr lang="en-US" dirty="0"/>
              <a:t>Service </a:t>
            </a:r>
            <a:r>
              <a:rPr lang="bg-BG" dirty="0"/>
              <a:t>манифест към </a:t>
            </a:r>
            <a:r>
              <a:rPr lang="en-US" dirty="0"/>
              <a:t>Kubernetes API </a:t>
            </a:r>
            <a:r>
              <a:rPr lang="bg-BG" dirty="0"/>
              <a:t>сървъра  той се записва в </a:t>
            </a:r>
            <a:r>
              <a:rPr lang="en-US" dirty="0" err="1"/>
              <a:t>etcd</a:t>
            </a:r>
            <a:r>
              <a:rPr lang="en-US" dirty="0"/>
              <a:t>.</a:t>
            </a:r>
          </a:p>
          <a:p>
            <a:r>
              <a:rPr lang="bg-BG" dirty="0"/>
              <a:t>В </a:t>
            </a:r>
            <a:r>
              <a:rPr lang="en-US" dirty="0" err="1"/>
              <a:t>kube</a:t>
            </a:r>
            <a:r>
              <a:rPr lang="en-US" dirty="0"/>
              <a:t>-controller-manager </a:t>
            </a:r>
            <a:r>
              <a:rPr lang="bg-BG" dirty="0"/>
              <a:t>съществува вграден контролер, наречен </a:t>
            </a:r>
            <a:r>
              <a:rPr lang="en-US" dirty="0"/>
              <a:t>Endpoints Controller. </a:t>
            </a:r>
          </a:p>
          <a:p>
            <a:r>
              <a:rPr lang="bg-BG" dirty="0"/>
              <a:t>Той непрекъснато следи (</a:t>
            </a:r>
            <a:r>
              <a:rPr lang="en-US" dirty="0"/>
              <a:t>watch) </a:t>
            </a:r>
            <a:r>
              <a:rPr lang="bg-BG" dirty="0"/>
              <a:t>промените по състоянието на </a:t>
            </a:r>
            <a:r>
              <a:rPr lang="en-US" dirty="0"/>
              <a:t>Service </a:t>
            </a:r>
            <a:r>
              <a:rPr lang="bg-BG" dirty="0"/>
              <a:t>и </a:t>
            </a:r>
            <a:r>
              <a:rPr lang="en-US" dirty="0"/>
              <a:t>Pod </a:t>
            </a:r>
            <a:r>
              <a:rPr lang="bg-BG" dirty="0"/>
              <a:t>обектите.</a:t>
            </a:r>
          </a:p>
          <a:p>
            <a:r>
              <a:rPr lang="bg-BG" dirty="0"/>
              <a:t>Когато контролерът засече нов </a:t>
            </a:r>
            <a:r>
              <a:rPr lang="en-US" dirty="0"/>
              <a:t>Service, </a:t>
            </a:r>
            <a:r>
              <a:rPr lang="bg-BG" dirty="0"/>
              <a:t>който има зададен </a:t>
            </a:r>
            <a:r>
              <a:rPr lang="en-US" dirty="0"/>
              <a:t>selector, </a:t>
            </a:r>
            <a:r>
              <a:rPr lang="bg-BG" dirty="0"/>
              <a:t>той търси всички работещи </a:t>
            </a:r>
            <a:r>
              <a:rPr lang="en-US" dirty="0"/>
              <a:t>Pod-</a:t>
            </a:r>
            <a:r>
              <a:rPr lang="bg-BG" dirty="0"/>
              <a:t>ове, чиито етикети (</a:t>
            </a:r>
            <a:r>
              <a:rPr lang="en-US" dirty="0"/>
              <a:t>labels) </a:t>
            </a:r>
            <a:r>
              <a:rPr lang="bg-BG" dirty="0"/>
              <a:t>отговарят на този селектор.</a:t>
            </a:r>
          </a:p>
          <a:p>
            <a:endParaRPr lang="bg-BG" dirty="0"/>
          </a:p>
          <a:p>
            <a:r>
              <a:rPr lang="bg-BG" dirty="0"/>
              <a:t>Създаване на </a:t>
            </a:r>
            <a:r>
              <a:rPr lang="en-US" dirty="0"/>
              <a:t>Endpoints / </a:t>
            </a:r>
            <a:r>
              <a:rPr lang="en-US" dirty="0" err="1"/>
              <a:t>EndpointSlices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bg-BG" dirty="0"/>
              <a:t>Контролерът създава нов обект с същото име като </a:t>
            </a:r>
            <a:r>
              <a:rPr lang="en-US" dirty="0"/>
              <a:t>Service </a:t>
            </a:r>
            <a:r>
              <a:rPr lang="bg-BG" dirty="0"/>
              <a:t>в същия </a:t>
            </a:r>
            <a:r>
              <a:rPr lang="en-US" dirty="0"/>
              <a:t>namespace. </a:t>
            </a:r>
            <a:r>
              <a:rPr lang="bg-BG" dirty="0"/>
              <a:t>Този обект е от тип </a:t>
            </a:r>
            <a:r>
              <a:rPr lang="en-US" dirty="0"/>
              <a:t>Endpoints</a:t>
            </a:r>
          </a:p>
          <a:p>
            <a:r>
              <a:rPr lang="bg-BG" dirty="0"/>
              <a:t>В този обект се записват </a:t>
            </a:r>
            <a:r>
              <a:rPr lang="en-US" dirty="0"/>
              <a:t>IP </a:t>
            </a:r>
            <a:r>
              <a:rPr lang="bg-BG" dirty="0"/>
              <a:t>адресите и портовете на всички готови (</a:t>
            </a:r>
            <a:r>
              <a:rPr lang="en-US" dirty="0"/>
              <a:t>Ready) Pod-</a:t>
            </a:r>
            <a:r>
              <a:rPr lang="bg-BG" dirty="0"/>
              <a:t>ове, които отговарят на критериите.</a:t>
            </a:r>
          </a:p>
          <a:p>
            <a:endParaRPr lang="bg-BG" dirty="0"/>
          </a:p>
          <a:p>
            <a:r>
              <a:rPr lang="bg-BG" dirty="0"/>
              <a:t>Как </a:t>
            </a:r>
            <a:r>
              <a:rPr lang="en-US" dirty="0" err="1"/>
              <a:t>kube</a:t>
            </a:r>
            <a:r>
              <a:rPr lang="en-US" dirty="0"/>
              <a:t>-proxy </a:t>
            </a:r>
            <a:r>
              <a:rPr lang="bg-BG" dirty="0"/>
              <a:t>научава за промените</a:t>
            </a:r>
          </a:p>
          <a:p>
            <a:r>
              <a:rPr lang="bg-BG" dirty="0"/>
              <a:t>Всеки нод в клъстера има стартиран </a:t>
            </a:r>
            <a:r>
              <a:rPr lang="en-US" dirty="0" err="1"/>
              <a:t>kube</a:t>
            </a:r>
            <a:r>
              <a:rPr lang="en-US" dirty="0"/>
              <a:t>-proxy</a:t>
            </a:r>
          </a:p>
          <a:p>
            <a:r>
              <a:rPr lang="en-US" dirty="0" err="1"/>
              <a:t>kube</a:t>
            </a:r>
            <a:r>
              <a:rPr lang="en-US" dirty="0"/>
              <a:t>-proxy </a:t>
            </a:r>
            <a:r>
              <a:rPr lang="bg-BG" dirty="0"/>
              <a:t>поддържа постоянна връзка (</a:t>
            </a:r>
            <a:r>
              <a:rPr lang="en-US" dirty="0"/>
              <a:t>watch) </a:t>
            </a:r>
            <a:r>
              <a:rPr lang="bg-BG" dirty="0"/>
              <a:t>с </a:t>
            </a:r>
            <a:r>
              <a:rPr lang="en-US" dirty="0"/>
              <a:t>API </a:t>
            </a:r>
            <a:r>
              <a:rPr lang="bg-BG" dirty="0"/>
              <a:t>сървъра. Той не „пита“ периодично, а получава известия в реално време (</a:t>
            </a:r>
            <a:r>
              <a:rPr lang="en-US" dirty="0"/>
              <a:t>events), </a:t>
            </a:r>
            <a:r>
              <a:rPr lang="bg-BG" dirty="0"/>
              <a:t>когато настъпи промяна в обектите </a:t>
            </a:r>
            <a:r>
              <a:rPr lang="en-US" dirty="0"/>
              <a:t>Service, Endpoints</a:t>
            </a:r>
          </a:p>
          <a:p>
            <a:r>
              <a:rPr lang="bg-BG" dirty="0"/>
              <a:t>Веднага щом </a:t>
            </a:r>
            <a:r>
              <a:rPr lang="en-US" dirty="0" err="1"/>
              <a:t>kube</a:t>
            </a:r>
            <a:r>
              <a:rPr lang="en-US" dirty="0"/>
              <a:t>-proxy </a:t>
            </a:r>
            <a:r>
              <a:rPr lang="bg-BG" dirty="0"/>
              <a:t>получи новата информация за </a:t>
            </a:r>
            <a:r>
              <a:rPr lang="en-US" dirty="0"/>
              <a:t>IP </a:t>
            </a:r>
            <a:r>
              <a:rPr lang="bg-BG" dirty="0"/>
              <a:t>адресите на </a:t>
            </a:r>
            <a:r>
              <a:rPr lang="en-US" dirty="0"/>
              <a:t>Pod-</a:t>
            </a:r>
            <a:r>
              <a:rPr lang="bg-BG" dirty="0"/>
              <a:t>овете от </a:t>
            </a:r>
            <a:r>
              <a:rPr lang="en-US" dirty="0"/>
              <a:t>Endpoints/</a:t>
            </a:r>
            <a:r>
              <a:rPr lang="en-US" dirty="0" err="1"/>
              <a:t>EndpointSlices</a:t>
            </a:r>
            <a:r>
              <a:rPr lang="en-US" dirty="0"/>
              <a:t>, </a:t>
            </a:r>
            <a:r>
              <a:rPr lang="bg-BG" dirty="0"/>
              <a:t>той задейства вътрешна логика за преобразуването им в реални мрежови правила на нода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157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Ако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restartPolicy</a:t>
            </a:r>
            <a:r>
              <a:rPr lang="en-US" dirty="0"/>
              <a:t> е </a:t>
            </a:r>
            <a:r>
              <a:rPr lang="en-US" dirty="0" err="1"/>
              <a:t>настроена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en-US" dirty="0"/>
              <a:t>, </a:t>
            </a:r>
            <a:r>
              <a:rPr lang="en-US" dirty="0" err="1"/>
              <a:t>init</a:t>
            </a:r>
            <a:r>
              <a:rPr lang="en-US" dirty="0"/>
              <a:t> </a:t>
            </a:r>
            <a:r>
              <a:rPr lang="en-US" dirty="0" err="1"/>
              <a:t>контейнерът</a:t>
            </a:r>
            <a:r>
              <a:rPr lang="en-US" dirty="0"/>
              <a:t> </a:t>
            </a:r>
            <a:r>
              <a:rPr lang="en-US" b="1" dirty="0" err="1"/>
              <a:t>няма</a:t>
            </a:r>
            <a:r>
              <a:rPr lang="en-US" b="1" dirty="0"/>
              <a:t> </a:t>
            </a:r>
            <a:r>
              <a:rPr lang="en-US" b="1" dirty="0" err="1"/>
              <a:t>да</a:t>
            </a:r>
            <a:r>
              <a:rPr lang="en-US" b="1" dirty="0"/>
              <a:t> </a:t>
            </a:r>
            <a:r>
              <a:rPr lang="en-US" b="1" dirty="0" err="1"/>
              <a:t>се</a:t>
            </a:r>
            <a:r>
              <a:rPr lang="en-US" b="1" dirty="0"/>
              <a:t> </a:t>
            </a:r>
            <a:r>
              <a:rPr lang="en-US" b="1" dirty="0" err="1"/>
              <a:t>рестартира</a:t>
            </a:r>
            <a:r>
              <a:rPr lang="en-US" b="1" dirty="0"/>
              <a:t> </a:t>
            </a:r>
            <a:r>
              <a:rPr lang="en-US" b="1" dirty="0" err="1"/>
              <a:t>нито</a:t>
            </a:r>
            <a:r>
              <a:rPr lang="en-US" b="1" dirty="0"/>
              <a:t> </a:t>
            </a:r>
            <a:r>
              <a:rPr lang="en-US" b="1" dirty="0" err="1"/>
              <a:t>веднъж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грешка</a:t>
            </a:r>
            <a:r>
              <a:rPr lang="en-US" dirty="0"/>
              <a:t> –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изпълнява</a:t>
            </a:r>
            <a:r>
              <a:rPr lang="en-US" dirty="0"/>
              <a:t> </a:t>
            </a:r>
            <a:r>
              <a:rPr lang="en-US" dirty="0" err="1"/>
              <a:t>точно</a:t>
            </a:r>
            <a:r>
              <a:rPr lang="en-US" dirty="0"/>
              <a:t> </a:t>
            </a:r>
            <a:r>
              <a:rPr lang="en-US" dirty="0" err="1"/>
              <a:t>веднъж</a:t>
            </a:r>
            <a:r>
              <a:rPr lang="en-US" dirty="0"/>
              <a:t> и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провал</a:t>
            </a:r>
            <a:r>
              <a:rPr lang="en-US" dirty="0"/>
              <a:t> </a:t>
            </a:r>
            <a:r>
              <a:rPr lang="en-US" dirty="0" err="1"/>
              <a:t>целият</a:t>
            </a:r>
            <a:r>
              <a:rPr lang="en-US" dirty="0"/>
              <a:t> Pod </a:t>
            </a:r>
            <a:r>
              <a:rPr lang="en-US" dirty="0" err="1"/>
              <a:t>веднага</a:t>
            </a:r>
            <a:r>
              <a:rPr lang="en-US" dirty="0"/>
              <a:t> </a:t>
            </a:r>
            <a:r>
              <a:rPr lang="en-US" dirty="0" err="1"/>
              <a:t>преминава</a:t>
            </a:r>
            <a:r>
              <a:rPr lang="en-US" dirty="0"/>
              <a:t> в </a:t>
            </a:r>
            <a:r>
              <a:rPr lang="en-US" dirty="0" err="1"/>
              <a:t>състояние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Failed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1374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75B10-80A9-91C7-D199-A15BC15DA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503F9-0E84-062E-8D27-08B88B393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54A0A1-10EA-539E-CE7C-75C6AF667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Kubernetes </a:t>
            </a:r>
            <a:r>
              <a:rPr lang="en-US" dirty="0" err="1"/>
              <a:t>ReplicaSet</a:t>
            </a:r>
            <a:r>
              <a:rPr lang="en-US" dirty="0"/>
              <a:t> </a:t>
            </a:r>
            <a:r>
              <a:rPr lang="en-US" dirty="0" err="1"/>
              <a:t>гарантира</a:t>
            </a:r>
            <a:r>
              <a:rPr lang="en-US" dirty="0"/>
              <a:t>, </a:t>
            </a:r>
            <a:r>
              <a:rPr lang="en-US" dirty="0" err="1"/>
              <a:t>че</a:t>
            </a:r>
            <a:r>
              <a:rPr lang="en-US" dirty="0"/>
              <a:t> </a:t>
            </a:r>
            <a:r>
              <a:rPr lang="en-US" dirty="0" err="1"/>
              <a:t>стабилен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идентични</a:t>
            </a:r>
            <a:r>
              <a:rPr lang="en-US" dirty="0"/>
              <a:t> </a:t>
            </a:r>
            <a:r>
              <a:rPr lang="en-US" dirty="0" err="1"/>
              <a:t>реплики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Pod </a:t>
            </a:r>
            <a:r>
              <a:rPr lang="en-US" dirty="0" err="1"/>
              <a:t>работи</a:t>
            </a:r>
            <a:r>
              <a:rPr lang="en-US" dirty="0"/>
              <a:t> </a:t>
            </a:r>
            <a:r>
              <a:rPr lang="en-US" dirty="0" err="1"/>
              <a:t>във</a:t>
            </a:r>
            <a:r>
              <a:rPr lang="en-US" dirty="0"/>
              <a:t> </a:t>
            </a:r>
            <a:r>
              <a:rPr lang="en-US" dirty="0" err="1"/>
              <a:t>всеки</a:t>
            </a:r>
            <a:r>
              <a:rPr lang="en-US" dirty="0"/>
              <a:t> </a:t>
            </a:r>
            <a:r>
              <a:rPr lang="en-US" dirty="0" err="1"/>
              <a:t>един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, </a:t>
            </a:r>
            <a:r>
              <a:rPr lang="en-US" dirty="0" err="1"/>
              <a:t>като</a:t>
            </a:r>
            <a:r>
              <a:rPr lang="en-US" dirty="0"/>
              <a:t> </a:t>
            </a:r>
            <a:r>
              <a:rPr lang="en-US" dirty="0" err="1"/>
              <a:t>автоматично</a:t>
            </a:r>
            <a:r>
              <a:rPr lang="en-US" dirty="0"/>
              <a:t> </a:t>
            </a:r>
            <a:r>
              <a:rPr lang="en-US" dirty="0" err="1"/>
              <a:t>заменя</a:t>
            </a:r>
            <a:r>
              <a:rPr lang="en-US" dirty="0"/>
              <a:t> </a:t>
            </a:r>
            <a:r>
              <a:rPr lang="en-US" dirty="0" err="1"/>
              <a:t>всички</a:t>
            </a:r>
            <a:r>
              <a:rPr lang="en-US" dirty="0"/>
              <a:t> pod-</a:t>
            </a:r>
            <a:r>
              <a:rPr lang="en-US" dirty="0" err="1"/>
              <a:t>ове</a:t>
            </a:r>
            <a:r>
              <a:rPr lang="en-US" dirty="0"/>
              <a:t>, </a:t>
            </a:r>
            <a:r>
              <a:rPr lang="en-US" dirty="0" err="1"/>
              <a:t>които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сринат</a:t>
            </a:r>
            <a:r>
              <a:rPr lang="en-US" dirty="0"/>
              <a:t>, </a:t>
            </a:r>
            <a:r>
              <a:rPr lang="en-US" dirty="0" err="1"/>
              <a:t>отпаднат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бъдат</a:t>
            </a:r>
            <a:r>
              <a:rPr lang="en-US" dirty="0"/>
              <a:t> </a:t>
            </a:r>
            <a:r>
              <a:rPr lang="en-US" dirty="0" err="1"/>
              <a:t>изтрити</a:t>
            </a:r>
            <a:r>
              <a:rPr lang="en-US" dirty="0"/>
              <a:t>. </a:t>
            </a:r>
            <a:r>
              <a:rPr lang="en-US" dirty="0" err="1"/>
              <a:t>Най-важните</a:t>
            </a:r>
            <a:r>
              <a:rPr lang="en-US" dirty="0"/>
              <a:t> </a:t>
            </a:r>
            <a:r>
              <a:rPr lang="en-US" dirty="0" err="1"/>
              <a:t>настройки</a:t>
            </a:r>
            <a:r>
              <a:rPr lang="en-US" dirty="0"/>
              <a:t> </a:t>
            </a:r>
            <a:r>
              <a:rPr lang="en-US" dirty="0" err="1"/>
              <a:t>са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spec.replicas</a:t>
            </a:r>
            <a:r>
              <a:rPr lang="en-US" dirty="0"/>
              <a:t> (</a:t>
            </a:r>
            <a:r>
              <a:rPr lang="en-US" dirty="0" err="1"/>
              <a:t>която</a:t>
            </a:r>
            <a:r>
              <a:rPr lang="en-US" dirty="0"/>
              <a:t> </a:t>
            </a:r>
            <a:r>
              <a:rPr lang="en-US" dirty="0" err="1"/>
              <a:t>определя</a:t>
            </a:r>
            <a:r>
              <a:rPr lang="en-US" dirty="0"/>
              <a:t> </a:t>
            </a:r>
            <a:r>
              <a:rPr lang="en-US" dirty="0" err="1"/>
              <a:t>целевия</a:t>
            </a:r>
            <a:r>
              <a:rPr lang="en-US" dirty="0"/>
              <a:t> </a:t>
            </a:r>
            <a:r>
              <a:rPr lang="en-US" dirty="0" err="1"/>
              <a:t>брой</a:t>
            </a:r>
            <a:r>
              <a:rPr lang="en-US" dirty="0"/>
              <a:t>)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spec.selector</a:t>
            </a:r>
            <a:r>
              <a:rPr lang="en-US" dirty="0"/>
              <a:t> (</a:t>
            </a:r>
            <a:r>
              <a:rPr lang="en-US" dirty="0" err="1"/>
              <a:t>който</a:t>
            </a:r>
            <a:r>
              <a:rPr lang="en-US" dirty="0"/>
              <a:t> </a:t>
            </a:r>
            <a:r>
              <a:rPr lang="en-US" dirty="0" err="1"/>
              <a:t>определя</a:t>
            </a:r>
            <a:r>
              <a:rPr lang="en-US" dirty="0"/>
              <a:t> </a:t>
            </a:r>
            <a:r>
              <a:rPr lang="en-US" dirty="0" err="1"/>
              <a:t>кои</a:t>
            </a:r>
            <a:r>
              <a:rPr lang="en-US" dirty="0"/>
              <a:t> pod-</a:t>
            </a:r>
            <a:r>
              <a:rPr lang="en-US" dirty="0" err="1"/>
              <a:t>ове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управлява</a:t>
            </a:r>
            <a:r>
              <a:rPr lang="en-US" dirty="0"/>
              <a:t> </a:t>
            </a:r>
            <a:r>
              <a:rPr lang="en-US" dirty="0" err="1"/>
              <a:t>ReplicaSet</a:t>
            </a:r>
            <a:r>
              <a:rPr lang="en-US" dirty="0"/>
              <a:t> 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FF4B3-6411-A11C-42DB-5BD926C5D5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131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62D7E-93D3-B89A-A7F5-A2BE29653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D7C00-0DD4-29D7-4142-A97124AFC9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D0732-F2B2-86D9-3236-64881F49D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Kubernetes Deployment </a:t>
            </a:r>
            <a:r>
              <a:rPr lang="en-US" dirty="0" err="1"/>
              <a:t>управлява</a:t>
            </a:r>
            <a:r>
              <a:rPr lang="en-US" dirty="0"/>
              <a:t> stateless </a:t>
            </a:r>
            <a:r>
              <a:rPr lang="en-US" dirty="0" err="1"/>
              <a:t>приложения</a:t>
            </a:r>
            <a:r>
              <a:rPr lang="en-US" dirty="0"/>
              <a:t>, </a:t>
            </a:r>
            <a:r>
              <a:rPr lang="en-US" dirty="0" err="1"/>
              <a:t>като</a:t>
            </a:r>
            <a:r>
              <a:rPr lang="en-US" dirty="0"/>
              <a:t> </a:t>
            </a:r>
            <a:r>
              <a:rPr lang="en-US" dirty="0" err="1"/>
              <a:t>гарантира</a:t>
            </a:r>
            <a:r>
              <a:rPr lang="en-US" dirty="0"/>
              <a:t>, </a:t>
            </a:r>
            <a:r>
              <a:rPr lang="en-US" dirty="0" err="1"/>
              <a:t>че</a:t>
            </a:r>
            <a:r>
              <a:rPr lang="en-US" dirty="0"/>
              <a:t> </a:t>
            </a:r>
            <a:r>
              <a:rPr lang="en-US" dirty="0" err="1"/>
              <a:t>определен</a:t>
            </a:r>
            <a:r>
              <a:rPr lang="en-US" dirty="0"/>
              <a:t> </a:t>
            </a:r>
            <a:r>
              <a:rPr lang="en-US" dirty="0" err="1"/>
              <a:t>брой</a:t>
            </a:r>
            <a:r>
              <a:rPr lang="en-US" dirty="0"/>
              <a:t> </a:t>
            </a:r>
            <a:r>
              <a:rPr lang="en-US" dirty="0" err="1"/>
              <a:t>идентични</a:t>
            </a:r>
            <a:r>
              <a:rPr lang="en-US" dirty="0"/>
              <a:t> </a:t>
            </a:r>
            <a:r>
              <a:rPr lang="en-US" dirty="0" err="1"/>
              <a:t>реплики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Pod </a:t>
            </a:r>
            <a:r>
              <a:rPr lang="en-US" dirty="0" err="1"/>
              <a:t>работят</a:t>
            </a:r>
            <a:r>
              <a:rPr lang="en-US" dirty="0"/>
              <a:t> и </a:t>
            </a:r>
            <a:r>
              <a:rPr lang="en-US" dirty="0" err="1"/>
              <a:t>са</a:t>
            </a:r>
            <a:r>
              <a:rPr lang="en-US" dirty="0"/>
              <a:t> в </a:t>
            </a:r>
            <a:r>
              <a:rPr lang="en-US" dirty="0" err="1"/>
              <a:t>добро</a:t>
            </a:r>
            <a:r>
              <a:rPr lang="en-US" dirty="0"/>
              <a:t> </a:t>
            </a:r>
            <a:r>
              <a:rPr lang="en-US" dirty="0" err="1"/>
              <a:t>състояние</a:t>
            </a:r>
            <a:r>
              <a:rPr lang="en-US" dirty="0"/>
              <a:t> (healthy) в </a:t>
            </a:r>
            <a:r>
              <a:rPr lang="en-US" dirty="0" err="1"/>
              <a:t>клъстера</a:t>
            </a:r>
            <a:r>
              <a:rPr lang="en-US" dirty="0"/>
              <a:t> </a:t>
            </a:r>
            <a:r>
              <a:rPr lang="en-US" dirty="0" err="1"/>
              <a:t>във</a:t>
            </a:r>
            <a:r>
              <a:rPr lang="en-US" dirty="0"/>
              <a:t> </a:t>
            </a:r>
            <a:r>
              <a:rPr lang="en-US" dirty="0" err="1"/>
              <a:t>всеки</a:t>
            </a:r>
            <a:r>
              <a:rPr lang="en-US" dirty="0"/>
              <a:t> </a:t>
            </a:r>
            <a:r>
              <a:rPr lang="en-US" dirty="0" err="1"/>
              <a:t>един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.</a:t>
            </a:r>
          </a:p>
          <a:p>
            <a:r>
              <a:rPr lang="en-US" dirty="0" err="1"/>
              <a:t>Ето</a:t>
            </a:r>
            <a:r>
              <a:rPr lang="en-US" dirty="0"/>
              <a:t> </a:t>
            </a:r>
            <a:r>
              <a:rPr lang="en-US" dirty="0" err="1"/>
              <a:t>основните</a:t>
            </a:r>
            <a:r>
              <a:rPr lang="en-US" dirty="0"/>
              <a:t> </a:t>
            </a:r>
            <a:r>
              <a:rPr lang="en-US" dirty="0" err="1"/>
              <a:t>предимства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Kubernetes Deployments</a:t>
            </a:r>
            <a:endParaRPr lang="bg-BG" dirty="0"/>
          </a:p>
          <a:p>
            <a:pPr lvl="1"/>
            <a:r>
              <a:rPr lang="en-US" b="1" dirty="0" err="1"/>
              <a:t>Постепенни</a:t>
            </a:r>
            <a:r>
              <a:rPr lang="en-US" b="1" dirty="0"/>
              <a:t> </a:t>
            </a:r>
            <a:r>
              <a:rPr lang="en-US" b="1" dirty="0" err="1"/>
              <a:t>актуализации</a:t>
            </a:r>
            <a:r>
              <a:rPr lang="en-US" b="1" dirty="0"/>
              <a:t> (Rolling Updates):</a:t>
            </a:r>
            <a:r>
              <a:rPr lang="en-US" dirty="0"/>
              <a:t>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dirty="0" err="1"/>
              <a:t>заменя</a:t>
            </a:r>
            <a:r>
              <a:rPr lang="en-US" dirty="0"/>
              <a:t> </a:t>
            </a:r>
            <a:r>
              <a:rPr lang="en-US" dirty="0" err="1"/>
              <a:t>старите</a:t>
            </a:r>
            <a:r>
              <a:rPr lang="en-US" dirty="0"/>
              <a:t> Pod-</a:t>
            </a:r>
            <a:r>
              <a:rPr lang="en-US" dirty="0" err="1"/>
              <a:t>ове</a:t>
            </a:r>
            <a:r>
              <a:rPr lang="en-US" dirty="0"/>
              <a:t> с </a:t>
            </a:r>
            <a:r>
              <a:rPr lang="en-US" dirty="0" err="1"/>
              <a:t>нови</a:t>
            </a:r>
            <a:r>
              <a:rPr lang="en-US" dirty="0"/>
              <a:t>,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гарантира</a:t>
            </a:r>
            <a:r>
              <a:rPr lang="en-US" dirty="0"/>
              <a:t> </a:t>
            </a:r>
            <a:r>
              <a:rPr lang="en-US" dirty="0" err="1"/>
              <a:t>непрекъсната</a:t>
            </a:r>
            <a:r>
              <a:rPr lang="en-US" dirty="0"/>
              <a:t> </a:t>
            </a:r>
            <a:r>
              <a:rPr lang="en-US" dirty="0" err="1"/>
              <a:t>достъпност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услугата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време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внедряване</a:t>
            </a:r>
            <a:r>
              <a:rPr lang="en-US" dirty="0"/>
              <a:t>.</a:t>
            </a:r>
          </a:p>
          <a:p>
            <a:pPr lvl="1"/>
            <a:r>
              <a:rPr lang="en-US" b="1" dirty="0" err="1"/>
              <a:t>Незабавно</a:t>
            </a:r>
            <a:r>
              <a:rPr lang="en-US" b="1" dirty="0"/>
              <a:t> </a:t>
            </a:r>
            <a:r>
              <a:rPr lang="en-US" b="1" dirty="0" err="1"/>
              <a:t>връщане</a:t>
            </a:r>
            <a:r>
              <a:rPr lang="en-US" b="1" dirty="0"/>
              <a:t> </a:t>
            </a:r>
            <a:r>
              <a:rPr lang="en-US" b="1" dirty="0" err="1"/>
              <a:t>назад</a:t>
            </a:r>
            <a:r>
              <a:rPr lang="en-US" b="1" dirty="0"/>
              <a:t> (Rollbacks):</a:t>
            </a:r>
            <a:r>
              <a:rPr lang="en-US" dirty="0"/>
              <a:t> </a:t>
            </a:r>
            <a:r>
              <a:rPr lang="en-US" dirty="0" err="1"/>
              <a:t>Лесно</a:t>
            </a:r>
            <a:r>
              <a:rPr lang="en-US" dirty="0"/>
              <a:t> </a:t>
            </a:r>
            <a:r>
              <a:rPr lang="en-US" dirty="0" err="1"/>
              <a:t>връща</a:t>
            </a:r>
            <a:r>
              <a:rPr lang="en-US" dirty="0"/>
              <a:t> </a:t>
            </a:r>
            <a:r>
              <a:rPr lang="en-US" dirty="0" err="1"/>
              <a:t>приложението</a:t>
            </a:r>
            <a:r>
              <a:rPr lang="en-US" dirty="0"/>
              <a:t> </a:t>
            </a:r>
            <a:r>
              <a:rPr lang="en-US" dirty="0" err="1"/>
              <a:t>към</a:t>
            </a:r>
            <a:r>
              <a:rPr lang="en-US" dirty="0"/>
              <a:t> </a:t>
            </a:r>
            <a:r>
              <a:rPr lang="en-US" dirty="0" err="1"/>
              <a:t>стабилна</a:t>
            </a:r>
            <a:r>
              <a:rPr lang="en-US" dirty="0"/>
              <a:t> </a:t>
            </a:r>
            <a:r>
              <a:rPr lang="en-US" dirty="0" err="1"/>
              <a:t>предишна</a:t>
            </a:r>
            <a:r>
              <a:rPr lang="en-US" dirty="0"/>
              <a:t> </a:t>
            </a:r>
            <a:r>
              <a:rPr lang="en-US" dirty="0" err="1"/>
              <a:t>версия</a:t>
            </a:r>
            <a:r>
              <a:rPr lang="en-US" dirty="0"/>
              <a:t> с </a:t>
            </a:r>
            <a:r>
              <a:rPr lang="en-US" dirty="0" err="1"/>
              <a:t>една</a:t>
            </a:r>
            <a:r>
              <a:rPr lang="en-US" dirty="0"/>
              <a:t> </a:t>
            </a:r>
            <a:r>
              <a:rPr lang="en-US" dirty="0" err="1"/>
              <a:t>единствена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, </a:t>
            </a:r>
            <a:r>
              <a:rPr lang="en-US" dirty="0" err="1"/>
              <a:t>ако</a:t>
            </a:r>
            <a:r>
              <a:rPr lang="en-US" dirty="0"/>
              <a:t> </a:t>
            </a:r>
            <a:r>
              <a:rPr lang="en-US" dirty="0" err="1"/>
              <a:t>възникнат</a:t>
            </a:r>
            <a:r>
              <a:rPr lang="en-US" dirty="0"/>
              <a:t> </a:t>
            </a:r>
            <a:r>
              <a:rPr lang="en-US" dirty="0" err="1"/>
              <a:t>проблеми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(Self-Healing) и High Availability</a:t>
            </a:r>
            <a:endParaRPr lang="en-US" dirty="0"/>
          </a:p>
          <a:p>
            <a:pPr lvl="1"/>
            <a:r>
              <a:rPr lang="en-US" dirty="0" err="1"/>
              <a:t>Автоматично</a:t>
            </a:r>
            <a:r>
              <a:rPr lang="en-US" dirty="0"/>
              <a:t> </a:t>
            </a:r>
            <a:r>
              <a:rPr lang="en-US" dirty="0" err="1"/>
              <a:t>поддържа</a:t>
            </a:r>
            <a:r>
              <a:rPr lang="en-US" dirty="0"/>
              <a:t> </a:t>
            </a:r>
            <a:r>
              <a:rPr lang="en-US" dirty="0" err="1"/>
              <a:t>зададения</a:t>
            </a:r>
            <a:r>
              <a:rPr lang="en-US" dirty="0"/>
              <a:t> </a:t>
            </a:r>
            <a:r>
              <a:rPr lang="en-US" dirty="0" err="1"/>
              <a:t>брой</a:t>
            </a:r>
            <a:r>
              <a:rPr lang="en-US" dirty="0"/>
              <a:t> </a:t>
            </a:r>
            <a:r>
              <a:rPr lang="en-US" dirty="0" err="1"/>
              <a:t>работещи</a:t>
            </a:r>
            <a:r>
              <a:rPr lang="en-US" dirty="0"/>
              <a:t> </a:t>
            </a:r>
            <a:r>
              <a:rPr lang="en-US" dirty="0" err="1"/>
              <a:t>реплики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Pod-</a:t>
            </a:r>
            <a:r>
              <a:rPr lang="en-US" dirty="0" err="1"/>
              <a:t>овете</a:t>
            </a:r>
            <a:r>
              <a:rPr lang="en-US" dirty="0"/>
              <a:t>.</a:t>
            </a:r>
          </a:p>
          <a:p>
            <a:pPr lvl="1"/>
            <a:r>
              <a:rPr lang="en-US" b="1" dirty="0" err="1"/>
              <a:t>Автоматично</a:t>
            </a:r>
            <a:r>
              <a:rPr lang="en-US" b="1" dirty="0"/>
              <a:t> </a:t>
            </a:r>
            <a:r>
              <a:rPr lang="en-US" b="1" dirty="0" err="1"/>
              <a:t>възстановяване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Незабавно</a:t>
            </a:r>
            <a:r>
              <a:rPr lang="en-US" dirty="0"/>
              <a:t> </a:t>
            </a:r>
            <a:r>
              <a:rPr lang="en-US" dirty="0" err="1"/>
              <a:t>заменя</a:t>
            </a:r>
            <a:r>
              <a:rPr lang="en-US" dirty="0"/>
              <a:t> </a:t>
            </a:r>
            <a:r>
              <a:rPr lang="en-US" dirty="0" err="1"/>
              <a:t>дефектирали</a:t>
            </a:r>
            <a:r>
              <a:rPr lang="en-US" dirty="0"/>
              <a:t> Pod-</a:t>
            </a:r>
            <a:r>
              <a:rPr lang="en-US" dirty="0" err="1"/>
              <a:t>ове</a:t>
            </a:r>
            <a:r>
              <a:rPr lang="en-US" dirty="0"/>
              <a:t>,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поддържа</a:t>
            </a:r>
            <a:r>
              <a:rPr lang="en-US" dirty="0"/>
              <a:t> </a:t>
            </a:r>
            <a:r>
              <a:rPr lang="en-US" dirty="0" err="1"/>
              <a:t>приложението</a:t>
            </a:r>
            <a:r>
              <a:rPr lang="en-US" dirty="0"/>
              <a:t> </a:t>
            </a:r>
            <a:r>
              <a:rPr lang="en-US" dirty="0" err="1"/>
              <a:t>работещо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EA123-F26A-8122-6AF3-25242050C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001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FDD83-4EB9-0E8D-37D0-2554B23B4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D6E67-9E5D-A65A-5618-D11B04E18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DD70C-EBEE-2E0F-4C7D-FEAFBFB22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Kubernetes</a:t>
            </a:r>
            <a:r>
              <a:rPr lang="ru-RU" dirty="0"/>
              <a:t> </a:t>
            </a:r>
            <a:r>
              <a:rPr lang="ru-RU" dirty="0" err="1"/>
              <a:t>DaemonSet</a:t>
            </a:r>
            <a:r>
              <a:rPr lang="ru-RU" dirty="0"/>
              <a:t> </a:t>
            </a:r>
            <a:r>
              <a:rPr lang="ru-RU" dirty="0" err="1"/>
              <a:t>гарантира</a:t>
            </a:r>
            <a:r>
              <a:rPr lang="ru-RU" dirty="0"/>
              <a:t>, че </a:t>
            </a:r>
            <a:r>
              <a:rPr lang="ru-RU" dirty="0" err="1"/>
              <a:t>всички</a:t>
            </a:r>
            <a:r>
              <a:rPr lang="ru-RU" dirty="0"/>
              <a:t> (или </a:t>
            </a:r>
            <a:r>
              <a:rPr lang="ru-RU" dirty="0" err="1"/>
              <a:t>специфични</a:t>
            </a:r>
            <a:r>
              <a:rPr lang="ru-RU" dirty="0"/>
              <a:t>) </a:t>
            </a:r>
            <a:r>
              <a:rPr lang="ru-RU" dirty="0" err="1"/>
              <a:t>node</a:t>
            </a:r>
            <a:r>
              <a:rPr lang="ru-RU" dirty="0"/>
              <a:t> </a:t>
            </a:r>
            <a:r>
              <a:rPr lang="ru-RU" dirty="0" err="1"/>
              <a:t>ще</a:t>
            </a:r>
            <a:r>
              <a:rPr lang="ru-RU" dirty="0"/>
              <a:t> </a:t>
            </a:r>
            <a:r>
              <a:rPr lang="ru-RU" dirty="0" err="1"/>
              <a:t>имат</a:t>
            </a:r>
            <a:r>
              <a:rPr lang="ru-RU" dirty="0"/>
              <a:t> </a:t>
            </a:r>
            <a:r>
              <a:rPr lang="ru-RU" dirty="0" err="1"/>
              <a:t>едно</a:t>
            </a:r>
            <a:r>
              <a:rPr lang="ru-RU" dirty="0"/>
              <a:t> копие на определен </a:t>
            </a:r>
            <a:r>
              <a:rPr lang="ru-RU" dirty="0" err="1"/>
              <a:t>Pod</a:t>
            </a:r>
            <a:r>
              <a:rPr lang="ru-RU" dirty="0"/>
              <a:t>, автоматично </a:t>
            </a:r>
            <a:r>
              <a:rPr lang="ru-RU" dirty="0" err="1"/>
              <a:t>разполагайки</a:t>
            </a:r>
            <a:r>
              <a:rPr lang="ru-RU" dirty="0"/>
              <a:t> нови </a:t>
            </a:r>
            <a:r>
              <a:rPr lang="ru-RU" dirty="0" err="1"/>
              <a:t>pod-ове</a:t>
            </a:r>
            <a:r>
              <a:rPr lang="ru-RU" dirty="0"/>
              <a:t>, </a:t>
            </a:r>
            <a:r>
              <a:rPr lang="ru-RU" dirty="0" err="1"/>
              <a:t>когато</a:t>
            </a:r>
            <a:r>
              <a:rPr lang="ru-RU" dirty="0"/>
              <a:t> </a:t>
            </a:r>
            <a:r>
              <a:rPr lang="ru-RU" dirty="0" err="1"/>
              <a:t>nodes</a:t>
            </a:r>
            <a:r>
              <a:rPr lang="ru-RU" dirty="0"/>
              <a:t> се </a:t>
            </a:r>
            <a:r>
              <a:rPr lang="ru-RU" dirty="0" err="1"/>
              <a:t>присъединят</a:t>
            </a:r>
            <a:r>
              <a:rPr lang="ru-RU" dirty="0"/>
              <a:t> </a:t>
            </a:r>
            <a:r>
              <a:rPr lang="ru-RU" dirty="0" err="1"/>
              <a:t>към</a:t>
            </a:r>
            <a:r>
              <a:rPr lang="ru-RU" dirty="0"/>
              <a:t> </a:t>
            </a:r>
            <a:r>
              <a:rPr lang="ru-RU" dirty="0" err="1"/>
              <a:t>клъстера</a:t>
            </a:r>
            <a:r>
              <a:rPr lang="ru-RU" dirty="0"/>
              <a:t>, и </a:t>
            </a:r>
            <a:r>
              <a:rPr lang="ru-RU" dirty="0" err="1"/>
              <a:t>ги</a:t>
            </a:r>
            <a:r>
              <a:rPr lang="ru-RU" dirty="0"/>
              <a:t> </a:t>
            </a:r>
            <a:r>
              <a:rPr lang="ru-RU" dirty="0" err="1"/>
              <a:t>изтриват</a:t>
            </a:r>
            <a:r>
              <a:rPr lang="ru-RU" dirty="0"/>
              <a:t>, </a:t>
            </a:r>
            <a:r>
              <a:rPr lang="ru-RU" dirty="0" err="1"/>
              <a:t>когато</a:t>
            </a:r>
            <a:r>
              <a:rPr lang="ru-RU" dirty="0"/>
              <a:t> </a:t>
            </a:r>
            <a:r>
              <a:rPr lang="ru-RU" dirty="0" err="1"/>
              <a:t>nodes</a:t>
            </a:r>
            <a:r>
              <a:rPr lang="ru-RU" dirty="0"/>
              <a:t> </a:t>
            </a:r>
            <a:r>
              <a:rPr lang="ru-RU" dirty="0" err="1"/>
              <a:t>бъдат</a:t>
            </a:r>
            <a:r>
              <a:rPr lang="ru-RU" dirty="0"/>
              <a:t> </a:t>
            </a:r>
            <a:r>
              <a:rPr lang="ru-RU" dirty="0" err="1"/>
              <a:t>премахнати</a:t>
            </a:r>
            <a:r>
              <a:rPr lang="ru-RU" dirty="0"/>
              <a:t>. </a:t>
            </a:r>
            <a:r>
              <a:rPr lang="ru-RU" dirty="0" err="1"/>
              <a:t>Използва</a:t>
            </a:r>
            <a:r>
              <a:rPr lang="ru-RU" dirty="0"/>
              <a:t> се </a:t>
            </a:r>
            <a:r>
              <a:rPr lang="ru-RU" dirty="0" err="1"/>
              <a:t>предимно</a:t>
            </a:r>
            <a:r>
              <a:rPr lang="ru-RU" dirty="0"/>
              <a:t> за </a:t>
            </a:r>
            <a:r>
              <a:rPr lang="ru-RU" dirty="0" err="1"/>
              <a:t>събиране</a:t>
            </a:r>
            <a:r>
              <a:rPr lang="ru-RU" dirty="0"/>
              <a:t> на лог </a:t>
            </a:r>
            <a:r>
              <a:rPr lang="ru-RU" dirty="0" err="1"/>
              <a:t>файлове</a:t>
            </a:r>
            <a:r>
              <a:rPr lang="ru-RU" dirty="0"/>
              <a:t> и </a:t>
            </a:r>
            <a:r>
              <a:rPr lang="ru-RU" dirty="0" err="1"/>
              <a:t>агенти</a:t>
            </a:r>
            <a:r>
              <a:rPr lang="ru-RU" dirty="0"/>
              <a:t> за наблюдение на </a:t>
            </a:r>
            <a:r>
              <a:rPr lang="ru-RU" dirty="0" err="1"/>
              <a:t>node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E4995-10A1-F5DC-AEC7-C47EA7C0A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095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0F48-B376-0CAA-C1B4-7E4570EA9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315EC9-248A-9973-1C7E-6CACA4C66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52C58-86D4-8400-7AC9-CA6B3EEBB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Kubernetes</a:t>
            </a:r>
            <a:r>
              <a:rPr lang="ru-RU" dirty="0"/>
              <a:t> </a:t>
            </a:r>
            <a:r>
              <a:rPr lang="ru-RU" dirty="0" err="1"/>
              <a:t>Job</a:t>
            </a:r>
            <a:r>
              <a:rPr lang="ru-RU" dirty="0"/>
              <a:t> </a:t>
            </a:r>
            <a:r>
              <a:rPr lang="ru-RU" dirty="0" err="1"/>
              <a:t>създава</a:t>
            </a:r>
            <a:r>
              <a:rPr lang="ru-RU" dirty="0"/>
              <a:t> един или </a:t>
            </a:r>
            <a:r>
              <a:rPr lang="ru-RU" dirty="0" err="1"/>
              <a:t>повече</a:t>
            </a:r>
            <a:r>
              <a:rPr lang="ru-RU" dirty="0"/>
              <a:t> </a:t>
            </a:r>
            <a:r>
              <a:rPr lang="ru-RU" dirty="0" err="1"/>
              <a:t>pod</a:t>
            </a:r>
            <a:r>
              <a:rPr lang="ru-RU" dirty="0"/>
              <a:t>-а, за да </a:t>
            </a:r>
            <a:r>
              <a:rPr lang="ru-RU" dirty="0" err="1"/>
              <a:t>изпълни</a:t>
            </a:r>
            <a:r>
              <a:rPr lang="ru-RU" dirty="0"/>
              <a:t> ограничена задача до </a:t>
            </a:r>
            <a:r>
              <a:rPr lang="ru-RU" dirty="0" err="1"/>
              <a:t>завършване</a:t>
            </a:r>
            <a:r>
              <a:rPr lang="ru-RU" dirty="0"/>
              <a:t>, </a:t>
            </a:r>
            <a:r>
              <a:rPr lang="ru-RU" dirty="0" err="1"/>
              <a:t>като</a:t>
            </a:r>
            <a:r>
              <a:rPr lang="ru-RU" dirty="0"/>
              <a:t> автоматично </a:t>
            </a:r>
            <a:r>
              <a:rPr lang="bg-BG" dirty="0"/>
              <a:t>рестартират</a:t>
            </a:r>
            <a:r>
              <a:rPr lang="ru-RU" dirty="0"/>
              <a:t> </a:t>
            </a:r>
            <a:r>
              <a:rPr lang="ru-RU" dirty="0" err="1"/>
              <a:t>неуспешните</a:t>
            </a:r>
            <a:r>
              <a:rPr lang="ru-RU" dirty="0"/>
              <a:t> </a:t>
            </a:r>
            <a:r>
              <a:rPr lang="ru-RU" dirty="0" err="1"/>
              <a:t>pod-ове</a:t>
            </a:r>
            <a:r>
              <a:rPr lang="ru-RU" dirty="0"/>
              <a:t>, </a:t>
            </a:r>
            <a:r>
              <a:rPr lang="ru-RU" dirty="0" err="1"/>
              <a:t>докато</a:t>
            </a:r>
            <a:r>
              <a:rPr lang="ru-RU" dirty="0"/>
              <a:t> не се </a:t>
            </a:r>
            <a:r>
              <a:rPr lang="ru-RU" dirty="0" err="1"/>
              <a:t>достигне</a:t>
            </a:r>
            <a:r>
              <a:rPr lang="ru-RU" dirty="0"/>
              <a:t> </a:t>
            </a:r>
            <a:r>
              <a:rPr lang="ru-RU" dirty="0" err="1"/>
              <a:t>целевият</a:t>
            </a:r>
            <a:r>
              <a:rPr lang="ru-RU" dirty="0"/>
              <a:t> </a:t>
            </a:r>
            <a:r>
              <a:rPr lang="ru-RU" dirty="0" err="1"/>
              <a:t>брой</a:t>
            </a:r>
            <a:r>
              <a:rPr lang="ru-RU" dirty="0"/>
              <a:t> </a:t>
            </a:r>
            <a:r>
              <a:rPr lang="ru-RU" dirty="0" err="1"/>
              <a:t>успешни</a:t>
            </a:r>
            <a:r>
              <a:rPr lang="ru-RU" dirty="0"/>
              <a:t> </a:t>
            </a:r>
            <a:r>
              <a:rPr lang="ru-RU" dirty="0" err="1"/>
              <a:t>изпълнения</a:t>
            </a:r>
            <a:r>
              <a:rPr lang="ru-RU" dirty="0"/>
              <a:t>. Най-</a:t>
            </a:r>
            <a:r>
              <a:rPr lang="ru-RU" dirty="0" err="1"/>
              <a:t>важната</a:t>
            </a:r>
            <a:r>
              <a:rPr lang="ru-RU" dirty="0"/>
              <a:t> настройка е .</a:t>
            </a:r>
            <a:r>
              <a:rPr lang="ru-RU" dirty="0" err="1"/>
              <a:t>spec.completions</a:t>
            </a:r>
            <a:r>
              <a:rPr lang="ru-RU" dirty="0"/>
              <a:t> (</a:t>
            </a:r>
            <a:r>
              <a:rPr lang="ru-RU" dirty="0" err="1"/>
              <a:t>която</a:t>
            </a:r>
            <a:r>
              <a:rPr lang="ru-RU" dirty="0"/>
              <a:t> определя колко общо </a:t>
            </a:r>
            <a:r>
              <a:rPr lang="ru-RU" dirty="0" err="1"/>
              <a:t>успешни</a:t>
            </a:r>
            <a:r>
              <a:rPr lang="ru-RU" dirty="0"/>
              <a:t> </a:t>
            </a:r>
            <a:r>
              <a:rPr lang="ru-RU" dirty="0" err="1"/>
              <a:t>pod</a:t>
            </a:r>
            <a:r>
              <a:rPr lang="ru-RU" dirty="0"/>
              <a:t>-а </a:t>
            </a:r>
            <a:r>
              <a:rPr lang="ru-RU" dirty="0" err="1"/>
              <a:t>са</a:t>
            </a:r>
            <a:r>
              <a:rPr lang="ru-RU" dirty="0"/>
              <a:t> </a:t>
            </a:r>
            <a:r>
              <a:rPr lang="ru-RU" dirty="0" err="1"/>
              <a:t>необходими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8CB91-EBAA-7717-65DC-6D31698609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751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подразбиране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backoffLimit</a:t>
            </a:r>
            <a:r>
              <a:rPr lang="en-US" dirty="0"/>
              <a:t> е </a:t>
            </a:r>
            <a:r>
              <a:rPr lang="en-US" b="1" dirty="0"/>
              <a:t>6</a:t>
            </a:r>
            <a:r>
              <a:rPr lang="en-US" dirty="0"/>
              <a:t>.</a:t>
            </a:r>
          </a:p>
          <a:p>
            <a:r>
              <a:rPr lang="en-US" b="1" dirty="0"/>
              <a:t>С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restartPolicy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Never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грешка</a:t>
            </a:r>
            <a:r>
              <a:rPr lang="en-US" dirty="0"/>
              <a:t> </a:t>
            </a:r>
            <a:r>
              <a:rPr lang="en-US" dirty="0" err="1"/>
              <a:t>контейнерът</a:t>
            </a:r>
            <a:r>
              <a:rPr lang="en-US" dirty="0"/>
              <a:t> </a:t>
            </a:r>
            <a:r>
              <a:rPr lang="en-US" b="1" dirty="0" err="1"/>
              <a:t>не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рестартира</a:t>
            </a:r>
            <a:r>
              <a:rPr lang="en-US" dirty="0"/>
              <a:t> в </a:t>
            </a:r>
            <a:r>
              <a:rPr lang="en-US" dirty="0" err="1"/>
              <a:t>същия</a:t>
            </a:r>
            <a:r>
              <a:rPr lang="en-US" dirty="0"/>
              <a:t> Pod. Pod-</a:t>
            </a:r>
            <a:r>
              <a:rPr lang="en-US" dirty="0" err="1"/>
              <a:t>ът</a:t>
            </a:r>
            <a:r>
              <a:rPr lang="en-US" dirty="0"/>
              <a:t> </a:t>
            </a:r>
            <a:r>
              <a:rPr lang="en-US" dirty="0" err="1"/>
              <a:t>приключва</a:t>
            </a:r>
            <a:r>
              <a:rPr lang="en-US" dirty="0"/>
              <a:t> </a:t>
            </a:r>
            <a:r>
              <a:rPr lang="en-US" dirty="0" err="1"/>
              <a:t>като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Failed</a:t>
            </a:r>
            <a:r>
              <a:rPr lang="en-US" dirty="0"/>
              <a:t>, а Job </a:t>
            </a:r>
            <a:r>
              <a:rPr lang="en-US" dirty="0" err="1"/>
              <a:t>контролерът</a:t>
            </a:r>
            <a:r>
              <a:rPr lang="en-US" dirty="0"/>
              <a:t> </a:t>
            </a:r>
            <a:r>
              <a:rPr lang="en-US" dirty="0" err="1"/>
              <a:t>създава</a:t>
            </a:r>
            <a:r>
              <a:rPr lang="en-US" dirty="0"/>
              <a:t> </a:t>
            </a:r>
            <a:r>
              <a:rPr lang="en-US" b="1" dirty="0" err="1"/>
              <a:t>нов</a:t>
            </a:r>
            <a:r>
              <a:rPr lang="en-US" b="1" dirty="0"/>
              <a:t> Pod</a:t>
            </a:r>
            <a:r>
              <a:rPr lang="en-US" dirty="0"/>
              <a:t> (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общо</a:t>
            </a:r>
            <a:r>
              <a:rPr lang="en-US" dirty="0"/>
              <a:t> 6 </a:t>
            </a:r>
            <a:r>
              <a:rPr lang="en-US" dirty="0" err="1"/>
              <a:t>опита</a:t>
            </a:r>
            <a:r>
              <a:rPr lang="en-US" dirty="0"/>
              <a:t>), </a:t>
            </a:r>
            <a:r>
              <a:rPr lang="en-US" dirty="0" err="1"/>
              <a:t>преди</a:t>
            </a:r>
            <a:r>
              <a:rPr lang="en-US" dirty="0"/>
              <a:t> </a:t>
            </a:r>
            <a:r>
              <a:rPr lang="en-US" dirty="0" err="1"/>
              <a:t>целият</a:t>
            </a:r>
            <a:r>
              <a:rPr lang="en-US" dirty="0"/>
              <a:t> Job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маркира</a:t>
            </a:r>
            <a:r>
              <a:rPr lang="en-US" dirty="0"/>
              <a:t> </a:t>
            </a:r>
            <a:r>
              <a:rPr lang="en-US" dirty="0" err="1"/>
              <a:t>като</a:t>
            </a:r>
            <a:r>
              <a:rPr lang="en-US" dirty="0"/>
              <a:t> failed.</a:t>
            </a:r>
          </a:p>
          <a:p>
            <a:r>
              <a:rPr lang="en-US" b="1" dirty="0" err="1"/>
              <a:t>Ако</a:t>
            </a:r>
            <a:r>
              <a:rPr lang="en-US" b="1" dirty="0"/>
              <a:t> НЯМАМЕ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restartPolicy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Never</a:t>
            </a:r>
            <a:r>
              <a:rPr lang="en-US" b="1" dirty="0"/>
              <a:t> (</a:t>
            </a:r>
            <a:r>
              <a:rPr lang="en-US" b="1" dirty="0" err="1"/>
              <a:t>използваме</a:t>
            </a:r>
            <a:r>
              <a:rPr lang="en-US" b="1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restartPolicy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OnFailure</a:t>
            </a:r>
            <a:r>
              <a:rPr lang="en-US" b="1" dirty="0"/>
              <a:t>):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грешка</a:t>
            </a:r>
            <a:r>
              <a:rPr lang="en-US" dirty="0"/>
              <a:t> </a:t>
            </a:r>
            <a:r>
              <a:rPr lang="en-US" b="1" dirty="0" err="1"/>
              <a:t>не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създава</a:t>
            </a:r>
            <a:r>
              <a:rPr lang="en-US" dirty="0"/>
              <a:t> </a:t>
            </a:r>
            <a:r>
              <a:rPr lang="en-US" dirty="0" err="1"/>
              <a:t>нов</a:t>
            </a:r>
            <a:r>
              <a:rPr lang="en-US" dirty="0"/>
              <a:t> Pod. Kubernetes </a:t>
            </a:r>
            <a:r>
              <a:rPr lang="en-US" dirty="0" err="1"/>
              <a:t>рестартира</a:t>
            </a:r>
            <a:r>
              <a:rPr lang="en-US" dirty="0"/>
              <a:t> failed </a:t>
            </a:r>
            <a:r>
              <a:rPr lang="en-US" dirty="0" err="1"/>
              <a:t>контейнер</a:t>
            </a:r>
            <a:r>
              <a:rPr lang="en-US" dirty="0"/>
              <a:t> </a:t>
            </a:r>
            <a:r>
              <a:rPr lang="en-US" b="1" dirty="0" err="1"/>
              <a:t>вътре</a:t>
            </a:r>
            <a:r>
              <a:rPr lang="en-US" b="1" dirty="0"/>
              <a:t> в </a:t>
            </a:r>
            <a:r>
              <a:rPr lang="en-US" b="1" dirty="0" err="1"/>
              <a:t>същия</a:t>
            </a:r>
            <a:r>
              <a:rPr lang="en-US" b="1" dirty="0"/>
              <a:t> Pod</a:t>
            </a:r>
            <a:r>
              <a:rPr lang="en-US" dirty="0"/>
              <a:t> (</a:t>
            </a:r>
            <a:r>
              <a:rPr lang="en-US" dirty="0" err="1"/>
              <a:t>отново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6 </a:t>
            </a:r>
            <a:r>
              <a:rPr lang="en-US" dirty="0" err="1"/>
              <a:t>пъти</a:t>
            </a:r>
            <a:r>
              <a:rPr lang="en-US" dirty="0"/>
              <a:t> с </a:t>
            </a:r>
            <a:r>
              <a:rPr lang="en-US" dirty="0" err="1"/>
              <a:t>забавяне</a:t>
            </a:r>
            <a:r>
              <a:rPr lang="en-US" dirty="0"/>
              <a:t>), </a:t>
            </a:r>
            <a:r>
              <a:rPr lang="en-US" dirty="0" err="1"/>
              <a:t>преди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откаже</a:t>
            </a:r>
            <a:r>
              <a:rPr lang="en-US" dirty="0"/>
              <a:t> и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маркира</a:t>
            </a:r>
            <a:r>
              <a:rPr lang="en-US" dirty="0"/>
              <a:t> Job-а </a:t>
            </a:r>
            <a:r>
              <a:rPr lang="en-US" dirty="0" err="1"/>
              <a:t>като</a:t>
            </a:r>
            <a:r>
              <a:rPr lang="en-US" dirty="0"/>
              <a:t> failed.</a:t>
            </a:r>
          </a:p>
          <a:p>
            <a:r>
              <a:rPr lang="en-US" i="1" dirty="0"/>
              <a:t>(</a:t>
            </a:r>
            <a:r>
              <a:rPr lang="en-US" i="1" dirty="0" err="1"/>
              <a:t>Забележка</a:t>
            </a:r>
            <a:r>
              <a:rPr lang="en-US" i="1" dirty="0"/>
              <a:t>: </a:t>
            </a:r>
            <a:r>
              <a:rPr lang="en-US" i="1" dirty="0" err="1"/>
              <a:t>При</a:t>
            </a:r>
            <a:r>
              <a:rPr lang="en-US" i="1" dirty="0"/>
              <a:t> </a:t>
            </a:r>
            <a:r>
              <a:rPr 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Job</a:t>
            </a:r>
            <a:r>
              <a:rPr lang="en-US" i="1" dirty="0"/>
              <a:t> </a:t>
            </a:r>
            <a:r>
              <a:rPr lang="en-US" i="1" dirty="0" err="1"/>
              <a:t>ресурсите</a:t>
            </a:r>
            <a:r>
              <a:rPr lang="en-US" i="1" dirty="0"/>
              <a:t> </a:t>
            </a:r>
            <a:r>
              <a:rPr lang="en-US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restartPolicy</a:t>
            </a:r>
            <a:r>
              <a:rPr lang="en-US" i="1" dirty="0"/>
              <a:t> </a:t>
            </a:r>
            <a:r>
              <a:rPr lang="en-US" i="1" dirty="0" err="1"/>
              <a:t>може</a:t>
            </a:r>
            <a:r>
              <a:rPr lang="en-US" i="1" dirty="0"/>
              <a:t> </a:t>
            </a:r>
            <a:r>
              <a:rPr lang="en-US" i="1" dirty="0" err="1"/>
              <a:t>да</a:t>
            </a:r>
            <a:r>
              <a:rPr lang="en-US" i="1" dirty="0"/>
              <a:t> </a:t>
            </a:r>
            <a:r>
              <a:rPr lang="en-US" i="1" dirty="0" err="1"/>
              <a:t>бъде</a:t>
            </a:r>
            <a:r>
              <a:rPr lang="en-US" i="1" dirty="0"/>
              <a:t> </a:t>
            </a:r>
            <a:r>
              <a:rPr lang="en-US" i="1" dirty="0" err="1"/>
              <a:t>само</a:t>
            </a:r>
            <a:r>
              <a:rPr lang="en-US" i="1" dirty="0"/>
              <a:t> </a:t>
            </a:r>
            <a:r>
              <a:rPr lang="en-US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OnFailure</a:t>
            </a:r>
            <a:r>
              <a:rPr lang="en-US" i="1" dirty="0"/>
              <a:t> </a:t>
            </a:r>
            <a:r>
              <a:rPr lang="en-US" i="1" dirty="0" err="1"/>
              <a:t>или</a:t>
            </a:r>
            <a:r>
              <a:rPr lang="en-US" i="1" dirty="0"/>
              <a:t> </a:t>
            </a:r>
            <a:r>
              <a:rPr 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en-US" i="1" dirty="0"/>
              <a:t> — </a:t>
            </a:r>
            <a:r>
              <a:rPr lang="en-US" i="1" dirty="0" err="1"/>
              <a:t>стойността</a:t>
            </a:r>
            <a:r>
              <a:rPr lang="en-US" i="1" dirty="0"/>
              <a:t> </a:t>
            </a:r>
            <a:r>
              <a:rPr 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Always</a:t>
            </a:r>
            <a:r>
              <a:rPr lang="en-US" i="1" dirty="0"/>
              <a:t> е </a:t>
            </a:r>
            <a:r>
              <a:rPr lang="en-US" i="1" dirty="0" err="1"/>
              <a:t>забранена</a:t>
            </a:r>
            <a:r>
              <a:rPr lang="en-US" i="1" dirty="0"/>
              <a:t>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733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80457-CD76-6D97-F9D9-D14E28D2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9B332E-8713-730E-46D7-0A0859729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79D03-922D-9907-3E0A-384F1B62B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CronJob</a:t>
            </a:r>
            <a:r>
              <a:rPr lang="ru-RU" dirty="0"/>
              <a:t> на </a:t>
            </a:r>
            <a:r>
              <a:rPr lang="ru-RU" dirty="0" err="1"/>
              <a:t>Kubernetes</a:t>
            </a:r>
            <a:r>
              <a:rPr lang="ru-RU" dirty="0"/>
              <a:t> </a:t>
            </a:r>
            <a:r>
              <a:rPr lang="ru-RU" dirty="0" err="1"/>
              <a:t>създава</a:t>
            </a:r>
            <a:r>
              <a:rPr lang="ru-RU" dirty="0"/>
              <a:t> (</a:t>
            </a:r>
            <a:r>
              <a:rPr lang="ru-RU" dirty="0" err="1"/>
              <a:t>Jobs</a:t>
            </a:r>
            <a:r>
              <a:rPr lang="ru-RU" dirty="0"/>
              <a:t>) по </a:t>
            </a:r>
            <a:r>
              <a:rPr lang="ru-RU" dirty="0" err="1"/>
              <a:t>повтарящ</a:t>
            </a:r>
            <a:r>
              <a:rPr lang="ru-RU" dirty="0"/>
              <a:t> се график, </a:t>
            </a:r>
            <a:r>
              <a:rPr lang="ru-RU" dirty="0" err="1"/>
              <a:t>функционирайки</a:t>
            </a:r>
            <a:r>
              <a:rPr lang="ru-RU" dirty="0"/>
              <a:t> точно </a:t>
            </a:r>
            <a:r>
              <a:rPr lang="ru-RU" dirty="0" err="1"/>
              <a:t>като</a:t>
            </a:r>
            <a:r>
              <a:rPr lang="ru-RU" dirty="0"/>
              <a:t> традиционен UNIX </a:t>
            </a:r>
            <a:r>
              <a:rPr lang="ru-RU" dirty="0" err="1"/>
              <a:t>cron</a:t>
            </a:r>
            <a:r>
              <a:rPr lang="ru-RU" dirty="0"/>
              <a:t> </a:t>
            </a:r>
            <a:r>
              <a:rPr lang="ru-RU" dirty="0" err="1"/>
              <a:t>във</a:t>
            </a:r>
            <a:r>
              <a:rPr lang="ru-RU" dirty="0"/>
              <a:t> </a:t>
            </a:r>
            <a:r>
              <a:rPr lang="ru-RU" dirty="0" err="1"/>
              <a:t>вашия</a:t>
            </a:r>
            <a:r>
              <a:rPr lang="ru-RU" dirty="0"/>
              <a:t> </a:t>
            </a:r>
            <a:r>
              <a:rPr lang="ru-RU" dirty="0" err="1"/>
              <a:t>клъстер</a:t>
            </a:r>
            <a:r>
              <a:rPr lang="ru-RU" dirty="0"/>
              <a:t>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4BC7C-1C0F-3D38-FB58-062FA5DC4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306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подразбиране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backoffLimit</a:t>
            </a:r>
            <a:r>
              <a:rPr lang="en-US" dirty="0"/>
              <a:t> е </a:t>
            </a:r>
            <a:r>
              <a:rPr lang="en-US" b="1" dirty="0"/>
              <a:t>6</a:t>
            </a:r>
            <a:r>
              <a:rPr lang="en-US" dirty="0"/>
              <a:t>.</a:t>
            </a:r>
          </a:p>
          <a:p>
            <a:r>
              <a:rPr lang="en-US" b="1" dirty="0"/>
              <a:t>С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restartPolicy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Never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грешка</a:t>
            </a:r>
            <a:r>
              <a:rPr lang="en-US" dirty="0"/>
              <a:t> </a:t>
            </a:r>
            <a:r>
              <a:rPr lang="en-US" dirty="0" err="1"/>
              <a:t>контейнерът</a:t>
            </a:r>
            <a:r>
              <a:rPr lang="en-US" dirty="0"/>
              <a:t> </a:t>
            </a:r>
            <a:r>
              <a:rPr lang="en-US" b="1" dirty="0" err="1"/>
              <a:t>не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рестартира</a:t>
            </a:r>
            <a:r>
              <a:rPr lang="en-US" dirty="0"/>
              <a:t> в </a:t>
            </a:r>
            <a:r>
              <a:rPr lang="en-US" dirty="0" err="1"/>
              <a:t>същия</a:t>
            </a:r>
            <a:r>
              <a:rPr lang="en-US" dirty="0"/>
              <a:t> Pod. Pod-</a:t>
            </a:r>
            <a:r>
              <a:rPr lang="en-US" dirty="0" err="1"/>
              <a:t>ът</a:t>
            </a:r>
            <a:r>
              <a:rPr lang="en-US" dirty="0"/>
              <a:t> </a:t>
            </a:r>
            <a:r>
              <a:rPr lang="en-US" dirty="0" err="1"/>
              <a:t>приключва</a:t>
            </a:r>
            <a:r>
              <a:rPr lang="en-US" dirty="0"/>
              <a:t> </a:t>
            </a:r>
            <a:r>
              <a:rPr lang="en-US" dirty="0" err="1"/>
              <a:t>като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Failed</a:t>
            </a:r>
            <a:r>
              <a:rPr lang="en-US" dirty="0"/>
              <a:t>, а Job </a:t>
            </a:r>
            <a:r>
              <a:rPr lang="en-US" dirty="0" err="1"/>
              <a:t>контролерът</a:t>
            </a:r>
            <a:r>
              <a:rPr lang="en-US" dirty="0"/>
              <a:t> </a:t>
            </a:r>
            <a:r>
              <a:rPr lang="en-US" dirty="0" err="1"/>
              <a:t>създава</a:t>
            </a:r>
            <a:r>
              <a:rPr lang="en-US" dirty="0"/>
              <a:t> </a:t>
            </a:r>
            <a:r>
              <a:rPr lang="en-US" b="1" dirty="0" err="1"/>
              <a:t>нов</a:t>
            </a:r>
            <a:r>
              <a:rPr lang="en-US" b="1" dirty="0"/>
              <a:t> Pod</a:t>
            </a:r>
            <a:r>
              <a:rPr lang="en-US" dirty="0"/>
              <a:t> (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общо</a:t>
            </a:r>
            <a:r>
              <a:rPr lang="en-US" dirty="0"/>
              <a:t> 6 </a:t>
            </a:r>
            <a:r>
              <a:rPr lang="en-US" dirty="0" err="1"/>
              <a:t>опита</a:t>
            </a:r>
            <a:r>
              <a:rPr lang="en-US" dirty="0"/>
              <a:t>), </a:t>
            </a:r>
            <a:r>
              <a:rPr lang="en-US" dirty="0" err="1"/>
              <a:t>преди</a:t>
            </a:r>
            <a:r>
              <a:rPr lang="en-US" dirty="0"/>
              <a:t> </a:t>
            </a:r>
            <a:r>
              <a:rPr lang="en-US" dirty="0" err="1"/>
              <a:t>целият</a:t>
            </a:r>
            <a:r>
              <a:rPr lang="en-US" dirty="0"/>
              <a:t> Job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маркира</a:t>
            </a:r>
            <a:r>
              <a:rPr lang="en-US" dirty="0"/>
              <a:t> </a:t>
            </a:r>
            <a:r>
              <a:rPr lang="en-US" dirty="0" err="1"/>
              <a:t>като</a:t>
            </a:r>
            <a:r>
              <a:rPr lang="en-US" dirty="0"/>
              <a:t> failed.</a:t>
            </a:r>
          </a:p>
          <a:p>
            <a:r>
              <a:rPr lang="en-US" b="1" dirty="0" err="1"/>
              <a:t>Ако</a:t>
            </a:r>
            <a:r>
              <a:rPr lang="en-US" b="1" dirty="0"/>
              <a:t> НЯМАМЕ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restartPolicy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Never</a:t>
            </a:r>
            <a:r>
              <a:rPr lang="en-US" b="1" dirty="0"/>
              <a:t> (</a:t>
            </a:r>
            <a:r>
              <a:rPr lang="en-US" b="1" dirty="0" err="1"/>
              <a:t>използваме</a:t>
            </a:r>
            <a:r>
              <a:rPr lang="en-US" b="1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restartPolicy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OnFailure</a:t>
            </a:r>
            <a:r>
              <a:rPr lang="en-US" b="1" dirty="0"/>
              <a:t>):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грешка</a:t>
            </a:r>
            <a:r>
              <a:rPr lang="en-US" dirty="0"/>
              <a:t> </a:t>
            </a:r>
            <a:r>
              <a:rPr lang="en-US" b="1" dirty="0" err="1"/>
              <a:t>не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създава</a:t>
            </a:r>
            <a:r>
              <a:rPr lang="en-US" dirty="0"/>
              <a:t> </a:t>
            </a:r>
            <a:r>
              <a:rPr lang="en-US" dirty="0" err="1"/>
              <a:t>нов</a:t>
            </a:r>
            <a:r>
              <a:rPr lang="en-US" dirty="0"/>
              <a:t> Pod. Kubernetes </a:t>
            </a:r>
            <a:r>
              <a:rPr lang="en-US" dirty="0" err="1"/>
              <a:t>рестартира</a:t>
            </a:r>
            <a:r>
              <a:rPr lang="en-US" dirty="0"/>
              <a:t> failed </a:t>
            </a:r>
            <a:r>
              <a:rPr lang="en-US" dirty="0" err="1"/>
              <a:t>контейнер</a:t>
            </a:r>
            <a:r>
              <a:rPr lang="en-US" dirty="0"/>
              <a:t> </a:t>
            </a:r>
            <a:r>
              <a:rPr lang="en-US" b="1" dirty="0" err="1"/>
              <a:t>вътре</a:t>
            </a:r>
            <a:r>
              <a:rPr lang="en-US" b="1" dirty="0"/>
              <a:t> в </a:t>
            </a:r>
            <a:r>
              <a:rPr lang="en-US" b="1" dirty="0" err="1"/>
              <a:t>същия</a:t>
            </a:r>
            <a:r>
              <a:rPr lang="en-US" b="1" dirty="0"/>
              <a:t> Pod</a:t>
            </a:r>
            <a:r>
              <a:rPr lang="en-US" dirty="0"/>
              <a:t> (</a:t>
            </a:r>
            <a:r>
              <a:rPr lang="en-US" dirty="0" err="1"/>
              <a:t>отново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6 </a:t>
            </a:r>
            <a:r>
              <a:rPr lang="en-US" dirty="0" err="1"/>
              <a:t>пъти</a:t>
            </a:r>
            <a:r>
              <a:rPr lang="en-US" dirty="0"/>
              <a:t> с </a:t>
            </a:r>
            <a:r>
              <a:rPr lang="en-US" dirty="0" err="1"/>
              <a:t>забавяне</a:t>
            </a:r>
            <a:r>
              <a:rPr lang="en-US" dirty="0"/>
              <a:t>), </a:t>
            </a:r>
            <a:r>
              <a:rPr lang="en-US" dirty="0" err="1"/>
              <a:t>преди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откаже</a:t>
            </a:r>
            <a:r>
              <a:rPr lang="en-US" dirty="0"/>
              <a:t> и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маркира</a:t>
            </a:r>
            <a:r>
              <a:rPr lang="en-US" dirty="0"/>
              <a:t> Job-а </a:t>
            </a:r>
            <a:r>
              <a:rPr lang="en-US" dirty="0" err="1"/>
              <a:t>като</a:t>
            </a:r>
            <a:r>
              <a:rPr lang="en-US" dirty="0"/>
              <a:t> failed.</a:t>
            </a:r>
          </a:p>
          <a:p>
            <a:r>
              <a:rPr lang="en-US" i="1" dirty="0"/>
              <a:t>(</a:t>
            </a:r>
            <a:r>
              <a:rPr lang="en-US" i="1" dirty="0" err="1"/>
              <a:t>Забележка</a:t>
            </a:r>
            <a:r>
              <a:rPr lang="en-US" i="1" dirty="0"/>
              <a:t>: </a:t>
            </a:r>
            <a:r>
              <a:rPr lang="en-US" i="1" dirty="0" err="1"/>
              <a:t>При</a:t>
            </a:r>
            <a:r>
              <a:rPr lang="en-US" i="1" dirty="0"/>
              <a:t> </a:t>
            </a:r>
            <a:r>
              <a:rPr 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Job</a:t>
            </a:r>
            <a:r>
              <a:rPr lang="en-US" i="1" dirty="0"/>
              <a:t> </a:t>
            </a:r>
            <a:r>
              <a:rPr lang="en-US" i="1" dirty="0" err="1"/>
              <a:t>ресурсите</a:t>
            </a:r>
            <a:r>
              <a:rPr lang="en-US" i="1" dirty="0"/>
              <a:t> </a:t>
            </a:r>
            <a:r>
              <a:rPr lang="en-US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restartPolicy</a:t>
            </a:r>
            <a:r>
              <a:rPr lang="en-US" i="1" dirty="0"/>
              <a:t> </a:t>
            </a:r>
            <a:r>
              <a:rPr lang="en-US" i="1" dirty="0" err="1"/>
              <a:t>може</a:t>
            </a:r>
            <a:r>
              <a:rPr lang="en-US" i="1" dirty="0"/>
              <a:t> </a:t>
            </a:r>
            <a:r>
              <a:rPr lang="en-US" i="1" dirty="0" err="1"/>
              <a:t>да</a:t>
            </a:r>
            <a:r>
              <a:rPr lang="en-US" i="1" dirty="0"/>
              <a:t> </a:t>
            </a:r>
            <a:r>
              <a:rPr lang="en-US" i="1" dirty="0" err="1"/>
              <a:t>бъде</a:t>
            </a:r>
            <a:r>
              <a:rPr lang="en-US" i="1" dirty="0"/>
              <a:t> </a:t>
            </a:r>
            <a:r>
              <a:rPr lang="en-US" i="1" dirty="0" err="1"/>
              <a:t>само</a:t>
            </a:r>
            <a:r>
              <a:rPr lang="en-US" i="1" dirty="0"/>
              <a:t> </a:t>
            </a:r>
            <a:r>
              <a:rPr lang="en-US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OnFailure</a:t>
            </a:r>
            <a:r>
              <a:rPr lang="en-US" i="1" dirty="0"/>
              <a:t> </a:t>
            </a:r>
            <a:r>
              <a:rPr lang="en-US" i="1" dirty="0" err="1"/>
              <a:t>или</a:t>
            </a:r>
            <a:r>
              <a:rPr lang="en-US" i="1" dirty="0"/>
              <a:t> </a:t>
            </a:r>
            <a:r>
              <a:rPr 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en-US" i="1" dirty="0"/>
              <a:t> — </a:t>
            </a:r>
            <a:r>
              <a:rPr lang="en-US" i="1" dirty="0" err="1"/>
              <a:t>стойността</a:t>
            </a:r>
            <a:r>
              <a:rPr lang="en-US" i="1" dirty="0"/>
              <a:t> </a:t>
            </a:r>
            <a:r>
              <a:rPr 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Always</a:t>
            </a:r>
            <a:r>
              <a:rPr lang="en-US" i="1" dirty="0"/>
              <a:t> е </a:t>
            </a:r>
            <a:r>
              <a:rPr lang="en-US" i="1" dirty="0" err="1"/>
              <a:t>забранена</a:t>
            </a:r>
            <a:r>
              <a:rPr lang="en-US" i="1" dirty="0"/>
              <a:t>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4D517-E97B-40BA-9682-97BDE3951FB6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338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6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Docker Images vs. Containers: The Core Concept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8650" y="1895475"/>
            <a:ext cx="10001250" cy="1451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325"/>
              </a:lnSpc>
            </a:pPr>
            <a:r>
              <a:rPr lang="en-US" sz="1500" dirty="0">
                <a:solidFill>
                  <a:srgbClr val="E2E8F0"/>
                </a:solidFill>
                <a:latin typeface="Plus Jakarta Sans"/>
              </a:rPr>
              <a:t>Image: A lightweight, standalone, and executable package that includes everything needed to run an application (code, runtime, libraries, and system tools). </a:t>
            </a:r>
          </a:p>
          <a:p>
            <a:pPr>
              <a:lnSpc>
                <a:spcPts val="2325"/>
              </a:lnSpc>
            </a:pPr>
            <a:endParaRPr lang="en-US" sz="1500" b="0" i="0" u="none" dirty="0">
              <a:solidFill>
                <a:srgbClr val="E2E8F0"/>
              </a:solidFill>
              <a:latin typeface="Plus Jakarta Sans"/>
            </a:endParaRPr>
          </a:p>
          <a:p>
            <a:pPr>
              <a:lnSpc>
                <a:spcPts val="2325"/>
              </a:lnSpc>
            </a:pPr>
            <a:r>
              <a:rPr lang="en-US" sz="1500" dirty="0">
                <a:solidFill>
                  <a:srgbClr val="E2E8F0"/>
                </a:solidFill>
                <a:latin typeface="Plus Jakarta Sans"/>
              </a:rPr>
              <a:t>Container: A running instance of an image.</a:t>
            </a:r>
          </a:p>
          <a:p>
            <a:pPr>
              <a:lnSpc>
                <a:spcPts val="2325"/>
              </a:lnSpc>
            </a:pPr>
            <a:endParaRPr lang="en-US" sz="1500" b="0" i="0" u="none" dirty="0">
              <a:solidFill>
                <a:srgbClr val="E2E8F0"/>
              </a:solidFill>
              <a:latin typeface="Plus Jakarta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970797-5789-FA8A-CB0B-836D1EADA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836" y="3397410"/>
            <a:ext cx="5082956" cy="27725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0866D-8E65-305F-4288-783FCDCCC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AFC86835-4EB6-9B69-4814-1FBA3E691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0FBCFB-B5D7-82BB-2A8E-6F6476D3FA2A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Primary Advantages of Docker Containers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CAD95-B284-63F8-8879-0674D9F68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766" y="1670641"/>
            <a:ext cx="7618469" cy="471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03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1D0ED-B13A-5E21-B97C-309CBB494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F1D26CAD-9E0F-B39D-4731-F7F132C4B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AC4FD1-8808-28B1-6C38-E49B223FBC4A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Comparing Virtual Machines to Containers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F01EEC-271C-2B24-A59D-543592D2D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810" y="1704439"/>
            <a:ext cx="7480381" cy="431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579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1E263A-63C9-D801-E4AF-2AC549C54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0B6FD1F6-B358-7E30-E3EE-AA663970E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676105-8FAE-2FFB-1E6A-248BA9A99795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Comparing Virtual Machines to Containers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8F7081-5C34-719D-5FCC-16F346D73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186" y="1262827"/>
            <a:ext cx="7239627" cy="433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999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915FFD-8599-48C7-8750-625BAAB79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F41F9EB-A7DF-A72D-7DE5-148E2DCBC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A07D8E-ABD4-70CF-330A-0167974AD6E4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What is Docker &amp; First CLI Commands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415DD9-576E-C824-316E-E658BC8B9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393" y="2076333"/>
            <a:ext cx="7087214" cy="270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22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600FC-E21E-8500-6911-B590B6A6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0D9EB71-12E9-E394-8597-A91432E45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7D6624-D3DA-ED6B-E4A5-E5D6A6F668ED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Docker Architecture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112196-E335-E2B1-F323-F8EBF4B5B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8636" y="1405983"/>
            <a:ext cx="8246225" cy="449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48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CADD8E-E522-EDE3-8A8E-35D776B20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F7ADF67-A899-74CB-A9DB-09810603A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424DAE-9AEF-2019-F848-71CAD2B9FAEA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Namespaces and </a:t>
            </a:r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cgroups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66B936-777C-2BA2-B8E9-E0B6C8C99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3244" y="1620799"/>
            <a:ext cx="8824111" cy="454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520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2493F5-7DAB-2C61-EDAC-2CDDD7D38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AEFEEA0D-A601-E636-02F1-BAFE511DF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ABFF28-E064-272E-5A30-6786256DE9DD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Namespaces and </a:t>
            </a:r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cgroups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592D8B-4B9F-C96A-99A9-BBA3E35BC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3977" y="1314266"/>
            <a:ext cx="7604047" cy="509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255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DD342-6B78-F601-01FA-73B2BAAB1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66F156C-4C45-4CEC-6F50-AF33DBD51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D98F79-1490-38A7-99D0-83953329042C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Namespaces and </a:t>
            </a:r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cgroups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CFD62-5884-29E5-67CC-5CEBA835B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517" y="2062996"/>
            <a:ext cx="8788966" cy="365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186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5FB111-92F7-F6C0-6B8A-828C9AD60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858A047-229C-524D-49C7-B803966C4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752E25-ED4F-2E5C-EF92-DE6816A4C6A3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fr-FR" sz="3600" b="1" dirty="0">
                <a:solidFill>
                  <a:srgbClr val="FFFFFF"/>
                </a:solidFill>
                <a:latin typeface="Space Grotesk"/>
              </a:rPr>
              <a:t>Container </a:t>
            </a:r>
            <a:r>
              <a:rPr lang="fr-FR" sz="3600" b="1" dirty="0" err="1">
                <a:solidFill>
                  <a:srgbClr val="FFFFFF"/>
                </a:solidFill>
                <a:latin typeface="Space Grotesk"/>
              </a:rPr>
              <a:t>Lifecycle</a:t>
            </a:r>
            <a:r>
              <a:rPr lang="fr-FR" sz="3600" b="1" dirty="0">
                <a:solidFill>
                  <a:srgbClr val="FFFFFF"/>
                </a:solidFill>
                <a:latin typeface="Space Grotesk"/>
              </a:rPr>
              <a:t> &amp; Core CLI </a:t>
            </a:r>
            <a:r>
              <a:rPr lang="fr-FR" sz="3600" b="1" dirty="0" err="1">
                <a:solidFill>
                  <a:srgbClr val="FFFFFF"/>
                </a:solidFill>
                <a:latin typeface="Space Grotesk"/>
              </a:rPr>
              <a:t>Commands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F3CFD-9BD8-3437-3A40-66F59CC97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492" y="1205672"/>
            <a:ext cx="7287017" cy="506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63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A0550F-1CAE-2EDC-9477-F423DC388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EE738EA6-D68B-7BD3-7E99-AC0BD9A94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9437AA-89B4-F77C-EFB4-2F37828C45E3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fr-FR" sz="3600" b="1" dirty="0">
                <a:solidFill>
                  <a:srgbClr val="FFFFFF"/>
                </a:solidFill>
                <a:latin typeface="Space Grotesk"/>
              </a:rPr>
              <a:t>Container </a:t>
            </a:r>
            <a:r>
              <a:rPr lang="fr-FR" sz="3600" b="1" dirty="0" err="1">
                <a:solidFill>
                  <a:srgbClr val="FFFFFF"/>
                </a:solidFill>
                <a:latin typeface="Space Grotesk"/>
              </a:rPr>
              <a:t>Lifecycle</a:t>
            </a:r>
            <a:r>
              <a:rPr lang="fr-FR" sz="3600" b="1" dirty="0">
                <a:solidFill>
                  <a:srgbClr val="FFFFFF"/>
                </a:solidFill>
                <a:latin typeface="Space Grotesk"/>
              </a:rPr>
              <a:t> &amp; Core CLI </a:t>
            </a:r>
            <a:r>
              <a:rPr lang="fr-FR" sz="3600" b="1" dirty="0" err="1">
                <a:solidFill>
                  <a:srgbClr val="FFFFFF"/>
                </a:solidFill>
                <a:latin typeface="Space Grotesk"/>
              </a:rPr>
              <a:t>Commands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882095-6661-8C91-E107-3C12DF944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203" y="1180468"/>
            <a:ext cx="6637595" cy="509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99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767439-E8DF-C717-2D4C-945F30ABE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A123E27-6290-33D7-0F45-F1DB42C62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24AB66-0DE8-85D5-EAE7-ACBDCFF7CB34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fr-FR" sz="3600" b="1" dirty="0">
                <a:solidFill>
                  <a:srgbClr val="FFFFFF"/>
                </a:solidFill>
                <a:latin typeface="Space Grotesk"/>
              </a:rPr>
              <a:t>Container </a:t>
            </a:r>
            <a:r>
              <a:rPr lang="fr-FR" sz="3600" b="1" dirty="0" err="1">
                <a:solidFill>
                  <a:srgbClr val="FFFFFF"/>
                </a:solidFill>
                <a:latin typeface="Space Grotesk"/>
              </a:rPr>
              <a:t>Lifecycle</a:t>
            </a:r>
            <a:r>
              <a:rPr lang="fr-FR" sz="3600" b="1" dirty="0">
                <a:solidFill>
                  <a:srgbClr val="FFFFFF"/>
                </a:solidFill>
                <a:latin typeface="Space Grotesk"/>
              </a:rPr>
              <a:t> &amp; Core CLI </a:t>
            </a:r>
            <a:r>
              <a:rPr lang="fr-FR" sz="3600" b="1" dirty="0" err="1">
                <a:solidFill>
                  <a:srgbClr val="FFFFFF"/>
                </a:solidFill>
                <a:latin typeface="Space Grotesk"/>
              </a:rPr>
              <a:t>Commands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A3FE62-5DBC-75E6-D036-BB562B9E4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004" y="1095173"/>
            <a:ext cx="6267993" cy="466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77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3B580-745A-F17D-434C-4FE1212FE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7AE8290C-7765-D94B-5D73-A55E1242C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1FC960-E8A2-DA3E-76F7-68686685AEFB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Space Grotesk"/>
              </a:rPr>
              <a:t>Interacting with Container Terminals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0D006E-3BEE-2295-D107-5AA9E799E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970" y="1857239"/>
            <a:ext cx="7030059" cy="314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437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260098-AB29-23F7-7885-B532F9199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845D0939-D18E-EFA5-31B0-F4BB9D2DF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9001A1-DF9A-A068-3649-8FF71C2A7498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Practical Example: Ubuntu &amp; Tools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617294-378D-6E53-2444-3BE570630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668" y="1195367"/>
            <a:ext cx="6294665" cy="477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971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DAA5A-42F3-9352-CB1A-DE65CE915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000C1094-9146-BBD9-6B41-EFBF0BC3E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3596ED-DD14-BF2D-37C5-A2AA186D9F7A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Environment Cleanup &amp; Maintenance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F068F9-08A2-B9B9-97F2-02213539A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460" y="2619305"/>
            <a:ext cx="6447079" cy="161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42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FFE480-0A0C-5CFC-7CA0-67B108565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F9A474B-67D3-3C42-A77A-9D6FF2A3C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8C6AC1-AA9C-B65F-778F-4187934AF88A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 err="1">
                <a:solidFill>
                  <a:srgbClr val="FFFFFF"/>
                </a:solidFill>
                <a:latin typeface="Space Grotesk"/>
              </a:rPr>
              <a:t>Dockerfile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365A4D-FC30-AFE4-A158-ACB4C7BEF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177" y="1862954"/>
            <a:ext cx="6877646" cy="313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723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3B4827-5685-8FEA-DFC8-535436B38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576EB81-C8D2-CE1F-8F23-DD6D2F22D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8FEB19-7238-933A-3FE9-E1F7B6342DA9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FFFFFF"/>
                </a:solidFill>
                <a:latin typeface="Space Grotesk"/>
              </a:rPr>
              <a:t>Docker Build and Tag 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R</a:t>
            </a:r>
            <a:r>
              <a:rPr lang="en-US" sz="3600" b="1" i="0" u="none" dirty="0">
                <a:solidFill>
                  <a:srgbClr val="FFFFFF"/>
                </a:solidFill>
                <a:latin typeface="Space Grotesk"/>
              </a:rPr>
              <a:t>eference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5E4CD4-7E72-489D-A933-6D435F8D5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116" y="2539288"/>
            <a:ext cx="6553768" cy="177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61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83CD1-EE8F-2A11-42A8-1E0855336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83DC436-6E9D-B6E9-B86D-D33404C16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26F803-6FF6-6430-2E27-656DB8FEFDEC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FFFFFF"/>
                </a:solidFill>
                <a:latin typeface="Space Grotesk"/>
              </a:rPr>
              <a:t>Example: Containerizing a Static HTML Page with Nginx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15E75F-35FC-956F-91D3-6E038C6EE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329" y="2352581"/>
            <a:ext cx="5437341" cy="21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642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291FDC-39DD-3B34-4C94-9052EE930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0FF01927-3D8C-EAE1-8659-71D880B66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454A42-BD40-310C-9008-C0615E4EB65B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FFFFFF"/>
                </a:solidFill>
                <a:latin typeface="Space Grotesk"/>
              </a:rPr>
              <a:t>Example: Containerizing a Static HTML Page with Nginx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8D0FBC-4863-B88A-5BAC-57C22283F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182" y="2409736"/>
            <a:ext cx="5029636" cy="203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572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BE88E9-B1B8-62EB-DCE9-C64A18956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214EE51-7616-9A22-9EF3-39BD0CA83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5533A4-5152-7E2B-1F8E-8B87A5D9A64E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FFFFFF"/>
                </a:solidFill>
                <a:latin typeface="Space Grotesk"/>
              </a:rPr>
              <a:t>Data Persistence in Docker(Volumes and Bind Mounts)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545CD8-7A19-F1D5-4E0C-E3CF7558B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754" y="1819135"/>
            <a:ext cx="6820491" cy="321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989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1D9E04-6EC6-11A0-6AC0-84BA68289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E545BF6-C4A7-1E80-86F7-BD9B706E6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D031D1-218D-EF99-9847-1D036D920F53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FFFFFF"/>
                </a:solidFill>
                <a:latin typeface="Space Grotesk"/>
              </a:rPr>
              <a:t>Docker Volume 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C</a:t>
            </a:r>
            <a:r>
              <a:rPr lang="en-US" sz="3600" b="1" i="0" u="none" dirty="0">
                <a:solidFill>
                  <a:srgbClr val="FFFFFF"/>
                </a:solidFill>
                <a:latin typeface="Space Grotesk"/>
              </a:rPr>
              <a:t>ommands 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R</a:t>
            </a:r>
            <a:r>
              <a:rPr lang="en-US" sz="3600" b="1" i="0" u="none" dirty="0">
                <a:solidFill>
                  <a:srgbClr val="FFFFFF"/>
                </a:solidFill>
                <a:latin typeface="Space Grotesk"/>
              </a:rPr>
              <a:t>eference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44EE47-6A3D-DFC2-7C42-40CAAAF41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2892" y="2724089"/>
            <a:ext cx="6866215" cy="140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354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142DE3-EA52-984C-2109-AE8C5329F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0FD202A-1F1D-0EAD-A15C-16336A9EB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728C70-9C4A-D2C7-96F2-88EB2DA0E4D8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FFFFFF"/>
                </a:solidFill>
                <a:latin typeface="Space Grotesk"/>
              </a:rPr>
              <a:t>Docker Volumes: 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Hands-On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681984-2781-FE2E-36BC-DFBB7E0A4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219" y="1790558"/>
            <a:ext cx="6477561" cy="327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290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A73D09-3D25-7F4C-9F31-E9B0248E9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B0B8A7D-BAAD-F227-C1E6-C02528D18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2DB330-9C65-F478-B78D-72101DBBAC0E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FFFFFF"/>
                </a:solidFill>
                <a:latin typeface="Space Grotesk"/>
              </a:rPr>
              <a:t>Docker Networks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: Overview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17C561-791F-6AC9-2FBF-90E7FC664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418" y="1714351"/>
            <a:ext cx="6847163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309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93246-E004-DDA3-D0E8-22B3A31BD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19FEE60-3E30-3451-B3F4-498493C9C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33D100-9C3E-13F4-3931-BAEA7929FB99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FFFFFF"/>
                </a:solidFill>
                <a:latin typeface="Space Grotesk"/>
              </a:rPr>
              <a:t>Container Registries Overview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9399B4-ACD7-C8C4-446C-50BB852F0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651" y="2304952"/>
            <a:ext cx="6896698" cy="224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88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7AA506-C203-3B37-92E5-A0CB71620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753FEB6-17B5-6C8F-83CE-8C50D032B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6DDAE4-F5D5-E0EC-A9A9-99781C5E0824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FFFFFF"/>
                </a:solidFill>
                <a:latin typeface="Space Grotesk"/>
              </a:rPr>
              <a:t>Working with Docker Hub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CAFD85-1D92-CCF3-F5A1-6D4B9CBDF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501" y="2104910"/>
            <a:ext cx="5162997" cy="264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5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0E2C9-3D8B-819B-D433-796171CA2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8A4E6A57-2C87-F1EF-6F84-F780C3A3D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6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EFC18A-F622-4260-DCD6-0115152B4237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Introduction to YAML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273E8-9227-A6E0-61B8-820715615584}"/>
              </a:ext>
            </a:extLst>
          </p:cNvPr>
          <p:cNvSpPr txBox="1"/>
          <p:nvPr/>
        </p:nvSpPr>
        <p:spPr>
          <a:xfrm>
            <a:off x="628650" y="1895475"/>
            <a:ext cx="10001250" cy="566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325"/>
              </a:lnSpc>
            </a:pPr>
            <a:r>
              <a:rPr lang="en-US" sz="1500" dirty="0">
                <a:solidFill>
                  <a:srgbClr val="E2E8F0"/>
                </a:solidFill>
                <a:latin typeface="Plus Jakarta Sans"/>
              </a:rPr>
              <a:t>YAML is a human-readable, data-serialization language primary used for configuration files, where data structures like scalars, sequences, and mappings are represented using clean, space-based indentation.</a:t>
            </a:r>
            <a:endParaRPr lang="en-US" sz="1500" b="0" i="0" u="none" dirty="0">
              <a:solidFill>
                <a:srgbClr val="E2E8F0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797988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CEB266-EC91-0509-696E-D27C70C84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828DA610-94F1-DC91-C250-30C4C3CB0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D78023-AF6A-366E-06EA-23E0F559A1A2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Fundamental Rules of YAML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E0365B-2AB1-3EFA-0003-9F9461B84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40" y="2571675"/>
            <a:ext cx="7823121" cy="213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6350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745BA-0CD9-A47A-7C2C-E0949B253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09AECD4-5B6D-BCFF-6DF8-835C1355E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EB10DC-B06C-879F-7AD1-C1F3F6B92145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Data Types – Key-Value &amp; Maps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A00C42-29A1-39CF-0BA9-2F35CEC1F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347" y="1283264"/>
            <a:ext cx="7949307" cy="429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422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2E6D60-9DAC-B85E-692F-28B5198D0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F74249D0-ED6F-E9E4-3221-CD8991CE4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E7B33D-38E8-3549-EEBF-18B16C7F30DB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Data Types – Key-Value &amp; Maps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46893A-1E1D-14D5-479E-AF652ADC4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340" y="1480752"/>
            <a:ext cx="9211320" cy="389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94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3F944-B6B4-7596-BF11-C9EA1A84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A7D11F9-F385-C1C6-3CE2-931649DD6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2EBA7A-ED57-2D80-A4D4-9A0243CF0CB8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Data Types – Lists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A089F8-D6E7-8AD0-E3C0-4EE6FD7EC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923" y="1745937"/>
            <a:ext cx="10166154" cy="336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769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8189E-2F48-D639-B09B-C1DB84EE0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0C0F16AB-F1BC-A95E-7F85-D0146A9B0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DF1DC8-D0E5-BF20-800B-B169480FE9B2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List of Objects (Crucial for Kubernetes!)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DF37DF-4423-C6F4-B4E1-C43F53413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3583" y="1235298"/>
            <a:ext cx="7604835" cy="438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8243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863747-34AB-B5E5-ECCF-8DEB5FD33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6F34C56-F497-1653-A2B1-E3DA5A399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6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FF23D5-51F8-27C8-113D-642A67AC9B8D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Introduction to Kubernetes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A74D51-38CA-415B-DBA2-4AFA22294227}"/>
              </a:ext>
            </a:extLst>
          </p:cNvPr>
          <p:cNvSpPr txBox="1"/>
          <p:nvPr/>
        </p:nvSpPr>
        <p:spPr>
          <a:xfrm>
            <a:off x="628650" y="1895475"/>
            <a:ext cx="10001250" cy="566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325"/>
              </a:lnSpc>
            </a:pPr>
            <a:r>
              <a:rPr lang="en-US" sz="1500" dirty="0">
                <a:solidFill>
                  <a:srgbClr val="E2E8F0"/>
                </a:solidFill>
                <a:latin typeface="Plus Jakarta Sans"/>
              </a:rPr>
              <a:t>Kubernetes (often abbreviated as K8s) is an open-source container orchestration platform designed to automate the deployment, scaling, and management of containerized applications.</a:t>
            </a:r>
            <a:endParaRPr lang="en-US" sz="1500" b="0" i="0" u="none" dirty="0">
              <a:solidFill>
                <a:srgbClr val="E2E8F0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31890634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01AF5-E0CA-B2C6-D2F4-7224FFE93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093220E0-8A85-5CF6-CC15-A2464E065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25082C-24AD-7859-F345-5A6C805121A6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Kubernetes Architecture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3DCD88-9FE1-B4B9-BD85-067C41013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8340" y="1217943"/>
            <a:ext cx="8275320" cy="482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5877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EB5572-E043-9566-E6C7-DE5E28A8D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852B160F-917F-56D4-556E-ABB8A9FA4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45AB16-5FEC-3530-29C3-F39ADAADC9E6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Control Plane Core Components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9E0DC6-DF1D-D540-4ED5-EC5551139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564" y="2129677"/>
            <a:ext cx="6370872" cy="259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0101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6B475F-92B8-0F46-BBF5-88DD45275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1EA1645-921D-A23E-5DF7-3F18A0D8C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31735C-0222-BB0F-C626-7C0E97C82D96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Control Plane Core Components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750A2F-DBFF-296C-7FC0-6D33DB3AC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719" y="2139203"/>
            <a:ext cx="6256562" cy="257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8680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E9C4D-934A-11F3-1368-142448C96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602765C-E432-5FAB-EDF7-9C8752945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A868F5-CF2F-2F26-117A-E221CFE0D287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What is Installed on a Worker Node?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2EB71A-9E0C-9090-737D-A51E7FD61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1987" y="1238060"/>
            <a:ext cx="6428027" cy="43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030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85D08-6DBC-F444-584A-E9958DB10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204E95EE-DDA9-9E1A-148E-2581791F7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29D962-160F-9970-0B22-CE5418130E33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Lab Overview – Exploring Nodes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B92BD7-27A9-A003-1846-924B3C491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7059" y="1710349"/>
            <a:ext cx="8117883" cy="343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473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DC2AFE-3A2B-A7B7-2798-ACF1E6B8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0E09A0-FB86-D70D-A88E-F0121C823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FEA4FD-B0F8-5699-E951-D8F0EF5D5419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Cluster Communication – </a:t>
            </a:r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kubectl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FB0669-9029-F671-7462-3302F63C0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297" y="1309567"/>
            <a:ext cx="9139406" cy="523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1829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333A4D-A875-EF28-7345-81F6FD463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03C8406-CF39-9A3C-C92F-679C22F1D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5A4F43-4F58-CF25-05C1-736A494A1ED9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Cluster Access &amp; </a:t>
            </a:r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Kubeconfig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772505-33AF-18A0-D689-443F70D8F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813" y="2047755"/>
            <a:ext cx="8552374" cy="374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2153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53E742-A4A2-CBDF-8EE5-E4B9F4278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3F0558C-BA53-B7F8-1007-96A01398A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947A76-5D9C-6564-04C1-859A3B8AA41D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Kubeconfig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 Structure Example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1A6F9F-5753-FDF3-A7CC-948EFEF26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1864" y="1195026"/>
            <a:ext cx="5488272" cy="446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952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CF71C1-93EC-3574-EB97-AA4FFBAB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EAF38A7-26B5-90D0-D64E-247AAD04B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2D4188-02F1-C9F7-15FB-BF49FEC91C32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Manual Configuration &amp; Where to Find Data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6657C4-91A0-026E-C662-436D70244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354" y="1542886"/>
            <a:ext cx="7043292" cy="410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851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F12607-97E3-C127-AB9C-354F49920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B2D5804-2F86-2EAA-2B6B-47593F2D8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9A97EF-F3F2-794F-27C8-B4CC82381079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The Quickest Shortcut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3A838F-B26B-C015-BDD1-C68320B7B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030" y="1872480"/>
            <a:ext cx="7293940" cy="352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023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DD1DCB-9293-18AE-BD8C-B72F4FAFA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FA8AF488-C00A-F64E-A7D5-651B169E5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DEB2F8-9321-A9B6-695F-9C3FAB0B901E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kubectl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 Context Cheat Sheet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B1C121-9D30-0CB3-5380-BFD53E87C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547" y="1914393"/>
            <a:ext cx="6674906" cy="345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987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C6A5B-A7B5-DCC8-3329-B409247D7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290E37D5-5BFA-204B-F7AB-2B4A8142A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0A1D49-2E70-D6E7-8D32-1708E9084DFD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Imperative vs. Declarative Approaches in Kubernetes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178401-085F-B200-E909-077A5F225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881" y="2539288"/>
            <a:ext cx="8518239" cy="203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778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B270FA-50A3-5E73-9FAC-25E6A8F5A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D6A1AFF-0D40-95F2-3AB9-49EE31E13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9CEC73-CA17-F683-828D-D25F756EF2A4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Imperative vs. Declarative Approaches in Kubernetes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522A65-7585-B0B2-EB6B-4F6DF61C6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950" y="2691700"/>
            <a:ext cx="8838101" cy="186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199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50842-F2B7-E200-E784-EC31B980B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ACDBDCEA-F086-D1F8-6E52-4CB97D528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B6632E-585D-45C4-9BA2-62D78812A466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Mandatory Fields in a K8s YAML Manifest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2B529E-BDF3-60BA-DB33-7BB5B05FB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261" y="1561937"/>
            <a:ext cx="7359479" cy="430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279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50789-E48A-A6F9-B066-D9A3A5221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102DA71-3C75-CB57-ABD1-1BD7A8940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6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C69FCB-9279-9B63-9C77-F662F6FD8D7F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What is a Namespaces?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3E9112-7F2E-421E-B5B3-FA8E74A67309}"/>
              </a:ext>
            </a:extLst>
          </p:cNvPr>
          <p:cNvSpPr txBox="1"/>
          <p:nvPr/>
        </p:nvSpPr>
        <p:spPr>
          <a:xfrm>
            <a:off x="628650" y="1895475"/>
            <a:ext cx="10001250" cy="271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325"/>
              </a:lnSpc>
            </a:pPr>
            <a:r>
              <a:rPr lang="en-US" sz="1500" dirty="0">
                <a:solidFill>
                  <a:srgbClr val="E2E8F0"/>
                </a:solidFill>
                <a:latin typeface="Plus Jakarta Sans"/>
              </a:rPr>
              <a:t>In Kubernetes, namespaces provide a mechanism for isolating groups of resources within a single cluster.</a:t>
            </a:r>
            <a:endParaRPr lang="en-US" sz="1500" b="0" i="0" u="none" dirty="0">
              <a:solidFill>
                <a:srgbClr val="E2E8F0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3820593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D4500-BDB0-7EC9-0070-2F338825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774BD9CF-B315-3058-3585-26CC40F06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8BF769-0DD2-951F-FB0F-CE9931CF49C5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Creating and Using Namespaces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B6784D-AA2A-F991-CA71-24D984C7E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549" y="2200168"/>
            <a:ext cx="7724902" cy="302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8339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BF61B-2585-B119-F74C-6AC6B26E1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5DD1871-9315-CE14-F535-1CDF044EA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3F0F88-22DF-3E4B-94AA-FE43E35B8F19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Creating and Using Namespaces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B9A0C9-8829-956E-097B-B6465D41A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245" y="1087398"/>
            <a:ext cx="6237511" cy="558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5274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AF035-C364-7B8F-09E3-2FBED31E5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A9D595A-4B4A-4936-51E8-5F806897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DE68C9-3B1F-F3CE-3403-2C19BC746A4F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Kubectl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 Namespace Cheat Sheet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D5EF4B-00C9-4839-74F4-CCDDCFAF9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973" y="1971548"/>
            <a:ext cx="6620055" cy="334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644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46F6F-5724-532A-C1AE-B4E7B70D8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FC5D46F-BD83-2E0B-AE6C-580F35AF5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6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45E5A2-08A4-F2EA-E35E-647C39E86D2E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What is a Pod?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DA6205-959A-8AF2-7F14-5536B42EC419}"/>
              </a:ext>
            </a:extLst>
          </p:cNvPr>
          <p:cNvSpPr txBox="1"/>
          <p:nvPr/>
        </p:nvSpPr>
        <p:spPr>
          <a:xfrm>
            <a:off x="628650" y="1895475"/>
            <a:ext cx="10001250" cy="271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325"/>
              </a:lnSpc>
            </a:pPr>
            <a:r>
              <a:rPr lang="en-US" sz="1500" dirty="0">
                <a:solidFill>
                  <a:srgbClr val="E2E8F0"/>
                </a:solidFill>
                <a:latin typeface="Plus Jakarta Sans"/>
              </a:rPr>
              <a:t>Pods are the smallest deployable units of computing that you can create and manage in Kubernetes.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1EA295-9499-452B-7EBD-F39A1B652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1843" y="2541354"/>
            <a:ext cx="5748314" cy="366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2820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D2967E-B736-F0DA-7BFB-B7493EB20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E99BF3A-3F70-6371-380F-81143C466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EE8919-E276-35CA-F972-15C9CF9B9A9B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Pod Creation Lifecycle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A2FD27-1DF9-95AF-AC92-29E83BA95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485" y="1944129"/>
            <a:ext cx="9427031" cy="296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749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516D70-CAE4-5EBD-7BF7-4CB91D00C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E4E0B25A-46BA-66ED-706C-2AE838FE6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CF9522-70A4-1201-202D-67DE9C371F3C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Pod Deletion Lifecycle (Graceful Shutdown)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57BB0-AF31-A7A0-954B-609D5FF76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755" y="2085955"/>
            <a:ext cx="9564491" cy="268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845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46D80-5E42-88E2-3A82-8B9B896C9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BDD73EB-8701-399E-F5CF-6E8C1A721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D867E9-DACE-F1B3-D992-7D3B2632D1B2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Pod Phases (Status)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4B8428-14FB-5237-A3E2-BFF090C91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271" y="1194817"/>
            <a:ext cx="6439458" cy="53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085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7C712-1EC4-84CE-EE87-7580445E1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0D6BA44-60CA-8476-E0FA-7C3F0103D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7D48F0-796F-6910-8B00-807BFF55DD8B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Defining and Starting a Pod (YAML Manifest)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20FBBA-EA5B-DB1D-7012-58243A9E8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113" y="1095774"/>
            <a:ext cx="3043774" cy="466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4405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944F24-4A2C-7007-0849-BD320499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864AC4F9-0DBF-2C9C-ACA0-8F9DBF445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A34C11-878A-2292-C18B-66C76E4C3B2B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Defining and Starting a Pod (YAML Manifest)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5BAC66-CB2D-B771-0855-22A964751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151" y="1733403"/>
            <a:ext cx="6675698" cy="339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507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C47C8B-8DCE-9113-55DB-BF64D6DB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FB5B7A85-8DB5-74ED-64B8-C12F3F2D8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BCBC2C-A935-3990-96A7-9C02C1BBEC4A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Kubectl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 Pod Cheat Sheet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36E716-A273-9061-6513-6B85A5980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581" y="1150558"/>
            <a:ext cx="6210838" cy="54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6978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7CE7EF-3C6A-AF4D-64FC-A4459EEC9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C36CB731-AE75-DABB-95AD-5761F5D40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9E8C4D-B4CF-AFDA-FAFF-D39E3933917C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Resource Management (Requests &amp; Limits)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A2DF2B-8DFC-C6F9-B196-A7F23CC6D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249" y="1371203"/>
            <a:ext cx="6387502" cy="515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4262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D13B1D-2E3B-875E-C9E0-BBEAE8C5F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F8648329-91CA-B0B8-7B96-FCEB6ADC5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FB7275-DCDB-FF53-9819-4A2C627ABCCE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Resource Management (Requests &amp; Limits)</a:t>
            </a:r>
            <a:r>
              <a:rPr lang="bg-BG" sz="3600" b="1" dirty="0">
                <a:solidFill>
                  <a:srgbClr val="FFFFFF"/>
                </a:solidFill>
                <a:latin typeface="Space Grotesk"/>
              </a:rPr>
              <a:t> 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Best Practices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F9C23E-2075-4959-6B56-62C79105C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4874" y="2495071"/>
            <a:ext cx="8522253" cy="201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0357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413DCC-D6DA-6582-0597-E06F5A8EC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F9EAF892-0216-E671-CC6A-D04092FC4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7E2F12-AD4A-9399-6B95-02D275447318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Labels &amp; Selectors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BA1071-6CC0-164E-4633-26CC0860E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238" y="3000337"/>
            <a:ext cx="7895525" cy="113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851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4F0D75-8F7D-0EC7-3697-5C2E07C9B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09D2CFA1-E716-DE22-6A30-58916DFED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D59405-9FF3-AD2D-EC1E-F9C3DADD7AAA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Node Selection (</a:t>
            </a:r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nodeSelector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)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248EC3-9791-F44A-91AD-3BDF95701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581" y="1266637"/>
            <a:ext cx="6210838" cy="43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8620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F7DAF-7F0A-AA75-6BCA-230C236C5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2142644-7B41-0C43-EFC8-E15FDB7FA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D357B7-5101-EAB5-5993-B39E28C99060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What are Init Containers?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1AD9F-6824-9030-B862-1E077CEE1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1158" y="1862954"/>
            <a:ext cx="7109684" cy="352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2125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C6849-83AD-325F-905F-7BC735E59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5EEB26A-699C-E798-A222-A3E8385D4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6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5F3064-5859-03E1-61A8-B137AA6C6179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What is a </a:t>
            </a:r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ReplicaSet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FCD690-A2B0-C93D-8129-B6597C66E1EB}"/>
              </a:ext>
            </a:extLst>
          </p:cNvPr>
          <p:cNvSpPr txBox="1"/>
          <p:nvPr/>
        </p:nvSpPr>
        <p:spPr>
          <a:xfrm>
            <a:off x="628650" y="1895475"/>
            <a:ext cx="10001250" cy="1156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325"/>
              </a:lnSpc>
            </a:pPr>
            <a:r>
              <a:rPr lang="en-US" sz="1500" dirty="0">
                <a:solidFill>
                  <a:srgbClr val="E2E8F0"/>
                </a:solidFill>
                <a:latin typeface="Plus Jakarta Sans"/>
              </a:rPr>
              <a:t>A Kubernetes </a:t>
            </a:r>
            <a:r>
              <a:rPr lang="en-US" sz="1500" dirty="0" err="1">
                <a:solidFill>
                  <a:srgbClr val="E2E8F0"/>
                </a:solidFill>
                <a:latin typeface="Plus Jakarta Sans"/>
              </a:rPr>
              <a:t>ReplicaSet</a:t>
            </a:r>
            <a:r>
              <a:rPr lang="en-US" sz="1500" dirty="0">
                <a:solidFill>
                  <a:srgbClr val="E2E8F0"/>
                </a:solidFill>
                <a:latin typeface="Plus Jakarta Sans"/>
              </a:rPr>
              <a:t> ensures that a stable set of identical Pod replicas is running at any given time, automatically replacing any pods that fail, drop off, or are deleted. The most important settings are .</a:t>
            </a:r>
            <a:r>
              <a:rPr lang="en-US" sz="1500" dirty="0" err="1">
                <a:solidFill>
                  <a:srgbClr val="E2E8F0"/>
                </a:solidFill>
                <a:latin typeface="Plus Jakarta Sans"/>
              </a:rPr>
              <a:t>spec.replicas</a:t>
            </a:r>
            <a:r>
              <a:rPr lang="en-US" sz="1500" dirty="0">
                <a:solidFill>
                  <a:srgbClr val="E2E8F0"/>
                </a:solidFill>
                <a:latin typeface="Plus Jakarta Sans"/>
              </a:rPr>
              <a:t> (which defines the target count) and .</a:t>
            </a:r>
            <a:r>
              <a:rPr lang="en-US" sz="1500" dirty="0" err="1">
                <a:solidFill>
                  <a:srgbClr val="E2E8F0"/>
                </a:solidFill>
                <a:latin typeface="Plus Jakarta Sans"/>
              </a:rPr>
              <a:t>spec.selector</a:t>
            </a:r>
            <a:r>
              <a:rPr lang="en-US" sz="1500" dirty="0">
                <a:solidFill>
                  <a:srgbClr val="E2E8F0"/>
                </a:solidFill>
                <a:latin typeface="Plus Jakarta Sans"/>
              </a:rPr>
              <a:t> (which determines which pods the </a:t>
            </a:r>
            <a:r>
              <a:rPr lang="en-US" sz="1500" dirty="0" err="1">
                <a:solidFill>
                  <a:srgbClr val="E2E8F0"/>
                </a:solidFill>
                <a:latin typeface="Plus Jakarta Sans"/>
              </a:rPr>
              <a:t>ReplicaSet</a:t>
            </a:r>
            <a:r>
              <a:rPr lang="en-US" sz="1500" dirty="0">
                <a:solidFill>
                  <a:srgbClr val="E2E8F0"/>
                </a:solidFill>
                <a:latin typeface="Plus Jakarta Sans"/>
              </a:rPr>
              <a:t> manages—though users typically interact with them indirectly through a Deployment rather than creating them standalone).</a:t>
            </a:r>
            <a:endParaRPr lang="en-US" sz="1500" b="0" i="0" u="none" dirty="0">
              <a:solidFill>
                <a:srgbClr val="E2E8F0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6605673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D958D9-2365-2F75-86F9-7780A2BCE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75A6547-EC45-DE24-DACC-C0549F447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082070-CA2E-760E-D3D9-170918ADAB12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Defining a </a:t>
            </a:r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ReplicaSet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 (YAML Manifest)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AEA9DF-0166-557F-55BC-506220E84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684" y="1600041"/>
            <a:ext cx="6134632" cy="36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9558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9260D7-2EBC-D3EE-ADC5-8B8BAA941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09307BF5-D31C-CC89-E217-ABED991DA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8C2719-B36F-81B4-A98E-20093E879184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Kubectl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ReplicaSets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 Cheat Sheet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3928BE-17A7-BE2A-12A5-C5F1C92B3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745" y="1232996"/>
            <a:ext cx="6458510" cy="53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7942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EC4DE8-AA0C-DF52-54E7-107B494C7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A22853C3-4021-8DD0-54BB-FDB84833B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6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A947B2-A04C-5422-BC1C-A09AA0FF3060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What is a Deployment?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6706BA-CFAC-8FFD-04CB-8177B67F47C4}"/>
              </a:ext>
            </a:extLst>
          </p:cNvPr>
          <p:cNvSpPr txBox="1"/>
          <p:nvPr/>
        </p:nvSpPr>
        <p:spPr>
          <a:xfrm>
            <a:off x="628650" y="1895475"/>
            <a:ext cx="10001250" cy="861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325"/>
              </a:lnSpc>
            </a:pPr>
            <a:r>
              <a:rPr lang="en-US" sz="1500" dirty="0">
                <a:solidFill>
                  <a:srgbClr val="E2E8F0"/>
                </a:solidFill>
                <a:latin typeface="Plus Jakarta Sans"/>
              </a:rPr>
              <a:t>A Kubernetes Deployment manages stateless application workloads by ensuring that a specified number of identical Pod replicas are running and healthy across the cluster at any given time.</a:t>
            </a:r>
          </a:p>
          <a:p>
            <a:pPr>
              <a:lnSpc>
                <a:spcPts val="2325"/>
              </a:lnSpc>
            </a:pPr>
            <a:endParaRPr lang="en-US" sz="1500" dirty="0">
              <a:solidFill>
                <a:srgbClr val="E2E8F0"/>
              </a:solidFill>
              <a:latin typeface="Plus Jakarta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872A74-E026-CAFF-6589-D3A4555E6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8995" y="3031079"/>
            <a:ext cx="7354011" cy="314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4164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E984BA-8535-A533-90C4-CA9D8DB36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DC06D2F-D554-7653-4D3E-D3D4CD238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F6398E-D394-DEA2-27C7-33B867FFD653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Deployment Definition (YAML Manifest)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6E6207-D81E-88B6-5974-8095EC6B0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690" y="1085393"/>
            <a:ext cx="3142620" cy="468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97173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6FB03-702B-AC98-F52D-D4CF6C5A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269F12D5-D9EF-3DCD-EEB8-88E4AB016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091A8E-2FDA-4BF3-19FA-0E6E4FBC4B38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Kubectl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 Deployment Cheat Sheet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339A46-CEDF-283D-FA2D-F72DC67B7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900" y="1489152"/>
            <a:ext cx="6344200" cy="48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569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1528AD-BEC2-1871-E385-42812952E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414E55B-0F20-05CC-1CEE-5A29F548C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6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D3A957-B141-362A-F637-6DE91B5BAE18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What is a </a:t>
            </a:r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DaemonSet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BE546A-930C-667C-8B4B-40E7B2153E65}"/>
              </a:ext>
            </a:extLst>
          </p:cNvPr>
          <p:cNvSpPr txBox="1"/>
          <p:nvPr/>
        </p:nvSpPr>
        <p:spPr>
          <a:xfrm>
            <a:off x="628650" y="1895475"/>
            <a:ext cx="10001250" cy="861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325"/>
              </a:lnSpc>
            </a:pPr>
            <a:r>
              <a:rPr lang="en-US" sz="1500" dirty="0">
                <a:solidFill>
                  <a:srgbClr val="E2E8F0"/>
                </a:solidFill>
                <a:latin typeface="Plus Jakarta Sans"/>
              </a:rPr>
              <a:t>A Kubernetes </a:t>
            </a:r>
            <a:r>
              <a:rPr lang="en-US" sz="1500" dirty="0" err="1">
                <a:solidFill>
                  <a:srgbClr val="E2E8F0"/>
                </a:solidFill>
                <a:latin typeface="Plus Jakarta Sans"/>
              </a:rPr>
              <a:t>DaemonSet</a:t>
            </a:r>
            <a:r>
              <a:rPr lang="en-US" sz="1500" dirty="0">
                <a:solidFill>
                  <a:srgbClr val="E2E8F0"/>
                </a:solidFill>
                <a:latin typeface="Plus Jakarta Sans"/>
              </a:rPr>
              <a:t> ensures that all (or specific) nodes run a single copy of a designated Pod, automatically deploying new pods as nodes join the cluster and cleaning them up when nodes are removed. It is primarily used for cluster-wide background services like log collection and node monitoring agents.</a:t>
            </a:r>
            <a:endParaRPr lang="en-US" sz="1500" b="0" i="0" u="none" dirty="0">
              <a:solidFill>
                <a:srgbClr val="E2E8F0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0400831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0EEFB1-8490-FA1E-3ADE-55AF2EB57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C63DE0A4-E36A-6290-FAF3-D74A5A935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38C54F-DC28-8047-A465-EA01C2BD6BE8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DaemonSet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 Definition (YAML Manifest)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CEE0C8-69BD-5234-D780-C3B855CD7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990" y="1323792"/>
            <a:ext cx="3696020" cy="421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273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DD24AD-EAF2-62CA-52FC-3A9E47A6E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BA31447-BA49-D72E-9176-2A33ABCC9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F03E01-F238-BDA1-16D4-02960CE7D800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Kubectl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DaemonSet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 Cheat Sheet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C40CB1-D7C0-252D-52DA-1C85D73CD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900" y="1496261"/>
            <a:ext cx="6344200" cy="4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941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F252C5-93F5-E386-2EE9-93806FD01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CE1E71F-E85C-D459-2661-9147179BD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6" y="-37407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E3EFC9-D260-D99B-6F4A-0E980B2EE17C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What is a Job?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FC6C43-F9B9-C0BC-95E7-E3026C8069AB}"/>
              </a:ext>
            </a:extLst>
          </p:cNvPr>
          <p:cNvSpPr txBox="1"/>
          <p:nvPr/>
        </p:nvSpPr>
        <p:spPr>
          <a:xfrm>
            <a:off x="628650" y="1895475"/>
            <a:ext cx="10001250" cy="861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325"/>
              </a:lnSpc>
            </a:pPr>
            <a:r>
              <a:rPr lang="en-US" sz="1500" dirty="0">
                <a:solidFill>
                  <a:srgbClr val="E2E8F0"/>
                </a:solidFill>
                <a:latin typeface="Plus Jakarta Sans"/>
              </a:rPr>
              <a:t>A Kubernetes Job creates one or more pods to run a finite task to completion, automatically retrying failed pods until a target number of successes is reached. The most critical settings are .</a:t>
            </a:r>
            <a:r>
              <a:rPr lang="en-US" sz="1500" dirty="0" err="1">
                <a:solidFill>
                  <a:srgbClr val="E2E8F0"/>
                </a:solidFill>
                <a:latin typeface="Plus Jakarta Sans"/>
              </a:rPr>
              <a:t>spec.completions</a:t>
            </a:r>
            <a:r>
              <a:rPr lang="en-US" sz="1500" dirty="0">
                <a:solidFill>
                  <a:srgbClr val="E2E8F0"/>
                </a:solidFill>
                <a:latin typeface="Plus Jakarta Sans"/>
              </a:rPr>
              <a:t> (which defines how many total successful pods are required).</a:t>
            </a:r>
            <a:endParaRPr lang="en-US" sz="1500" b="0" i="0" u="none" dirty="0">
              <a:solidFill>
                <a:srgbClr val="E2E8F0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462173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8C8656-01ED-1D9E-429F-C1D579264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508A2BB-B226-43B3-A91D-FDD9FD39B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DBF5AA-9919-85F8-45DC-010355F5AC85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Job Definition (YAML Manifest)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EDE71E-0C37-0A6F-3DE4-DA38D91EA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061" y="1519335"/>
            <a:ext cx="6931879" cy="381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1173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F67919-82BE-6B4D-2740-D208E25A8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F5992423-23F3-94F0-1520-C48209D53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89BC8E-FECB-46EA-638B-920EF5ED50A5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Kubectl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 Jobs Cheat Sheet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69217A-972C-6E68-13A6-05F20D94E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668" y="1252239"/>
            <a:ext cx="6294665" cy="48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4742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246EF-B9BF-8126-CD94-0985DDAB6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FB036F6A-AA5E-D71C-6E68-ED2948A13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6" y="-37407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BEE231-BCEA-6635-4C12-03681F25E202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What is a </a:t>
            </a:r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CronJob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9B07BF-EB39-25E9-1A0A-312F502B3C3C}"/>
              </a:ext>
            </a:extLst>
          </p:cNvPr>
          <p:cNvSpPr txBox="1"/>
          <p:nvPr/>
        </p:nvSpPr>
        <p:spPr>
          <a:xfrm>
            <a:off x="628650" y="1895475"/>
            <a:ext cx="10001250" cy="861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325"/>
              </a:lnSpc>
            </a:pPr>
            <a:r>
              <a:rPr lang="en-US" sz="1500" dirty="0">
                <a:solidFill>
                  <a:srgbClr val="E2E8F0"/>
                </a:solidFill>
                <a:latin typeface="Plus Jakarta Sans"/>
              </a:rPr>
              <a:t>A Kubernetes </a:t>
            </a:r>
            <a:r>
              <a:rPr lang="en-US" sz="1500" dirty="0" err="1">
                <a:solidFill>
                  <a:srgbClr val="E2E8F0"/>
                </a:solidFill>
                <a:latin typeface="Plus Jakarta Sans"/>
              </a:rPr>
              <a:t>CronJob</a:t>
            </a:r>
            <a:r>
              <a:rPr lang="en-US" sz="1500" dirty="0">
                <a:solidFill>
                  <a:srgbClr val="E2E8F0"/>
                </a:solidFill>
                <a:latin typeface="Plus Jakarta Sans"/>
              </a:rPr>
              <a:t> creates standard Jobs on a repeating schedule, functioning just like a traditional UNIX </a:t>
            </a:r>
            <a:r>
              <a:rPr lang="en-US" sz="1500" dirty="0" err="1">
                <a:solidFill>
                  <a:srgbClr val="E2E8F0"/>
                </a:solidFill>
                <a:latin typeface="Plus Jakarta Sans"/>
              </a:rPr>
              <a:t>cron</a:t>
            </a:r>
            <a:r>
              <a:rPr lang="en-US" sz="1500" dirty="0">
                <a:solidFill>
                  <a:srgbClr val="E2E8F0"/>
                </a:solidFill>
                <a:latin typeface="Plus Jakarta Sans"/>
              </a:rPr>
              <a:t> tab inside your cluster. The most important settings are the .</a:t>
            </a:r>
            <a:r>
              <a:rPr lang="en-US" sz="1500" dirty="0" err="1">
                <a:solidFill>
                  <a:srgbClr val="E2E8F0"/>
                </a:solidFill>
                <a:latin typeface="Plus Jakarta Sans"/>
              </a:rPr>
              <a:t>spec.schedule</a:t>
            </a:r>
            <a:r>
              <a:rPr lang="en-US" sz="1500" dirty="0">
                <a:solidFill>
                  <a:srgbClr val="E2E8F0"/>
                </a:solidFill>
                <a:latin typeface="Plus Jakarta Sans"/>
              </a:rPr>
              <a:t> (using standard </a:t>
            </a:r>
            <a:r>
              <a:rPr lang="en-US" sz="1500" dirty="0" err="1">
                <a:solidFill>
                  <a:srgbClr val="E2E8F0"/>
                </a:solidFill>
                <a:latin typeface="Plus Jakarta Sans"/>
              </a:rPr>
              <a:t>cron</a:t>
            </a:r>
            <a:r>
              <a:rPr lang="en-US" sz="1500" dirty="0">
                <a:solidFill>
                  <a:srgbClr val="E2E8F0"/>
                </a:solidFill>
                <a:latin typeface="Plus Jakarta Sans"/>
              </a:rPr>
              <a:t> syntax to define when the Job runs) and the .</a:t>
            </a:r>
            <a:r>
              <a:rPr lang="en-US" sz="1500" dirty="0" err="1">
                <a:solidFill>
                  <a:srgbClr val="E2E8F0"/>
                </a:solidFill>
                <a:latin typeface="Plus Jakarta Sans"/>
              </a:rPr>
              <a:t>spec.jobTemplate</a:t>
            </a:r>
            <a:r>
              <a:rPr lang="en-US" sz="1500" dirty="0">
                <a:solidFill>
                  <a:srgbClr val="E2E8F0"/>
                </a:solidFill>
                <a:latin typeface="Plus Jakarta Sans"/>
              </a:rPr>
              <a:t> (which contains the actual Job manifest to execute on each trigger)</a:t>
            </a:r>
            <a:endParaRPr lang="en-US" sz="1500" b="0" i="0" u="none" dirty="0">
              <a:solidFill>
                <a:srgbClr val="E2E8F0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34352436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0FEE8-86E7-EBCE-0FE9-FB0340CC9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569C16A-5A61-A50D-ECBF-2BFF8278A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3CB8A2-A584-79BF-65CE-6C248AC12CD7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CronJob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 Definition (YAML Manifest)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4198FA-B000-2A65-3FF0-CCEB66D74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9475" y="1469842"/>
            <a:ext cx="6493050" cy="391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843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6328B1-296C-C4EE-3461-7150B877B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F36400A8-1BA9-EBD7-F271-444833384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E873B2-D0B7-9C30-6338-C4ADBDCE3999}"/>
              </a:ext>
            </a:extLst>
          </p:cNvPr>
          <p:cNvSpPr txBox="1"/>
          <p:nvPr/>
        </p:nvSpPr>
        <p:spPr>
          <a:xfrm>
            <a:off x="628650" y="533400"/>
            <a:ext cx="1148143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Kubectl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Space Grotesk"/>
              </a:rPr>
              <a:t>CronJob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 Cheat Sheet</a:t>
            </a:r>
            <a:endParaRPr sz="3600" b="1" i="0" u="none" dirty="0">
              <a:solidFill>
                <a:srgbClr val="FFFFFF"/>
              </a:solidFill>
              <a:latin typeface="Space Grotes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0E536D-08D0-EA03-0D29-C500FB057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900" y="1466680"/>
            <a:ext cx="6344200" cy="392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814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20179</TotalTime>
  <Words>3058</Words>
  <Application>Microsoft Office PowerPoint</Application>
  <PresentationFormat>Widescreen</PresentationFormat>
  <Paragraphs>212</Paragraphs>
  <Slides>77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3" baseType="lpstr">
      <vt:lpstr>Aptos</vt:lpstr>
      <vt:lpstr>Arial</vt:lpstr>
      <vt:lpstr>Calibri</vt:lpstr>
      <vt:lpstr>Plus Jakarta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Neshev, Georgi</cp:lastModifiedBy>
  <cp:revision>231</cp:revision>
  <dcterms:created xsi:type="dcterms:W3CDTF">2013-01-27T09:14:16Z</dcterms:created>
  <dcterms:modified xsi:type="dcterms:W3CDTF">2026-09-27T12:53:34Z</dcterms:modified>
  <cp:category/>
</cp:coreProperties>
</file>