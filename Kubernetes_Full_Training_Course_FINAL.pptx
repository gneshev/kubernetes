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8"/>
  </p:notesMasterIdLst>
  <p:sldIdLst>
    <p:sldId id="256" r:id="rId2"/>
    <p:sldId id="257" r:id="rId3"/>
    <p:sldId id="258" r:id="rId4"/>
    <p:sldId id="259" r:id="rId5"/>
    <p:sldId id="260" r:id="rId6"/>
    <p:sldId id="261" r:id="rId7"/>
    <p:sldId id="263" r:id="rId8"/>
    <p:sldId id="264" r:id="rId9"/>
    <p:sldId id="265" r:id="rId10"/>
    <p:sldId id="262"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32"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3" r:id="rId77"/>
    <p:sldId id="334" r:id="rId78"/>
    <p:sldId id="335" r:id="rId79"/>
    <p:sldId id="336" r:id="rId80"/>
    <p:sldId id="337" r:id="rId81"/>
    <p:sldId id="338" r:id="rId82"/>
    <p:sldId id="339" r:id="rId83"/>
    <p:sldId id="340" r:id="rId84"/>
    <p:sldId id="341" r:id="rId85"/>
    <p:sldId id="342" r:id="rId86"/>
    <p:sldId id="330" r:id="rId87"/>
    <p:sldId id="343" r:id="rId88"/>
    <p:sldId id="344" r:id="rId89"/>
    <p:sldId id="345" r:id="rId90"/>
    <p:sldId id="346" r:id="rId91"/>
    <p:sldId id="347" r:id="rId92"/>
    <p:sldId id="348" r:id="rId93"/>
    <p:sldId id="349" r:id="rId94"/>
    <p:sldId id="350" r:id="rId95"/>
    <p:sldId id="351" r:id="rId96"/>
    <p:sldId id="352" r:id="rId9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lling Updates" id="{3FF16A6F-535F-46E3-8BC8-94B06DBB19DC}">
          <p14:sldIdLst>
            <p14:sldId id="256"/>
            <p14:sldId id="257"/>
            <p14:sldId id="258"/>
            <p14:sldId id="259"/>
            <p14:sldId id="260"/>
            <p14:sldId id="261"/>
            <p14:sldId id="263"/>
            <p14:sldId id="264"/>
            <p14:sldId id="265"/>
            <p14:sldId id="262"/>
            <p14:sldId id="266"/>
            <p14:sldId id="267"/>
            <p14:sldId id="268"/>
            <p14:sldId id="269"/>
            <p14:sldId id="270"/>
            <p14:sldId id="271"/>
            <p14:sldId id="272"/>
            <p14:sldId id="273"/>
            <p14:sldId id="274"/>
            <p14:sldId id="275"/>
            <p14:sldId id="276"/>
            <p14:sldId id="277"/>
            <p14:sldId id="278"/>
            <p14:sldId id="279"/>
          </p14:sldIdLst>
        </p14:section>
        <p14:section name="Services" id="{7D4231E7-0A72-4007-B8EB-2E3FCACC78FF}">
          <p14:sldIdLst>
            <p14:sldId id="280"/>
            <p14:sldId id="281"/>
            <p14:sldId id="282"/>
            <p14:sldId id="283"/>
            <p14:sldId id="284"/>
            <p14:sldId id="285"/>
            <p14:sldId id="286"/>
            <p14:sldId id="287"/>
            <p14:sldId id="288"/>
            <p14:sldId id="289"/>
            <p14:sldId id="290"/>
            <p14:sldId id="291"/>
            <p14:sldId id="292"/>
            <p14:sldId id="293"/>
            <p14:sldId id="294"/>
          </p14:sldIdLst>
        </p14:section>
        <p14:section name="Storage and persistence" id="{EF49D848-556A-4145-BD18-7AFCED9E3090}">
          <p14:sldIdLst>
            <p14:sldId id="295"/>
            <p14:sldId id="296"/>
            <p14:sldId id="297"/>
            <p14:sldId id="298"/>
            <p14:sldId id="332"/>
            <p14:sldId id="299"/>
            <p14:sldId id="300"/>
            <p14:sldId id="301"/>
            <p14:sldId id="302"/>
            <p14:sldId id="303"/>
            <p14:sldId id="304"/>
            <p14:sldId id="305"/>
            <p14:sldId id="306"/>
            <p14:sldId id="307"/>
            <p14:sldId id="308"/>
            <p14:sldId id="309"/>
            <p14:sldId id="310"/>
          </p14:sldIdLst>
        </p14:section>
        <p14:section name="Configmaps" id="{81FD7E4E-38CB-454A-96EC-E5DE7A313C7A}">
          <p14:sldIdLst>
            <p14:sldId id="311"/>
            <p14:sldId id="312"/>
            <p14:sldId id="313"/>
            <p14:sldId id="314"/>
            <p14:sldId id="315"/>
            <p14:sldId id="316"/>
            <p14:sldId id="317"/>
            <p14:sldId id="318"/>
            <p14:sldId id="319"/>
          </p14:sldIdLst>
        </p14:section>
        <p14:section name="Secrets" id="{81CA3027-D775-4801-AE35-305A78C847EC}">
          <p14:sldIdLst>
            <p14:sldId id="320"/>
            <p14:sldId id="321"/>
            <p14:sldId id="322"/>
            <p14:sldId id="323"/>
            <p14:sldId id="324"/>
            <p14:sldId id="325"/>
            <p14:sldId id="326"/>
            <p14:sldId id="327"/>
            <p14:sldId id="328"/>
            <p14:sldId id="329"/>
          </p14:sldIdLst>
        </p14:section>
        <p14:section name="RBAC" id="{BDBAF138-7096-4940-9328-292E51C7BE71}">
          <p14:sldIdLst>
            <p14:sldId id="333"/>
            <p14:sldId id="334"/>
            <p14:sldId id="335"/>
            <p14:sldId id="336"/>
            <p14:sldId id="337"/>
            <p14:sldId id="338"/>
            <p14:sldId id="339"/>
            <p14:sldId id="340"/>
            <p14:sldId id="341"/>
            <p14:sldId id="342"/>
            <p14:sldId id="330"/>
            <p14:sldId id="343"/>
            <p14:sldId id="344"/>
            <p14:sldId id="345"/>
            <p14:sldId id="346"/>
            <p14:sldId id="347"/>
            <p14:sldId id="348"/>
            <p14:sldId id="349"/>
            <p14:sldId id="350"/>
            <p14:sldId id="351"/>
            <p14:sldId id="35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65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3D223D-5EAB-43A0-88AC-F482335EC98A}"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F23B88-A644-4D4B-9088-FB73E1E78759}" type="slidenum">
              <a:rPr lang="en-US" smtClean="0"/>
              <a:t>‹#›</a:t>
            </a:fld>
            <a:endParaRPr lang="en-US"/>
          </a:p>
        </p:txBody>
      </p:sp>
    </p:spTree>
    <p:extLst>
      <p:ext uri="{BB962C8B-B14F-4D97-AF65-F5344CB8AC3E}">
        <p14:creationId xmlns:p14="http://schemas.microsoft.com/office/powerpoint/2010/main" val="3256380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F23B88-A644-4D4B-9088-FB73E1E78759}" type="slidenum">
              <a:rPr lang="en-US" smtClean="0"/>
              <a:t>10</a:t>
            </a:fld>
            <a:endParaRPr lang="en-US"/>
          </a:p>
        </p:txBody>
      </p:sp>
    </p:spTree>
    <p:extLst>
      <p:ext uri="{BB962C8B-B14F-4D97-AF65-F5344CB8AC3E}">
        <p14:creationId xmlns:p14="http://schemas.microsoft.com/office/powerpoint/2010/main" val="1096509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4D364-5FA6-41DF-AF88-20715E0E6692}" type="slidenum">
              <a:rPr lang="en-US" smtClean="0"/>
              <a:t>80</a:t>
            </a:fld>
            <a:endParaRPr lang="en-US"/>
          </a:p>
        </p:txBody>
      </p:sp>
    </p:spTree>
    <p:extLst>
      <p:ext uri="{BB962C8B-B14F-4D97-AF65-F5344CB8AC3E}">
        <p14:creationId xmlns:p14="http://schemas.microsoft.com/office/powerpoint/2010/main" val="575125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Rolling Updates</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Updating applications without </a:t>
            </a:r>
            <a:r>
              <a:rPr lang="en-US" sz="1600" dirty="0">
                <a:solidFill>
                  <a:srgbClr val="51E0FF"/>
                </a:solidFill>
                <a:latin typeface="Plus Jakarta Sans"/>
              </a:rPr>
              <a:t>taking them offline</a:t>
            </a:r>
            <a:endParaRPr sz="1600" b="0" dirty="0">
              <a:solidFill>
                <a:srgbClr val="51E0FF"/>
              </a:solidFill>
              <a:latin typeface="Plus Jakarta Sans"/>
            </a:endParaRPr>
          </a:p>
        </p:txBody>
      </p:sp>
      <p:sp>
        <p:nvSpPr>
          <p:cNvPr id="12" name="TextBox 11"/>
          <p:cNvSpPr txBox="1"/>
          <p:nvPr/>
        </p:nvSpPr>
        <p:spPr>
          <a:xfrm>
            <a:off x="1025872" y="5425000"/>
            <a:ext cx="10050000" cy="384721"/>
          </a:xfrm>
          <a:prstGeom prst="rect">
            <a:avLst/>
          </a:prstGeom>
          <a:noFill/>
        </p:spPr>
        <p:txBody>
          <a:bodyPr wrap="square" lIns="27432" tIns="0" rIns="27432" bIns="0">
            <a:spAutoFit/>
          </a:bodyPr>
          <a:lstStyle/>
          <a:p>
            <a:pPr algn="l"/>
            <a:r>
              <a:rPr lang="en-US" sz="1250" b="0" dirty="0">
                <a:solidFill>
                  <a:srgbClr val="99A6B7"/>
                </a:solidFill>
                <a:latin typeface="Plus Jakarta Sans"/>
              </a:rPr>
              <a:t>What </a:t>
            </a:r>
            <a:r>
              <a:rPr sz="1250" b="0" dirty="0">
                <a:solidFill>
                  <a:srgbClr val="99A6B7"/>
                </a:solidFill>
                <a:latin typeface="Plus Jakarta Sans"/>
              </a:rPr>
              <a:t>happens if a production application has 10 Pods and the image needs to change</a:t>
            </a:r>
            <a:r>
              <a:rPr lang="en-US" sz="1250" dirty="0">
                <a:solidFill>
                  <a:srgbClr val="99A6B7"/>
                </a:solidFill>
                <a:latin typeface="Plus Jakarta Sans"/>
              </a:rPr>
              <a:t>? </a:t>
            </a:r>
            <a:br>
              <a:rPr lang="en-US" sz="1250" dirty="0">
                <a:solidFill>
                  <a:srgbClr val="99A6B7"/>
                </a:solidFill>
                <a:latin typeface="Plus Jakarta Sans"/>
              </a:rPr>
            </a:br>
            <a:r>
              <a:rPr lang="en-US" sz="1250" dirty="0">
                <a:solidFill>
                  <a:srgbClr val="99A6B7"/>
                </a:solidFill>
                <a:latin typeface="Plus Jakarta Sans"/>
              </a:rPr>
              <a:t>G</a:t>
            </a:r>
            <a:r>
              <a:rPr sz="1250" b="0" dirty="0">
                <a:solidFill>
                  <a:srgbClr val="99A6B7"/>
                </a:solidFill>
                <a:latin typeface="Plus Jakarta Sans"/>
              </a:rPr>
              <a:t>oal: understand how Kubernetes replaces those Pods safely and how operators observe and recover the rollout.</a:t>
            </a:r>
          </a:p>
        </p:txBody>
      </p:sp>
      <p:sp>
        <p:nvSpPr>
          <p:cNvPr id="6" name="TextBox 5">
            <a:extLst>
              <a:ext uri="{FF2B5EF4-FFF2-40B4-BE49-F238E27FC236}">
                <a16:creationId xmlns:a16="http://schemas.microsoft.com/office/drawing/2014/main" id="{4748AAE4-9ED6-13F9-9FA8-AB4304CEA3E7}"/>
              </a:ext>
            </a:extLst>
          </p:cNvPr>
          <p:cNvSpPr txBox="1"/>
          <p:nvPr/>
        </p:nvSpPr>
        <p:spPr>
          <a:xfrm>
            <a:off x="628650" y="1881137"/>
            <a:ext cx="9144000" cy="1097280"/>
          </a:xfrm>
          <a:prstGeom prst="rect">
            <a:avLst/>
          </a:prstGeom>
          <a:noFill/>
        </p:spPr>
        <p:txBody>
          <a:bodyPr wrap="square" anchor="t">
            <a:spAutoFit/>
          </a:bodyPr>
          <a:lstStyle/>
          <a:p>
            <a:pPr algn="l"/>
            <a:r>
              <a:rPr sz="1900" b="0" dirty="0">
                <a:solidFill>
                  <a:srgbClr val="CCD3DE"/>
                </a:solidFill>
                <a:latin typeface="Plus Jakarta Sans"/>
              </a:rPr>
              <a:t>A Deployment can replace an old application version with a new one gradually, keeping application instances available during the change.</a:t>
            </a:r>
          </a:p>
        </p:txBody>
      </p:sp>
      <p:sp>
        <p:nvSpPr>
          <p:cNvPr id="17" name="Rounded Rectangle 11">
            <a:extLst>
              <a:ext uri="{FF2B5EF4-FFF2-40B4-BE49-F238E27FC236}">
                <a16:creationId xmlns:a16="http://schemas.microsoft.com/office/drawing/2014/main" id="{36F07A6E-B68E-BB61-2F63-A4350C0608E9}"/>
              </a:ext>
            </a:extLst>
          </p:cNvPr>
          <p:cNvSpPr/>
          <p:nvPr/>
        </p:nvSpPr>
        <p:spPr>
          <a:xfrm>
            <a:off x="68580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1">
            <a:extLst>
              <a:ext uri="{FF2B5EF4-FFF2-40B4-BE49-F238E27FC236}">
                <a16:creationId xmlns:a16="http://schemas.microsoft.com/office/drawing/2014/main" id="{934C5021-F958-0FB0-0374-AE20F24F07AF}"/>
              </a:ext>
            </a:extLst>
          </p:cNvPr>
          <p:cNvSpPr/>
          <p:nvPr/>
        </p:nvSpPr>
        <p:spPr>
          <a:xfrm>
            <a:off x="387477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1">
            <a:extLst>
              <a:ext uri="{FF2B5EF4-FFF2-40B4-BE49-F238E27FC236}">
                <a16:creationId xmlns:a16="http://schemas.microsoft.com/office/drawing/2014/main" id="{FD32325E-6720-B29F-00D8-3F791E8F0EDB}"/>
              </a:ext>
            </a:extLst>
          </p:cNvPr>
          <p:cNvSpPr/>
          <p:nvPr/>
        </p:nvSpPr>
        <p:spPr>
          <a:xfrm>
            <a:off x="706374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E5ACEF36-BAD8-4438-1A5C-D83F7E243AAD}"/>
              </a:ext>
            </a:extLst>
          </p:cNvPr>
          <p:cNvSpPr txBox="1"/>
          <p:nvPr/>
        </p:nvSpPr>
        <p:spPr>
          <a:xfrm>
            <a:off x="828675" y="2916936"/>
            <a:ext cx="2322576" cy="320040"/>
          </a:xfrm>
          <a:prstGeom prst="rect">
            <a:avLst/>
          </a:prstGeom>
          <a:noFill/>
        </p:spPr>
        <p:txBody>
          <a:bodyPr wrap="square" anchor="t">
            <a:spAutoFit/>
          </a:bodyPr>
          <a:lstStyle/>
          <a:p>
            <a:pPr algn="l"/>
            <a:r>
              <a:rPr sz="1500" b="1" dirty="0">
                <a:solidFill>
                  <a:srgbClr val="25C7FF"/>
                </a:solidFill>
                <a:latin typeface="Space Grotesk"/>
              </a:rPr>
              <a:t>1</a:t>
            </a:r>
          </a:p>
        </p:txBody>
      </p:sp>
      <p:sp>
        <p:nvSpPr>
          <p:cNvPr id="25" name="TextBox 24">
            <a:extLst>
              <a:ext uri="{FF2B5EF4-FFF2-40B4-BE49-F238E27FC236}">
                <a16:creationId xmlns:a16="http://schemas.microsoft.com/office/drawing/2014/main" id="{1BD61E48-1B0F-898F-F52A-79D2EE2690DA}"/>
              </a:ext>
            </a:extLst>
          </p:cNvPr>
          <p:cNvSpPr txBox="1"/>
          <p:nvPr/>
        </p:nvSpPr>
        <p:spPr>
          <a:xfrm>
            <a:off x="3950334" y="2916936"/>
            <a:ext cx="2322576" cy="320040"/>
          </a:xfrm>
          <a:prstGeom prst="rect">
            <a:avLst/>
          </a:prstGeom>
          <a:noFill/>
        </p:spPr>
        <p:txBody>
          <a:bodyPr wrap="square" anchor="t">
            <a:spAutoFit/>
          </a:bodyPr>
          <a:lstStyle/>
          <a:p>
            <a:pPr algn="l"/>
            <a:r>
              <a:rPr sz="1500" b="1" dirty="0">
                <a:solidFill>
                  <a:srgbClr val="8CF7D7"/>
                </a:solidFill>
                <a:latin typeface="Space Grotesk"/>
              </a:rPr>
              <a:t>2</a:t>
            </a:r>
          </a:p>
        </p:txBody>
      </p:sp>
      <p:sp>
        <p:nvSpPr>
          <p:cNvPr id="27" name="TextBox 26">
            <a:extLst>
              <a:ext uri="{FF2B5EF4-FFF2-40B4-BE49-F238E27FC236}">
                <a16:creationId xmlns:a16="http://schemas.microsoft.com/office/drawing/2014/main" id="{D9524D72-DE76-3A9D-7FF0-A4B450AFDB29}"/>
              </a:ext>
            </a:extLst>
          </p:cNvPr>
          <p:cNvSpPr txBox="1"/>
          <p:nvPr/>
        </p:nvSpPr>
        <p:spPr>
          <a:xfrm>
            <a:off x="7139304" y="2916936"/>
            <a:ext cx="2322576" cy="320040"/>
          </a:xfrm>
          <a:prstGeom prst="rect">
            <a:avLst/>
          </a:prstGeom>
          <a:noFill/>
        </p:spPr>
        <p:txBody>
          <a:bodyPr wrap="square" anchor="t">
            <a:spAutoFit/>
          </a:bodyPr>
          <a:lstStyle/>
          <a:p>
            <a:pPr algn="l"/>
            <a:r>
              <a:rPr sz="1500" b="1" dirty="0">
                <a:solidFill>
                  <a:srgbClr val="25C7FF"/>
                </a:solidFill>
                <a:latin typeface="Space Grotesk"/>
              </a:rPr>
              <a:t>3</a:t>
            </a:r>
          </a:p>
        </p:txBody>
      </p:sp>
      <p:sp>
        <p:nvSpPr>
          <p:cNvPr id="29" name="TextBox 28">
            <a:extLst>
              <a:ext uri="{FF2B5EF4-FFF2-40B4-BE49-F238E27FC236}">
                <a16:creationId xmlns:a16="http://schemas.microsoft.com/office/drawing/2014/main" id="{DD664B68-803C-A561-4E61-0EA59B4F996F}"/>
              </a:ext>
            </a:extLst>
          </p:cNvPr>
          <p:cNvSpPr txBox="1"/>
          <p:nvPr/>
        </p:nvSpPr>
        <p:spPr>
          <a:xfrm>
            <a:off x="850392" y="3291839"/>
            <a:ext cx="2322576" cy="731519"/>
          </a:xfrm>
          <a:prstGeom prst="rect">
            <a:avLst/>
          </a:prstGeom>
          <a:noFill/>
        </p:spPr>
        <p:txBody>
          <a:bodyPr wrap="square" anchor="t">
            <a:spAutoFit/>
          </a:bodyPr>
          <a:lstStyle/>
          <a:p>
            <a:pPr algn="l"/>
            <a:r>
              <a:rPr sz="1200" b="0" dirty="0">
                <a:solidFill>
                  <a:srgbClr val="CCD3DE"/>
                </a:solidFill>
                <a:latin typeface="Plus Jakarta Sans"/>
              </a:rPr>
              <a:t>Start with the current version</a:t>
            </a:r>
          </a:p>
        </p:txBody>
      </p:sp>
      <p:sp>
        <p:nvSpPr>
          <p:cNvPr id="31" name="TextBox 30">
            <a:extLst>
              <a:ext uri="{FF2B5EF4-FFF2-40B4-BE49-F238E27FC236}">
                <a16:creationId xmlns:a16="http://schemas.microsoft.com/office/drawing/2014/main" id="{48A2A40C-33CB-D744-C721-B3F48ECE0A10}"/>
              </a:ext>
            </a:extLst>
          </p:cNvPr>
          <p:cNvSpPr txBox="1"/>
          <p:nvPr/>
        </p:nvSpPr>
        <p:spPr>
          <a:xfrm>
            <a:off x="3969590" y="3291839"/>
            <a:ext cx="2322576" cy="731519"/>
          </a:xfrm>
          <a:prstGeom prst="rect">
            <a:avLst/>
          </a:prstGeom>
          <a:noFill/>
        </p:spPr>
        <p:txBody>
          <a:bodyPr wrap="square" anchor="t">
            <a:spAutoFit/>
          </a:bodyPr>
          <a:lstStyle/>
          <a:p>
            <a:pPr algn="l"/>
            <a:r>
              <a:rPr sz="1200" b="0" dirty="0">
                <a:solidFill>
                  <a:srgbClr val="CCD3DE"/>
                </a:solidFill>
                <a:latin typeface="Plus Jakarta Sans"/>
              </a:rPr>
              <a:t>Create new version gradually</a:t>
            </a:r>
          </a:p>
        </p:txBody>
      </p:sp>
      <p:sp>
        <p:nvSpPr>
          <p:cNvPr id="33" name="TextBox 32">
            <a:extLst>
              <a:ext uri="{FF2B5EF4-FFF2-40B4-BE49-F238E27FC236}">
                <a16:creationId xmlns:a16="http://schemas.microsoft.com/office/drawing/2014/main" id="{25417823-D66A-B6CA-DDF3-B4B527A54DB9}"/>
              </a:ext>
            </a:extLst>
          </p:cNvPr>
          <p:cNvSpPr txBox="1"/>
          <p:nvPr/>
        </p:nvSpPr>
        <p:spPr>
          <a:xfrm>
            <a:off x="7063740" y="3291839"/>
            <a:ext cx="2322576" cy="731519"/>
          </a:xfrm>
          <a:prstGeom prst="rect">
            <a:avLst/>
          </a:prstGeom>
          <a:noFill/>
        </p:spPr>
        <p:txBody>
          <a:bodyPr wrap="square" anchor="t">
            <a:spAutoFit/>
          </a:bodyPr>
          <a:lstStyle/>
          <a:p>
            <a:pPr algn="l"/>
            <a:r>
              <a:rPr sz="1200" b="0" dirty="0">
                <a:solidFill>
                  <a:srgbClr val="CCD3DE"/>
                </a:solidFill>
                <a:latin typeface="Plus Jakarta Sans"/>
              </a:rPr>
              <a:t>Remove old version gradually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Why do we need Rolling Updates?</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A deployment change is </a:t>
            </a:r>
            <a:r>
              <a:rPr lang="en-US" sz="1600" b="0" dirty="0">
                <a:solidFill>
                  <a:srgbClr val="51E0FF"/>
                </a:solidFill>
                <a:latin typeface="Plus Jakarta Sans"/>
              </a:rPr>
              <a:t>an </a:t>
            </a:r>
            <a:r>
              <a:rPr sz="1600" b="0" dirty="0">
                <a:solidFill>
                  <a:srgbClr val="51E0FF"/>
                </a:solidFill>
                <a:latin typeface="Plus Jakarta Sans"/>
              </a:rPr>
              <a:t>operational risk unless replacement is controlled</a:t>
            </a:r>
          </a:p>
        </p:txBody>
      </p:sp>
      <p:sp>
        <p:nvSpPr>
          <p:cNvPr id="11" name="TextBox 10"/>
          <p:cNvSpPr txBox="1"/>
          <p:nvPr/>
        </p:nvSpPr>
        <p:spPr>
          <a:xfrm>
            <a:off x="628650" y="1950000"/>
            <a:ext cx="6100000" cy="2350000"/>
          </a:xfrm>
          <a:prstGeom prst="rect">
            <a:avLst/>
          </a:prstGeom>
          <a:noFill/>
        </p:spPr>
        <p:txBody>
          <a:bodyPr wrap="square" lIns="18288" tIns="0" rIns="18288" bIns="0">
            <a:spAutoFit/>
          </a:bodyPr>
          <a:lstStyle/>
          <a:p>
            <a:pPr>
              <a:spcAft>
                <a:spcPts val="700"/>
              </a:spcAft>
              <a:defRPr sz="1800">
                <a:solidFill>
                  <a:srgbClr val="D7DEE8"/>
                </a:solidFill>
                <a:latin typeface="Plus Jakarta Sans"/>
              </a:defRPr>
            </a:pPr>
            <a:r>
              <a:t>• A new image may contain a bug, configuration error, or startup failure.</a:t>
            </a:r>
          </a:p>
          <a:p>
            <a:pPr>
              <a:spcAft>
                <a:spcPts val="700"/>
              </a:spcAft>
              <a:defRPr sz="1800">
                <a:solidFill>
                  <a:srgbClr val="D7DEE8"/>
                </a:solidFill>
                <a:latin typeface="Plus Jakarta Sans"/>
              </a:defRPr>
            </a:pPr>
            <a:r>
              <a:t>• Stopping every old Pod before starting new Pods creates a visible outage.</a:t>
            </a:r>
          </a:p>
          <a:p>
            <a:pPr>
              <a:spcAft>
                <a:spcPts val="700"/>
              </a:spcAft>
              <a:defRPr sz="1800">
                <a:solidFill>
                  <a:srgbClr val="D7DEE8"/>
                </a:solidFill>
                <a:latin typeface="Plus Jakarta Sans"/>
              </a:defRPr>
            </a:pPr>
            <a:r>
              <a:t>• Replacing Pods one-by-one reduces the blast radius and keeps capacity available.</a:t>
            </a:r>
          </a:p>
          <a:p>
            <a:pPr>
              <a:spcAft>
                <a:spcPts val="700"/>
              </a:spcAft>
              <a:defRPr sz="1800">
                <a:solidFill>
                  <a:srgbClr val="D7DEE8"/>
                </a:solidFill>
                <a:latin typeface="Plus Jakarta Sans"/>
              </a:defRPr>
            </a:pPr>
            <a:r>
              <a:t>• Kubernetes continuously reconciles the desired state while the rollout is in progress.</a:t>
            </a:r>
          </a:p>
        </p:txBody>
      </p:sp>
      <p:sp>
        <p:nvSpPr>
          <p:cNvPr id="12" name="Rounded Rectangle 11"/>
          <p:cNvSpPr/>
          <p:nvPr/>
        </p:nvSpPr>
        <p:spPr>
          <a:xfrm>
            <a:off x="7199999" y="1999999"/>
            <a:ext cx="3875873" cy="2143375"/>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Operational goal</a:t>
            </a:r>
          </a:p>
          <a:p>
            <a:pPr>
              <a:spcAft>
                <a:spcPts val="400"/>
              </a:spcAft>
              <a:defRPr sz="1500">
                <a:solidFill>
                  <a:srgbClr val="D7DEE8"/>
                </a:solidFill>
                <a:latin typeface="Plus Jakarta Sans"/>
              </a:defRPr>
            </a:pPr>
            <a:r>
              <a:rPr dirty="0"/>
              <a:t>Replace old Pods gradually</a:t>
            </a:r>
          </a:p>
          <a:p>
            <a:pPr>
              <a:spcAft>
                <a:spcPts val="400"/>
              </a:spcAft>
              <a:defRPr sz="1500">
                <a:solidFill>
                  <a:srgbClr val="D7DEE8"/>
                </a:solidFill>
                <a:latin typeface="Plus Jakarta Sans"/>
              </a:defRPr>
            </a:pPr>
            <a:r>
              <a:rPr dirty="0"/>
              <a:t>while maintaining enough healthy capacity.</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err="1">
                <a:solidFill>
                  <a:srgbClr val="99A6B7"/>
                </a:solidFill>
                <a:latin typeface="Plus Jakarta Sans"/>
              </a:rPr>
              <a:t>RollingUpdate</a:t>
            </a:r>
            <a:r>
              <a:rPr sz="1250" b="0" dirty="0">
                <a:solidFill>
                  <a:srgbClr val="99A6B7"/>
                </a:solidFill>
                <a:latin typeface="Plus Jakarta Sans"/>
              </a:rPr>
              <a:t> is not a magic zero-downtime guarantee. Availability still depends on replicas, readiness, application behavior, capacity, and rollout settings.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Deployment recap</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Before understanding rollouts, we need the object model</a:t>
            </a:r>
          </a:p>
        </p:txBody>
      </p:sp>
      <p:sp>
        <p:nvSpPr>
          <p:cNvPr id="11" name="Rounded Rectangle 10"/>
          <p:cNvSpPr/>
          <p:nvPr/>
        </p:nvSpPr>
        <p:spPr>
          <a:xfrm>
            <a:off x="628650" y="1950000"/>
            <a:ext cx="3821350"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Deployment</a:t>
            </a:r>
          </a:p>
          <a:p>
            <a:pPr>
              <a:spcAft>
                <a:spcPts val="400"/>
              </a:spcAft>
              <a:defRPr sz="1600">
                <a:solidFill>
                  <a:srgbClr val="D7DEE8"/>
                </a:solidFill>
                <a:latin typeface="Plus Jakarta Sans"/>
              </a:defRPr>
            </a:pPr>
            <a:r>
              <a:rPr dirty="0"/>
              <a:t>Declares the desired application state:</a:t>
            </a:r>
          </a:p>
          <a:p>
            <a:pPr>
              <a:spcAft>
                <a:spcPts val="400"/>
              </a:spcAft>
              <a:defRPr sz="1600">
                <a:solidFill>
                  <a:srgbClr val="D7DEE8"/>
                </a:solidFill>
                <a:latin typeface="Plus Jakarta Sans"/>
              </a:defRPr>
            </a:pPr>
            <a:r>
              <a:rPr dirty="0"/>
              <a:t>image, replicas, Pod template, strategy.</a:t>
            </a:r>
          </a:p>
        </p:txBody>
      </p:sp>
      <p:sp>
        <p:nvSpPr>
          <p:cNvPr id="12" name="TextBox 11"/>
          <p:cNvSpPr txBox="1"/>
          <p:nvPr/>
        </p:nvSpPr>
        <p:spPr>
          <a:xfrm>
            <a:off x="4237898" y="2508000"/>
            <a:ext cx="900000" cy="500000"/>
          </a:xfrm>
          <a:prstGeom prst="rect">
            <a:avLst/>
          </a:prstGeom>
          <a:noFill/>
        </p:spPr>
        <p:txBody>
          <a:bodyPr wrap="square" lIns="27432" tIns="0" rIns="27432" bIns="0">
            <a:spAutoFit/>
          </a:bodyPr>
          <a:lstStyle/>
          <a:p>
            <a:pPr algn="ctr"/>
            <a:r>
              <a:rPr sz="2600" b="1" dirty="0">
                <a:solidFill>
                  <a:srgbClr val="51E0FF"/>
                </a:solidFill>
                <a:latin typeface="Space Grotesk"/>
              </a:rPr>
              <a:t>→</a:t>
            </a:r>
          </a:p>
        </p:txBody>
      </p:sp>
      <p:sp>
        <p:nvSpPr>
          <p:cNvPr id="13" name="Rounded Rectangle 12"/>
          <p:cNvSpPr/>
          <p:nvPr/>
        </p:nvSpPr>
        <p:spPr>
          <a:xfrm>
            <a:off x="5062774" y="1950000"/>
            <a:ext cx="3636726"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3B4FF"/>
                </a:solidFill>
                <a:latin typeface="Space Grotesk"/>
              </a:rPr>
              <a:t>ReplicaSet</a:t>
            </a:r>
            <a:endParaRPr sz="1800" b="1" dirty="0">
              <a:solidFill>
                <a:srgbClr val="73B4FF"/>
              </a:solidFill>
              <a:latin typeface="Space Grotesk"/>
            </a:endParaRPr>
          </a:p>
          <a:p>
            <a:pPr>
              <a:spcAft>
                <a:spcPts val="400"/>
              </a:spcAft>
              <a:defRPr sz="1600">
                <a:solidFill>
                  <a:srgbClr val="D7DEE8"/>
                </a:solidFill>
                <a:latin typeface="Plus Jakarta Sans"/>
              </a:defRPr>
            </a:pPr>
            <a:r>
              <a:rPr dirty="0"/>
              <a:t>Maintains the requested number of</a:t>
            </a:r>
          </a:p>
          <a:p>
            <a:pPr>
              <a:spcAft>
                <a:spcPts val="400"/>
              </a:spcAft>
              <a:defRPr sz="1600">
                <a:solidFill>
                  <a:srgbClr val="D7DEE8"/>
                </a:solidFill>
                <a:latin typeface="Plus Jakarta Sans"/>
              </a:defRPr>
            </a:pPr>
            <a:r>
              <a:rPr dirty="0"/>
              <a:t>matching Pods for a specific template.</a:t>
            </a:r>
          </a:p>
        </p:txBody>
      </p:sp>
      <p:sp>
        <p:nvSpPr>
          <p:cNvPr id="14" name="TextBox 13"/>
          <p:cNvSpPr txBox="1"/>
          <p:nvPr/>
        </p:nvSpPr>
        <p:spPr>
          <a:xfrm>
            <a:off x="8587398" y="2508000"/>
            <a:ext cx="700000" cy="500000"/>
          </a:xfrm>
          <a:prstGeom prst="rect">
            <a:avLst/>
          </a:prstGeom>
          <a:noFill/>
        </p:spPr>
        <p:txBody>
          <a:bodyPr wrap="square" lIns="27432" tIns="0" rIns="27432" bIns="0">
            <a:spAutoFit/>
          </a:bodyPr>
          <a:lstStyle/>
          <a:p>
            <a:pPr algn="ctr"/>
            <a:r>
              <a:rPr sz="2600" b="1" dirty="0">
                <a:solidFill>
                  <a:srgbClr val="51E0FF"/>
                </a:solidFill>
                <a:latin typeface="Space Grotesk"/>
              </a:rPr>
              <a:t>→</a:t>
            </a:r>
          </a:p>
        </p:txBody>
      </p:sp>
      <p:sp>
        <p:nvSpPr>
          <p:cNvPr id="15" name="Rounded Rectangle 14"/>
          <p:cNvSpPr/>
          <p:nvPr/>
        </p:nvSpPr>
        <p:spPr>
          <a:xfrm>
            <a:off x="9175295" y="1950000"/>
            <a:ext cx="2934789" cy="18704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70EBB1"/>
                </a:solidFill>
                <a:latin typeface="Space Grotesk"/>
              </a:rPr>
              <a:t>Pods</a:t>
            </a:r>
          </a:p>
          <a:p>
            <a:pPr>
              <a:spcAft>
                <a:spcPts val="400"/>
              </a:spcAft>
              <a:defRPr sz="1600">
                <a:solidFill>
                  <a:srgbClr val="D7DEE8"/>
                </a:solidFill>
                <a:latin typeface="Plus Jakarta Sans"/>
              </a:defRPr>
            </a:pPr>
            <a:r>
              <a:rPr dirty="0"/>
              <a:t>The actual</a:t>
            </a:r>
            <a:r>
              <a:rPr lang="en-US" dirty="0"/>
              <a:t> </a:t>
            </a:r>
            <a:r>
              <a:rPr dirty="0"/>
              <a:t>running instances.</a:t>
            </a:r>
          </a:p>
        </p:txBody>
      </p:sp>
      <p:sp>
        <p:nvSpPr>
          <p:cNvPr id="16" name="TextBox 15"/>
          <p:cNvSpPr txBox="1"/>
          <p:nvPr/>
        </p:nvSpPr>
        <p:spPr>
          <a:xfrm>
            <a:off x="628650" y="4100000"/>
            <a:ext cx="10001250" cy="500000"/>
          </a:xfrm>
          <a:prstGeom prst="rect">
            <a:avLst/>
          </a:prstGeom>
          <a:noFill/>
        </p:spPr>
        <p:txBody>
          <a:bodyPr wrap="square" lIns="27432" tIns="0" rIns="27432" bIns="0">
            <a:spAutoFit/>
          </a:bodyPr>
          <a:lstStyle/>
          <a:p>
            <a:pPr algn="ctr"/>
            <a:r>
              <a:rPr sz="2100" b="1">
                <a:solidFill>
                  <a:srgbClr val="F5F7FA"/>
                </a:solidFill>
                <a:latin typeface="Space Grotesk"/>
              </a:rPr>
              <a:t>Think: “I declare what I want; controllers make reality converge.”</a:t>
            </a:r>
          </a:p>
        </p:txBody>
      </p:sp>
      <p:sp>
        <p:nvSpPr>
          <p:cNvPr id="17" name="TextBox 16"/>
          <p:cNvSpPr txBox="1"/>
          <p:nvPr/>
        </p:nvSpPr>
        <p:spPr>
          <a:xfrm>
            <a:off x="1025872" y="5425000"/>
            <a:ext cx="10050000" cy="384721"/>
          </a:xfrm>
          <a:prstGeom prst="rect">
            <a:avLst/>
          </a:prstGeom>
          <a:noFill/>
        </p:spPr>
        <p:txBody>
          <a:bodyPr wrap="square" lIns="27432" tIns="0" rIns="27432" bIns="0">
            <a:spAutoFit/>
          </a:bodyPr>
          <a:lstStyle/>
          <a:p>
            <a:pPr algn="l"/>
            <a:r>
              <a:rPr sz="1250" b="0" dirty="0">
                <a:solidFill>
                  <a:srgbClr val="99A6B7"/>
                </a:solidFill>
                <a:latin typeface="Plus Jakarta Sans"/>
              </a:rPr>
              <a:t>The important point is that the Deployment does not directly manage individual Pods. </a:t>
            </a:r>
            <a:r>
              <a:rPr sz="1250" b="0" dirty="0" err="1">
                <a:solidFill>
                  <a:srgbClr val="99A6B7"/>
                </a:solidFill>
                <a:latin typeface="Plus Jakarta Sans"/>
              </a:rPr>
              <a:t>ReplicaSets</a:t>
            </a:r>
            <a:r>
              <a:rPr sz="1250" b="0" dirty="0">
                <a:solidFill>
                  <a:srgbClr val="99A6B7"/>
                </a:solidFill>
                <a:latin typeface="Plus Jakarta Sans"/>
              </a:rPr>
              <a:t> are the bridge, and each rollout creates a new </a:t>
            </a:r>
            <a:r>
              <a:rPr sz="1250" b="0" dirty="0" err="1">
                <a:solidFill>
                  <a:srgbClr val="99A6B7"/>
                </a:solidFill>
                <a:latin typeface="Plus Jakarta Sans"/>
              </a:rPr>
              <a:t>ReplicaSet</a:t>
            </a:r>
            <a:r>
              <a:rPr sz="1250" b="0" dirty="0">
                <a:solidFill>
                  <a:srgbClr val="99A6B7"/>
                </a:solidFill>
                <a:latin typeface="Plus Jakarta Sans"/>
              </a:rPr>
              <a:t> when the Pod template changes.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The mental model: two ReplicaSets during a rollout</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Old version and new version coexist temporarily</a:t>
            </a:r>
          </a:p>
        </p:txBody>
      </p:sp>
      <p:sp>
        <p:nvSpPr>
          <p:cNvPr id="11" name="Rounded Rectangle 10"/>
          <p:cNvSpPr/>
          <p:nvPr/>
        </p:nvSpPr>
        <p:spPr>
          <a:xfrm>
            <a:off x="900000" y="2050000"/>
            <a:ext cx="2700000" cy="1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Deployment</a:t>
            </a:r>
          </a:p>
          <a:p>
            <a:pPr>
              <a:spcAft>
                <a:spcPts val="400"/>
              </a:spcAft>
              <a:defRPr sz="1600">
                <a:solidFill>
                  <a:srgbClr val="D7DEE8"/>
                </a:solidFill>
                <a:latin typeface="Plus Jakarta Sans"/>
              </a:defRPr>
            </a:pPr>
            <a:r>
              <a:rPr dirty="0"/>
              <a:t>desired replicas = 3</a:t>
            </a:r>
          </a:p>
          <a:p>
            <a:pPr>
              <a:spcAft>
                <a:spcPts val="400"/>
              </a:spcAft>
              <a:defRPr sz="1600">
                <a:solidFill>
                  <a:srgbClr val="D7DEE8"/>
                </a:solidFill>
                <a:latin typeface="Plus Jakarta Sans"/>
              </a:defRPr>
            </a:pPr>
            <a:r>
              <a:rPr dirty="0"/>
              <a:t>strategy = </a:t>
            </a:r>
            <a:r>
              <a:rPr dirty="0" err="1"/>
              <a:t>RollingUpdate</a:t>
            </a:r>
            <a:endParaRPr dirty="0"/>
          </a:p>
        </p:txBody>
      </p:sp>
      <p:sp>
        <p:nvSpPr>
          <p:cNvPr id="12" name="TextBox 11"/>
          <p:cNvSpPr txBox="1"/>
          <p:nvPr/>
        </p:nvSpPr>
        <p:spPr>
          <a:xfrm>
            <a:off x="3650000" y="2600000"/>
            <a:ext cx="700000" cy="40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13" name="Rounded Rectangle 12"/>
          <p:cNvSpPr/>
          <p:nvPr/>
        </p:nvSpPr>
        <p:spPr>
          <a:xfrm>
            <a:off x="4450000" y="1900000"/>
            <a:ext cx="2900000" cy="13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3B4FF"/>
                </a:solidFill>
                <a:latin typeface="Space Grotesk"/>
              </a:rPr>
              <a:t>ReplicaSet</a:t>
            </a:r>
            <a:r>
              <a:rPr sz="1800" b="1" dirty="0">
                <a:solidFill>
                  <a:srgbClr val="73B4FF"/>
                </a:solidFill>
                <a:latin typeface="Space Grotesk"/>
              </a:rPr>
              <a:t> v1</a:t>
            </a:r>
          </a:p>
          <a:p>
            <a:pPr>
              <a:spcAft>
                <a:spcPts val="400"/>
              </a:spcAft>
              <a:defRPr sz="1600">
                <a:solidFill>
                  <a:srgbClr val="D7DEE8"/>
                </a:solidFill>
                <a:latin typeface="Plus Jakarta Sans"/>
              </a:defRPr>
            </a:pPr>
            <a:r>
              <a:rPr dirty="0"/>
              <a:t>3 × Pods running v1</a:t>
            </a:r>
          </a:p>
        </p:txBody>
      </p:sp>
      <p:sp>
        <p:nvSpPr>
          <p:cNvPr id="14" name="Rounded Rectangle 13"/>
          <p:cNvSpPr/>
          <p:nvPr/>
        </p:nvSpPr>
        <p:spPr>
          <a:xfrm>
            <a:off x="4450000" y="3500000"/>
            <a:ext cx="2900000" cy="13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ReplicaSet</a:t>
            </a:r>
            <a:r>
              <a:rPr sz="1800" b="1" dirty="0">
                <a:solidFill>
                  <a:srgbClr val="70EBB1"/>
                </a:solidFill>
                <a:latin typeface="Space Grotesk"/>
              </a:rPr>
              <a:t> v2</a:t>
            </a:r>
          </a:p>
          <a:p>
            <a:pPr>
              <a:spcAft>
                <a:spcPts val="400"/>
              </a:spcAft>
              <a:defRPr sz="1600">
                <a:solidFill>
                  <a:srgbClr val="D7DEE8"/>
                </a:solidFill>
                <a:latin typeface="Plus Jakarta Sans"/>
              </a:defRPr>
            </a:pPr>
            <a:r>
              <a:rPr dirty="0"/>
              <a:t>0 → 3 × Pods running v2</a:t>
            </a:r>
          </a:p>
        </p:txBody>
      </p:sp>
      <p:sp>
        <p:nvSpPr>
          <p:cNvPr id="15" name="TextBox 14"/>
          <p:cNvSpPr txBox="1"/>
          <p:nvPr/>
        </p:nvSpPr>
        <p:spPr>
          <a:xfrm>
            <a:off x="7550000" y="2400000"/>
            <a:ext cx="700000" cy="45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16" name="TextBox 15"/>
          <p:cNvSpPr txBox="1"/>
          <p:nvPr/>
        </p:nvSpPr>
        <p:spPr>
          <a:xfrm>
            <a:off x="7550000" y="3650000"/>
            <a:ext cx="700000" cy="45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17" name="Rounded Rectangle 16"/>
          <p:cNvSpPr/>
          <p:nvPr/>
        </p:nvSpPr>
        <p:spPr>
          <a:xfrm>
            <a:off x="8500000" y="2150000"/>
            <a:ext cx="430000" cy="33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18" name="Rounded Rectangle 17"/>
          <p:cNvSpPr/>
          <p:nvPr/>
        </p:nvSpPr>
        <p:spPr>
          <a:xfrm>
            <a:off x="9020000" y="2150000"/>
            <a:ext cx="430000" cy="33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19" name="Rounded Rectangle 18"/>
          <p:cNvSpPr/>
          <p:nvPr/>
        </p:nvSpPr>
        <p:spPr>
          <a:xfrm>
            <a:off x="9540000" y="2150000"/>
            <a:ext cx="430000" cy="33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20" name="Rounded Rectangle 19"/>
          <p:cNvSpPr/>
          <p:nvPr/>
        </p:nvSpPr>
        <p:spPr>
          <a:xfrm>
            <a:off x="8500000" y="3850000"/>
            <a:ext cx="430000" cy="33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21" name="Rounded Rectangle 20"/>
          <p:cNvSpPr/>
          <p:nvPr/>
        </p:nvSpPr>
        <p:spPr>
          <a:xfrm>
            <a:off x="9020000" y="3850000"/>
            <a:ext cx="430000" cy="33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22" name="Rounded Rectangle 21"/>
          <p:cNvSpPr/>
          <p:nvPr/>
        </p:nvSpPr>
        <p:spPr>
          <a:xfrm>
            <a:off x="9540000" y="3850000"/>
            <a:ext cx="430000" cy="33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23" name="TextBox 22"/>
          <p:cNvSpPr txBox="1"/>
          <p:nvPr/>
        </p:nvSpPr>
        <p:spPr>
          <a:xfrm>
            <a:off x="1025872" y="5425000"/>
            <a:ext cx="10050000" cy="384721"/>
          </a:xfrm>
          <a:prstGeom prst="rect">
            <a:avLst/>
          </a:prstGeom>
          <a:noFill/>
        </p:spPr>
        <p:txBody>
          <a:bodyPr wrap="square" lIns="27432" tIns="0" rIns="27432" bIns="0">
            <a:spAutoFit/>
          </a:bodyPr>
          <a:lstStyle/>
          <a:p>
            <a:pPr algn="l"/>
            <a:r>
              <a:rPr sz="1250" b="0" dirty="0">
                <a:solidFill>
                  <a:srgbClr val="99A6B7"/>
                </a:solidFill>
                <a:latin typeface="Plus Jakarta Sans"/>
              </a:rPr>
              <a:t>During a rollout, both </a:t>
            </a:r>
            <a:r>
              <a:rPr sz="1250" b="0" dirty="0" err="1">
                <a:solidFill>
                  <a:srgbClr val="99A6B7"/>
                </a:solidFill>
                <a:latin typeface="Plus Jakarta Sans"/>
              </a:rPr>
              <a:t>ReplicaSets</a:t>
            </a:r>
            <a:r>
              <a:rPr sz="1250" b="0" dirty="0">
                <a:solidFill>
                  <a:srgbClr val="99A6B7"/>
                </a:solidFill>
                <a:latin typeface="Plus Jakarta Sans"/>
              </a:rPr>
              <a:t> can have Pods. The Deployment scales the old </a:t>
            </a:r>
            <a:r>
              <a:rPr sz="1250" b="0" dirty="0" err="1">
                <a:solidFill>
                  <a:srgbClr val="99A6B7"/>
                </a:solidFill>
                <a:latin typeface="Plus Jakarta Sans"/>
              </a:rPr>
              <a:t>ReplicaSet</a:t>
            </a:r>
            <a:r>
              <a:rPr sz="1250" b="0" dirty="0">
                <a:solidFill>
                  <a:srgbClr val="99A6B7"/>
                </a:solidFill>
                <a:latin typeface="Plus Jakarta Sans"/>
              </a:rPr>
              <a:t> down and the new </a:t>
            </a:r>
            <a:r>
              <a:rPr sz="1250" b="0" dirty="0" err="1">
                <a:solidFill>
                  <a:srgbClr val="99A6B7"/>
                </a:solidFill>
                <a:latin typeface="Plus Jakarta Sans"/>
              </a:rPr>
              <a:t>ReplicaSet</a:t>
            </a:r>
            <a:r>
              <a:rPr sz="1250" b="0" dirty="0">
                <a:solidFill>
                  <a:srgbClr val="99A6B7"/>
                </a:solidFill>
                <a:latin typeface="Plus Jakarta Sans"/>
              </a:rPr>
              <a:t> up until the new version owns the desired replicas.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What is a Rolling Update?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Gradual replacement instead of all-at-once replacement</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FF7882"/>
                </a:solidFill>
                <a:latin typeface="Space Grotesk"/>
              </a:rPr>
              <a:t>Recreate</a:t>
            </a:r>
          </a:p>
          <a:p>
            <a:pPr>
              <a:spcAft>
                <a:spcPts val="400"/>
              </a:spcAft>
              <a:defRPr sz="1700">
                <a:solidFill>
                  <a:srgbClr val="D7DEE8"/>
                </a:solidFill>
                <a:latin typeface="Plus Jakarta Sans"/>
              </a:defRPr>
            </a:pPr>
            <a:r>
              <a:rPr dirty="0"/>
              <a:t>Old Pods are terminated first.</a:t>
            </a:r>
          </a:p>
          <a:p>
            <a:pPr>
              <a:spcAft>
                <a:spcPts val="400"/>
              </a:spcAft>
              <a:defRPr sz="1700">
                <a:solidFill>
                  <a:srgbClr val="D7DEE8"/>
                </a:solidFill>
                <a:latin typeface="Plus Jakarta Sans"/>
              </a:defRPr>
            </a:pPr>
            <a:r>
              <a:rPr dirty="0"/>
              <a:t>New Pods are created afterwards.</a:t>
            </a:r>
          </a:p>
          <a:p>
            <a:pPr>
              <a:spcAft>
                <a:spcPts val="400"/>
              </a:spcAft>
              <a:defRPr sz="1700">
                <a:solidFill>
                  <a:srgbClr val="D7DEE8"/>
                </a:solidFill>
                <a:latin typeface="Plus Jakarta Sans"/>
              </a:defRPr>
            </a:pPr>
            <a:r>
              <a:rPr dirty="0"/>
              <a:t>Simple, but causes downtime during replacement.</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RollingUpdate</a:t>
            </a:r>
            <a:endParaRPr sz="1800" b="1" dirty="0">
              <a:solidFill>
                <a:srgbClr val="70EBB1"/>
              </a:solidFill>
              <a:latin typeface="Space Grotesk"/>
            </a:endParaRPr>
          </a:p>
          <a:p>
            <a:pPr>
              <a:spcAft>
                <a:spcPts val="400"/>
              </a:spcAft>
              <a:defRPr sz="1700">
                <a:solidFill>
                  <a:srgbClr val="D7DEE8"/>
                </a:solidFill>
                <a:latin typeface="Plus Jakarta Sans"/>
              </a:defRPr>
            </a:pPr>
            <a:r>
              <a:rPr dirty="0"/>
              <a:t>Old and new Pods overlap.</a:t>
            </a:r>
          </a:p>
          <a:p>
            <a:pPr>
              <a:spcAft>
                <a:spcPts val="400"/>
              </a:spcAft>
              <a:defRPr sz="1700">
                <a:solidFill>
                  <a:srgbClr val="D7DEE8"/>
                </a:solidFill>
                <a:latin typeface="Plus Jakarta Sans"/>
              </a:defRPr>
            </a:pPr>
            <a:r>
              <a:rPr dirty="0"/>
              <a:t>Kubernetes gradually scales old down</a:t>
            </a:r>
          </a:p>
          <a:p>
            <a:pPr>
              <a:spcAft>
                <a:spcPts val="400"/>
              </a:spcAft>
              <a:defRPr sz="1700">
                <a:solidFill>
                  <a:srgbClr val="D7DEE8"/>
                </a:solidFill>
                <a:latin typeface="Plus Jakarta Sans"/>
              </a:defRPr>
            </a:pPr>
            <a:r>
              <a:rPr dirty="0"/>
              <a:t>and new up according to rollout limits.</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2000" b="1">
                <a:solidFill>
                  <a:srgbClr val="51E0FF"/>
                </a:solidFill>
                <a:latin typeface="Space Grotesk"/>
              </a:rPr>
              <a:t>RollingUpdate is the default Deployment strategy.</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Question: </a:t>
            </a:r>
            <a:r>
              <a:rPr sz="1250" b="0" dirty="0">
                <a:solidFill>
                  <a:srgbClr val="99A6B7"/>
                </a:solidFill>
                <a:latin typeface="Plus Jakarta Sans"/>
              </a:rPr>
              <a:t>when might Recreate still be acceptable? </a:t>
            </a:r>
            <a:endParaRPr lang="en-US" sz="1250" b="0" dirty="0">
              <a:solidFill>
                <a:srgbClr val="99A6B7"/>
              </a:solidFill>
              <a:latin typeface="Plus Jakart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What actually triggers a new rollout?</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 Pod template is the key</a:t>
            </a:r>
          </a:p>
        </p:txBody>
      </p:sp>
      <p:sp>
        <p:nvSpPr>
          <p:cNvPr id="11" name="Rounded Rectangle 10"/>
          <p:cNvSpPr/>
          <p:nvPr/>
        </p:nvSpPr>
        <p:spPr>
          <a:xfrm>
            <a:off x="628649" y="1950000"/>
            <a:ext cx="4605737"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Changes that trigger a new revision</a:t>
            </a:r>
          </a:p>
          <a:p>
            <a:pPr>
              <a:spcAft>
                <a:spcPts val="400"/>
              </a:spcAft>
              <a:defRPr sz="1600">
                <a:solidFill>
                  <a:srgbClr val="D7DEE8"/>
                </a:solidFill>
                <a:latin typeface="Plus Jakarta Sans"/>
              </a:defRPr>
            </a:pPr>
            <a:r>
              <a:rPr dirty="0"/>
              <a:t>Container image</a:t>
            </a:r>
          </a:p>
          <a:p>
            <a:pPr>
              <a:spcAft>
                <a:spcPts val="400"/>
              </a:spcAft>
              <a:defRPr sz="1600">
                <a:solidFill>
                  <a:srgbClr val="D7DEE8"/>
                </a:solidFill>
                <a:latin typeface="Plus Jakarta Sans"/>
              </a:defRPr>
            </a:pPr>
            <a:r>
              <a:rPr dirty="0"/>
              <a:t>Pod labels / annotations</a:t>
            </a:r>
          </a:p>
          <a:p>
            <a:pPr>
              <a:spcAft>
                <a:spcPts val="400"/>
              </a:spcAft>
              <a:defRPr sz="1600">
                <a:solidFill>
                  <a:srgbClr val="D7DEE8"/>
                </a:solidFill>
                <a:latin typeface="Plus Jakarta Sans"/>
              </a:defRPr>
            </a:pPr>
            <a:r>
              <a:rPr dirty="0"/>
              <a:t>Container configuration in .</a:t>
            </a:r>
            <a:r>
              <a:rPr dirty="0" err="1"/>
              <a:t>spec.template</a:t>
            </a:r>
            <a:endParaRPr dirty="0"/>
          </a:p>
          <a:p>
            <a:pPr>
              <a:spcAft>
                <a:spcPts val="400"/>
              </a:spcAft>
              <a:defRPr sz="1600">
                <a:solidFill>
                  <a:srgbClr val="D7DEE8"/>
                </a:solidFill>
                <a:latin typeface="Plus Jakarta Sans"/>
              </a:defRPr>
            </a:pPr>
            <a:r>
              <a:rPr dirty="0"/>
              <a:t>Other Pod-template changes</a:t>
            </a:r>
          </a:p>
        </p:txBody>
      </p:sp>
      <p:sp>
        <p:nvSpPr>
          <p:cNvPr id="12" name="Rounded Rectangle 11"/>
          <p:cNvSpPr/>
          <p:nvPr/>
        </p:nvSpPr>
        <p:spPr>
          <a:xfrm>
            <a:off x="6024163" y="1950000"/>
            <a:ext cx="4605737"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FFB866"/>
                </a:solidFill>
                <a:latin typeface="Space Grotesk"/>
              </a:rPr>
              <a:t>Changes that do NOT create a new revision</a:t>
            </a:r>
          </a:p>
          <a:p>
            <a:pPr>
              <a:spcAft>
                <a:spcPts val="400"/>
              </a:spcAft>
              <a:defRPr sz="1600">
                <a:solidFill>
                  <a:srgbClr val="D7DEE8"/>
                </a:solidFill>
                <a:latin typeface="Plus Jakarta Sans"/>
              </a:defRPr>
            </a:pPr>
            <a:r>
              <a:rPr dirty="0"/>
              <a:t>Scaling replicas</a:t>
            </a:r>
          </a:p>
          <a:p>
            <a:pPr>
              <a:spcAft>
                <a:spcPts val="400"/>
              </a:spcAft>
              <a:defRPr sz="1600">
                <a:solidFill>
                  <a:srgbClr val="D7DEE8"/>
                </a:solidFill>
                <a:latin typeface="Plus Jakarta Sans"/>
              </a:defRPr>
            </a:pPr>
            <a:r>
              <a:rPr dirty="0"/>
              <a:t>A manual scale operation changes desired size,</a:t>
            </a:r>
          </a:p>
          <a:p>
            <a:pPr>
              <a:spcAft>
                <a:spcPts val="400"/>
              </a:spcAft>
              <a:defRPr sz="1600">
                <a:solidFill>
                  <a:srgbClr val="D7DEE8"/>
                </a:solidFill>
                <a:latin typeface="Plus Jakarta Sans"/>
              </a:defRPr>
            </a:pPr>
            <a:r>
              <a:rPr dirty="0"/>
              <a:t>not the Pod template.</a:t>
            </a:r>
          </a:p>
        </p:txBody>
      </p:sp>
      <p:sp>
        <p:nvSpPr>
          <p:cNvPr id="14" name="TextBox 13"/>
          <p:cNvSpPr txBox="1"/>
          <p:nvPr/>
        </p:nvSpPr>
        <p:spPr>
          <a:xfrm>
            <a:off x="1025872" y="5425000"/>
            <a:ext cx="10050000" cy="384721"/>
          </a:xfrm>
          <a:prstGeom prst="rect">
            <a:avLst/>
          </a:prstGeom>
          <a:noFill/>
        </p:spPr>
        <p:txBody>
          <a:bodyPr wrap="square" lIns="27432" tIns="0" rIns="27432" bIns="0">
            <a:spAutoFit/>
          </a:bodyPr>
          <a:lstStyle/>
          <a:p>
            <a:pPr algn="l"/>
            <a:r>
              <a:rPr lang="en-US" sz="1250" b="0" dirty="0">
                <a:solidFill>
                  <a:srgbClr val="99A6B7"/>
                </a:solidFill>
                <a:latin typeface="Plus Jakarta Sans"/>
              </a:rPr>
              <a:t>A</a:t>
            </a:r>
            <a:r>
              <a:rPr sz="1250" b="0" dirty="0">
                <a:solidFill>
                  <a:srgbClr val="99A6B7"/>
                </a:solidFill>
                <a:latin typeface="Plus Jakarta Sans"/>
              </a:rPr>
              <a:t> Deployment revision is created when the Pod template changes. Scaling alone does not create a </a:t>
            </a:r>
            <a:r>
              <a:rPr lang="en-US" sz="1250" b="0" dirty="0">
                <a:solidFill>
                  <a:srgbClr val="99A6B7"/>
                </a:solidFill>
                <a:latin typeface="Plus Jakarta Sans"/>
              </a:rPr>
              <a:t>new </a:t>
            </a:r>
            <a:r>
              <a:rPr sz="1250" b="0" dirty="0">
                <a:solidFill>
                  <a:srgbClr val="99A6B7"/>
                </a:solidFill>
                <a:latin typeface="Plus Jakarta Sans"/>
              </a:rPr>
              <a:t>revision, so</a:t>
            </a:r>
            <a:r>
              <a:rPr lang="en-US" sz="1250" b="0" dirty="0">
                <a:solidFill>
                  <a:srgbClr val="99A6B7"/>
                </a:solidFill>
                <a:latin typeface="Plus Jakarta Sans"/>
              </a:rPr>
              <a:t> a</a:t>
            </a:r>
            <a:r>
              <a:rPr sz="1250" b="0" dirty="0">
                <a:solidFill>
                  <a:srgbClr val="99A6B7"/>
                </a:solidFill>
                <a:latin typeface="Plus Jakarta Sans"/>
              </a:rPr>
              <a:t> rollback is about the Pod template, not every Deployment field.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maxSurge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How many extra Pods may exist above the desired replica count?</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51E0FF"/>
                </a:solidFill>
                <a:latin typeface="Space Grotesk"/>
              </a:rPr>
              <a:t>maxSurge = 1</a:t>
            </a:r>
          </a:p>
          <a:p>
            <a:pPr>
              <a:spcAft>
                <a:spcPts val="400"/>
              </a:spcAft>
              <a:defRPr sz="1700">
                <a:solidFill>
                  <a:srgbClr val="D7DEE8"/>
                </a:solidFill>
                <a:latin typeface="Plus Jakarta Sans"/>
              </a:defRPr>
            </a:pPr>
            <a:r>
              <a:t>Desired replicas: 3</a:t>
            </a:r>
          </a:p>
          <a:p>
            <a:pPr>
              <a:spcAft>
                <a:spcPts val="400"/>
              </a:spcAft>
              <a:defRPr sz="1700">
                <a:solidFill>
                  <a:srgbClr val="D7DEE8"/>
                </a:solidFill>
                <a:latin typeface="Plus Jakarta Sans"/>
              </a:defRPr>
            </a:pPr>
            <a:r>
              <a:t>Maximum target during rollout: 4</a:t>
            </a:r>
          </a:p>
          <a:p>
            <a:pPr>
              <a:spcAft>
                <a:spcPts val="400"/>
              </a:spcAft>
              <a:defRPr sz="1700">
                <a:solidFill>
                  <a:srgbClr val="D7DEE8"/>
                </a:solidFill>
                <a:latin typeface="Plus Jakarta Sans"/>
              </a:defRPr>
            </a:pPr>
            <a:r>
              <a:t>Allows Kubernetes to create one extra Pod before removing capacity.</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70EBB1"/>
                </a:solidFill>
                <a:latin typeface="Space Grotesk"/>
              </a:rPr>
              <a:t>Why use it?</a:t>
            </a:r>
          </a:p>
          <a:p>
            <a:pPr>
              <a:spcAft>
                <a:spcPts val="400"/>
              </a:spcAft>
              <a:defRPr sz="1700">
                <a:solidFill>
                  <a:srgbClr val="D7DEE8"/>
                </a:solidFill>
                <a:latin typeface="Plus Jakarta Sans"/>
              </a:defRPr>
            </a:pPr>
            <a:r>
              <a:t>More surge capacity can make replacement faster</a:t>
            </a:r>
          </a:p>
          <a:p>
            <a:pPr>
              <a:spcAft>
                <a:spcPts val="400"/>
              </a:spcAft>
              <a:defRPr sz="1700">
                <a:solidFill>
                  <a:srgbClr val="D7DEE8"/>
                </a:solidFill>
                <a:latin typeface="Plus Jakarta Sans"/>
              </a:defRPr>
            </a:pPr>
            <a:r>
              <a:t>and reduce pressure to take old capacity offline first.</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sz="1250" b="0" dirty="0" err="1">
                <a:solidFill>
                  <a:srgbClr val="99A6B7"/>
                </a:solidFill>
                <a:latin typeface="Plus Jakarta Sans"/>
              </a:rPr>
              <a:t>maxSurge</a:t>
            </a:r>
            <a:r>
              <a:rPr sz="1250" b="0" dirty="0">
                <a:solidFill>
                  <a:srgbClr val="99A6B7"/>
                </a:solidFill>
                <a:latin typeface="Plus Jakarta Sans"/>
              </a:rPr>
              <a:t> is the maximum number of Pods that can be created above desired replicas during the update. For percentages, Kubernetes rounds up.</a:t>
            </a:r>
          </a:p>
        </p:txBody>
      </p:sp>
      <p:sp>
        <p:nvSpPr>
          <p:cNvPr id="6" name="Rounded Rectangle 17">
            <a:extLst>
              <a:ext uri="{FF2B5EF4-FFF2-40B4-BE49-F238E27FC236}">
                <a16:creationId xmlns:a16="http://schemas.microsoft.com/office/drawing/2014/main" id="{23955CE1-C5D5-3C3F-1B1F-8C1192C70418}"/>
              </a:ext>
            </a:extLst>
          </p:cNvPr>
          <p:cNvSpPr/>
          <p:nvPr/>
        </p:nvSpPr>
        <p:spPr>
          <a:xfrm>
            <a:off x="1534476" y="4265676"/>
            <a:ext cx="1097280" cy="384048"/>
          </a:xfrm>
          <a:prstGeom prst="roundRect">
            <a:avLst/>
          </a:prstGeom>
          <a:solidFill>
            <a:srgbClr val="25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7">
            <a:extLst>
              <a:ext uri="{FF2B5EF4-FFF2-40B4-BE49-F238E27FC236}">
                <a16:creationId xmlns:a16="http://schemas.microsoft.com/office/drawing/2014/main" id="{EA29A838-05AF-D31F-7D22-98E70481B092}"/>
              </a:ext>
            </a:extLst>
          </p:cNvPr>
          <p:cNvSpPr/>
          <p:nvPr/>
        </p:nvSpPr>
        <p:spPr>
          <a:xfrm>
            <a:off x="4651360" y="4265676"/>
            <a:ext cx="1097280" cy="384048"/>
          </a:xfrm>
          <a:prstGeom prst="roundRect">
            <a:avLst/>
          </a:prstGeom>
          <a:solidFill>
            <a:srgbClr val="25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7">
            <a:extLst>
              <a:ext uri="{FF2B5EF4-FFF2-40B4-BE49-F238E27FC236}">
                <a16:creationId xmlns:a16="http://schemas.microsoft.com/office/drawing/2014/main" id="{4FE169B9-473C-018F-EC95-205D4B586311}"/>
              </a:ext>
            </a:extLst>
          </p:cNvPr>
          <p:cNvSpPr/>
          <p:nvPr/>
        </p:nvSpPr>
        <p:spPr>
          <a:xfrm>
            <a:off x="3092918" y="4264749"/>
            <a:ext cx="1097280" cy="384048"/>
          </a:xfrm>
          <a:prstGeom prst="roundRect">
            <a:avLst/>
          </a:prstGeom>
          <a:solidFill>
            <a:srgbClr val="25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9">
            <a:extLst>
              <a:ext uri="{FF2B5EF4-FFF2-40B4-BE49-F238E27FC236}">
                <a16:creationId xmlns:a16="http://schemas.microsoft.com/office/drawing/2014/main" id="{82C41215-E9C6-9E70-9B92-462D6DFEAF89}"/>
              </a:ext>
            </a:extLst>
          </p:cNvPr>
          <p:cNvSpPr/>
          <p:nvPr/>
        </p:nvSpPr>
        <p:spPr>
          <a:xfrm>
            <a:off x="6252720" y="4265676"/>
            <a:ext cx="1097280" cy="384048"/>
          </a:xfrm>
          <a:prstGeom prst="roundRect">
            <a:avLst/>
          </a:prstGeom>
          <a:solidFill>
            <a:srgbClr val="8CF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5BBE4980-840C-67D4-6798-ABC162BD13C7}"/>
              </a:ext>
            </a:extLst>
          </p:cNvPr>
          <p:cNvSpPr txBox="1"/>
          <p:nvPr/>
        </p:nvSpPr>
        <p:spPr>
          <a:xfrm>
            <a:off x="6252720" y="4328757"/>
            <a:ext cx="1097280" cy="256032"/>
          </a:xfrm>
          <a:prstGeom prst="rect">
            <a:avLst/>
          </a:prstGeom>
          <a:noFill/>
        </p:spPr>
        <p:txBody>
          <a:bodyPr wrap="square" anchor="t">
            <a:spAutoFit/>
          </a:bodyPr>
          <a:lstStyle/>
          <a:p>
            <a:pPr algn="ctr"/>
            <a:r>
              <a:rPr sz="1100" b="1" dirty="0">
                <a:solidFill>
                  <a:srgbClr val="0E1523"/>
                </a:solidFill>
                <a:latin typeface="Plus Jakarta Sans"/>
              </a:rPr>
              <a:t>+1</a:t>
            </a:r>
          </a:p>
        </p:txBody>
      </p:sp>
      <p:sp>
        <p:nvSpPr>
          <p:cNvPr id="23" name="TextBox 22">
            <a:extLst>
              <a:ext uri="{FF2B5EF4-FFF2-40B4-BE49-F238E27FC236}">
                <a16:creationId xmlns:a16="http://schemas.microsoft.com/office/drawing/2014/main" id="{21ADA80E-A1B2-A65B-F31A-B0EB5BAA8A4D}"/>
              </a:ext>
            </a:extLst>
          </p:cNvPr>
          <p:cNvSpPr txBox="1"/>
          <p:nvPr/>
        </p:nvSpPr>
        <p:spPr>
          <a:xfrm>
            <a:off x="1503028" y="4328757"/>
            <a:ext cx="1097280" cy="256032"/>
          </a:xfrm>
          <a:prstGeom prst="rect">
            <a:avLst/>
          </a:prstGeom>
          <a:noFill/>
        </p:spPr>
        <p:txBody>
          <a:bodyPr wrap="square" anchor="t">
            <a:spAutoFit/>
          </a:bodyPr>
          <a:lstStyle/>
          <a:p>
            <a:pPr algn="ctr"/>
            <a:r>
              <a:rPr sz="1100" b="1" dirty="0">
                <a:solidFill>
                  <a:srgbClr val="0E1523"/>
                </a:solidFill>
                <a:latin typeface="Plus Jakarta Sans"/>
              </a:rPr>
              <a:t>Pod</a:t>
            </a:r>
          </a:p>
        </p:txBody>
      </p:sp>
      <p:sp>
        <p:nvSpPr>
          <p:cNvPr id="25" name="TextBox 24">
            <a:extLst>
              <a:ext uri="{FF2B5EF4-FFF2-40B4-BE49-F238E27FC236}">
                <a16:creationId xmlns:a16="http://schemas.microsoft.com/office/drawing/2014/main" id="{003B3EC5-5B38-314A-D0EC-78661AF69A04}"/>
              </a:ext>
            </a:extLst>
          </p:cNvPr>
          <p:cNvSpPr txBox="1"/>
          <p:nvPr/>
        </p:nvSpPr>
        <p:spPr>
          <a:xfrm>
            <a:off x="3077042" y="4328757"/>
            <a:ext cx="1097280" cy="256032"/>
          </a:xfrm>
          <a:prstGeom prst="rect">
            <a:avLst/>
          </a:prstGeom>
          <a:noFill/>
        </p:spPr>
        <p:txBody>
          <a:bodyPr wrap="square" anchor="t">
            <a:spAutoFit/>
          </a:bodyPr>
          <a:lstStyle/>
          <a:p>
            <a:pPr algn="ctr"/>
            <a:r>
              <a:rPr sz="1100" b="1" dirty="0">
                <a:solidFill>
                  <a:srgbClr val="0E1523"/>
                </a:solidFill>
                <a:latin typeface="Plus Jakarta Sans"/>
              </a:rPr>
              <a:t>Pod</a:t>
            </a:r>
          </a:p>
        </p:txBody>
      </p:sp>
      <p:sp>
        <p:nvSpPr>
          <p:cNvPr id="27" name="TextBox 26">
            <a:extLst>
              <a:ext uri="{FF2B5EF4-FFF2-40B4-BE49-F238E27FC236}">
                <a16:creationId xmlns:a16="http://schemas.microsoft.com/office/drawing/2014/main" id="{72806669-2AFC-EB3C-2F58-25EE39FB8B45}"/>
              </a:ext>
            </a:extLst>
          </p:cNvPr>
          <p:cNvSpPr txBox="1"/>
          <p:nvPr/>
        </p:nvSpPr>
        <p:spPr>
          <a:xfrm>
            <a:off x="4619608" y="4328757"/>
            <a:ext cx="1097280" cy="256032"/>
          </a:xfrm>
          <a:prstGeom prst="rect">
            <a:avLst/>
          </a:prstGeom>
          <a:noFill/>
        </p:spPr>
        <p:txBody>
          <a:bodyPr wrap="square" anchor="t">
            <a:spAutoFit/>
          </a:bodyPr>
          <a:lstStyle/>
          <a:p>
            <a:pPr algn="ctr"/>
            <a:r>
              <a:rPr sz="1100" b="1" dirty="0">
                <a:solidFill>
                  <a:srgbClr val="0E1523"/>
                </a:solidFill>
                <a:latin typeface="Plus Jakarta Sans"/>
              </a:rPr>
              <a:t>Pod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maxUnavailable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How many Pods may be unavailable during the update?</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maxUnavailable = 1</a:t>
            </a:r>
          </a:p>
          <a:p>
            <a:pPr>
              <a:spcAft>
                <a:spcPts val="400"/>
              </a:spcAft>
              <a:defRPr sz="1700">
                <a:solidFill>
                  <a:srgbClr val="D7DEE8"/>
                </a:solidFill>
                <a:latin typeface="Plus Jakarta Sans"/>
              </a:defRPr>
            </a:pPr>
            <a:r>
              <a:t>Desired replicas: 3</a:t>
            </a:r>
          </a:p>
          <a:p>
            <a:pPr>
              <a:spcAft>
                <a:spcPts val="400"/>
              </a:spcAft>
              <a:defRPr sz="1700">
                <a:solidFill>
                  <a:srgbClr val="D7DEE8"/>
                </a:solidFill>
                <a:latin typeface="Plus Jakarta Sans"/>
              </a:defRPr>
            </a:pPr>
            <a:r>
              <a:t>At least 2 Pods should remain available during the rollout, subject to readiness and controller state.</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Why use it?</a:t>
            </a:r>
          </a:p>
          <a:p>
            <a:pPr>
              <a:spcAft>
                <a:spcPts val="400"/>
              </a:spcAft>
              <a:defRPr sz="1700">
                <a:solidFill>
                  <a:srgbClr val="D7DEE8"/>
                </a:solidFill>
                <a:latin typeface="Plus Jakarta Sans"/>
              </a:defRPr>
            </a:pPr>
            <a:r>
              <a:t>A larger value permits faster replacement</a:t>
            </a:r>
          </a:p>
          <a:p>
            <a:pPr>
              <a:spcAft>
                <a:spcPts val="400"/>
              </a:spcAft>
              <a:defRPr sz="1700">
                <a:solidFill>
                  <a:srgbClr val="D7DEE8"/>
                </a:solidFill>
                <a:latin typeface="Plus Jakarta Sans"/>
              </a:defRPr>
            </a:pPr>
            <a:r>
              <a:t>but accepts less available capacity while rolling.</a:t>
            </a:r>
          </a:p>
        </p:txBody>
      </p:sp>
      <p:sp>
        <p:nvSpPr>
          <p:cNvPr id="14" name="TextBox 13"/>
          <p:cNvSpPr txBox="1"/>
          <p:nvPr/>
        </p:nvSpPr>
        <p:spPr>
          <a:xfrm>
            <a:off x="1025872" y="5425000"/>
            <a:ext cx="10050000" cy="769441"/>
          </a:xfrm>
          <a:prstGeom prst="rect">
            <a:avLst/>
          </a:prstGeom>
          <a:noFill/>
        </p:spPr>
        <p:txBody>
          <a:bodyPr wrap="square" lIns="27432" tIns="0" rIns="27432" bIns="0">
            <a:spAutoFit/>
          </a:bodyPr>
          <a:lstStyle/>
          <a:p>
            <a:pPr algn="l"/>
            <a:r>
              <a:rPr sz="1250" b="0" dirty="0" err="1">
                <a:solidFill>
                  <a:srgbClr val="99A6B7"/>
                </a:solidFill>
                <a:latin typeface="Plus Jakarta Sans"/>
              </a:rPr>
              <a:t>maxUnavailable</a:t>
            </a:r>
            <a:r>
              <a:rPr sz="1250" b="0" dirty="0">
                <a:solidFill>
                  <a:srgbClr val="99A6B7"/>
                </a:solidFill>
                <a:latin typeface="Plus Jakarta Sans"/>
              </a:rPr>
              <a:t> is the maximum number of Pods that can be unavailable during the update. Percentage values round down. It cannot be 0 when </a:t>
            </a:r>
            <a:r>
              <a:rPr sz="1250" b="0" dirty="0" err="1">
                <a:solidFill>
                  <a:srgbClr val="99A6B7"/>
                </a:solidFill>
                <a:latin typeface="Plus Jakarta Sans"/>
              </a:rPr>
              <a:t>maxSurge</a:t>
            </a:r>
            <a:r>
              <a:rPr sz="1250" b="0" dirty="0">
                <a:solidFill>
                  <a:srgbClr val="99A6B7"/>
                </a:solidFill>
                <a:latin typeface="Plus Jakarta Sans"/>
              </a:rPr>
              <a:t> is 0.</a:t>
            </a:r>
            <a:endParaRPr lang="en-US" sz="1250" b="0" dirty="0">
              <a:solidFill>
                <a:srgbClr val="99A6B7"/>
              </a:solidFill>
              <a:latin typeface="Plus Jakarta Sans"/>
            </a:endParaRPr>
          </a:p>
          <a:p>
            <a:pPr algn="l"/>
            <a:endParaRPr lang="en-US" sz="1250" dirty="0">
              <a:solidFill>
                <a:srgbClr val="99A6B7"/>
              </a:solidFill>
              <a:latin typeface="Plus Jakarta Sans"/>
            </a:endParaRPr>
          </a:p>
          <a:p>
            <a:pPr algn="l"/>
            <a:r>
              <a:rPr lang="en-US" sz="1250" b="0" dirty="0">
                <a:solidFill>
                  <a:srgbClr val="99A6B7"/>
                </a:solidFill>
                <a:latin typeface="Plus Jakarta Sans"/>
              </a:rPr>
              <a:t>Think “safety”. </a:t>
            </a:r>
            <a:r>
              <a:rPr lang="en-US" sz="1250" b="0" dirty="0" err="1">
                <a:solidFill>
                  <a:srgbClr val="99A6B7"/>
                </a:solidFill>
                <a:latin typeface="Plus Jakarta Sans"/>
              </a:rPr>
              <a:t>maxUnavailable</a:t>
            </a:r>
            <a:r>
              <a:rPr lang="en-US" sz="1250" b="0" dirty="0">
                <a:solidFill>
                  <a:srgbClr val="99A6B7"/>
                </a:solidFill>
                <a:latin typeface="Plus Jakarta Sans"/>
              </a:rPr>
              <a:t> limits how much capacity can disappear during the rollout</a:t>
            </a:r>
            <a:endParaRPr sz="1250" b="0" dirty="0">
              <a:solidFill>
                <a:srgbClr val="99A6B7"/>
              </a:solidFill>
              <a:latin typeface="Plus Jakarta Sans"/>
            </a:endParaRPr>
          </a:p>
        </p:txBody>
      </p:sp>
      <p:pic>
        <p:nvPicPr>
          <p:cNvPr id="6" name="Picture 5">
            <a:extLst>
              <a:ext uri="{FF2B5EF4-FFF2-40B4-BE49-F238E27FC236}">
                <a16:creationId xmlns:a16="http://schemas.microsoft.com/office/drawing/2014/main" id="{D83678A0-BF95-F431-ABE5-D1E7F322F278}"/>
              </a:ext>
            </a:extLst>
          </p:cNvPr>
          <p:cNvPicPr>
            <a:picLocks noChangeAspect="1"/>
          </p:cNvPicPr>
          <p:nvPr/>
        </p:nvPicPr>
        <p:blipFill>
          <a:blip r:embed="rId5"/>
          <a:stretch>
            <a:fillRect/>
          </a:stretch>
        </p:blipFill>
        <p:spPr>
          <a:xfrm>
            <a:off x="2011130" y="4175975"/>
            <a:ext cx="6374881" cy="566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maxSurge + maxUnavailable together</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They define the rollout’s operating envelope</a:t>
            </a:r>
          </a:p>
        </p:txBody>
      </p:sp>
      <p:sp>
        <p:nvSpPr>
          <p:cNvPr id="11" name="Rounded Rectangle 10"/>
          <p:cNvSpPr/>
          <p:nvPr/>
        </p:nvSpPr>
        <p:spPr>
          <a:xfrm>
            <a:off x="8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Desired = 3</a:t>
            </a:r>
          </a:p>
          <a:p>
            <a:pPr>
              <a:spcAft>
                <a:spcPts val="400"/>
              </a:spcAft>
              <a:defRPr sz="1800">
                <a:solidFill>
                  <a:srgbClr val="D7DEE8"/>
                </a:solidFill>
                <a:latin typeface="Plus Jakarta Sans"/>
              </a:defRPr>
            </a:pPr>
            <a:r>
              <a:rPr dirty="0"/>
              <a:t>Normal target</a:t>
            </a:r>
            <a:r>
              <a:rPr lang="en-US" dirty="0"/>
              <a:t> 3 Pods</a:t>
            </a:r>
            <a:endParaRPr dirty="0"/>
          </a:p>
        </p:txBody>
      </p:sp>
      <p:sp>
        <p:nvSpPr>
          <p:cNvPr id="12" name="Rounded Rectangle 11"/>
          <p:cNvSpPr/>
          <p:nvPr/>
        </p:nvSpPr>
        <p:spPr>
          <a:xfrm>
            <a:off x="43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maxSurge</a:t>
            </a:r>
            <a:r>
              <a:rPr sz="1800" b="1" dirty="0">
                <a:solidFill>
                  <a:srgbClr val="70EBB1"/>
                </a:solidFill>
                <a:latin typeface="Space Grotesk"/>
              </a:rPr>
              <a:t> = 1</a:t>
            </a:r>
          </a:p>
          <a:p>
            <a:pPr>
              <a:spcAft>
                <a:spcPts val="400"/>
              </a:spcAft>
              <a:defRPr sz="1800">
                <a:solidFill>
                  <a:srgbClr val="D7DEE8"/>
                </a:solidFill>
                <a:latin typeface="Plus Jakarta Sans"/>
              </a:defRPr>
            </a:pPr>
            <a:r>
              <a:rPr dirty="0"/>
              <a:t>Can temporarily go</a:t>
            </a:r>
          </a:p>
          <a:p>
            <a:pPr>
              <a:spcAft>
                <a:spcPts val="400"/>
              </a:spcAft>
              <a:defRPr sz="1800">
                <a:solidFill>
                  <a:srgbClr val="D7DEE8"/>
                </a:solidFill>
                <a:latin typeface="Plus Jakarta Sans"/>
              </a:defRPr>
            </a:pPr>
            <a:r>
              <a:rPr dirty="0"/>
              <a:t>up to 4 Pods</a:t>
            </a:r>
          </a:p>
        </p:txBody>
      </p:sp>
      <p:sp>
        <p:nvSpPr>
          <p:cNvPr id="13" name="Rounded Rectangle 12"/>
          <p:cNvSpPr/>
          <p:nvPr/>
        </p:nvSpPr>
        <p:spPr>
          <a:xfrm>
            <a:off x="78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FFB866"/>
                </a:solidFill>
                <a:latin typeface="Space Grotesk"/>
              </a:rPr>
              <a:t>maxUnavailable</a:t>
            </a:r>
            <a:r>
              <a:rPr sz="1800" b="1" dirty="0">
                <a:solidFill>
                  <a:srgbClr val="FFB866"/>
                </a:solidFill>
                <a:latin typeface="Space Grotesk"/>
              </a:rPr>
              <a:t> = 1</a:t>
            </a:r>
          </a:p>
          <a:p>
            <a:pPr>
              <a:spcAft>
                <a:spcPts val="400"/>
              </a:spcAft>
              <a:defRPr sz="1800">
                <a:solidFill>
                  <a:srgbClr val="D7DEE8"/>
                </a:solidFill>
                <a:latin typeface="Plus Jakarta Sans"/>
              </a:defRPr>
            </a:pPr>
            <a:r>
              <a:rPr dirty="0"/>
              <a:t>Allows at most 1 Pod</a:t>
            </a:r>
          </a:p>
          <a:p>
            <a:pPr>
              <a:spcAft>
                <a:spcPts val="400"/>
              </a:spcAft>
              <a:defRPr sz="1800">
                <a:solidFill>
                  <a:srgbClr val="D7DEE8"/>
                </a:solidFill>
                <a:latin typeface="Plus Jakarta Sans"/>
              </a:defRPr>
            </a:pPr>
            <a:r>
              <a:rPr dirty="0"/>
              <a:t>unavailable</a:t>
            </a:r>
          </a:p>
        </p:txBody>
      </p:sp>
      <p:sp>
        <p:nvSpPr>
          <p:cNvPr id="14" name="TextBox 13"/>
          <p:cNvSpPr txBox="1"/>
          <p:nvPr/>
        </p:nvSpPr>
        <p:spPr>
          <a:xfrm>
            <a:off x="628650" y="4200000"/>
            <a:ext cx="10001250" cy="650000"/>
          </a:xfrm>
          <a:prstGeom prst="rect">
            <a:avLst/>
          </a:prstGeom>
          <a:noFill/>
        </p:spPr>
        <p:txBody>
          <a:bodyPr wrap="square" lIns="27432" tIns="0" rIns="27432" bIns="0">
            <a:spAutoFit/>
          </a:bodyPr>
          <a:lstStyle/>
          <a:p>
            <a:pPr algn="ctr"/>
            <a:r>
              <a:rPr sz="1900" b="1">
                <a:solidFill>
                  <a:srgbClr val="F5F7FA"/>
                </a:solidFill>
                <a:latin typeface="Space Grotesk"/>
              </a:rPr>
              <a:t>Think in two questions: “How far may we go UP?” and “How far may we go DOWN?”</a:t>
            </a:r>
          </a:p>
        </p:txBody>
      </p:sp>
      <p:sp>
        <p:nvSpPr>
          <p:cNvPr id="15" name="TextBox 14"/>
          <p:cNvSpPr txBox="1"/>
          <p:nvPr/>
        </p:nvSpPr>
        <p:spPr>
          <a:xfrm>
            <a:off x="1025872" y="5425000"/>
            <a:ext cx="10050000" cy="384721"/>
          </a:xfrm>
          <a:prstGeom prst="rect">
            <a:avLst/>
          </a:prstGeom>
          <a:noFill/>
        </p:spPr>
        <p:txBody>
          <a:bodyPr wrap="square" lIns="27432" tIns="0" rIns="27432" bIns="0">
            <a:spAutoFit/>
          </a:bodyPr>
          <a:lstStyle/>
          <a:p>
            <a:pPr algn="l"/>
            <a:r>
              <a:rPr lang="en-US" sz="1250" b="0" dirty="0">
                <a:solidFill>
                  <a:srgbClr val="99A6B7"/>
                </a:solidFill>
                <a:latin typeface="Plus Jakarta Sans"/>
              </a:rPr>
              <a:t>With 3 replicas and 1/1 settings, up to 4 Pods may exist and up to 1 desired Pod may be unavailable.</a:t>
            </a:r>
          </a:p>
          <a:p>
            <a:pPr algn="l"/>
            <a:endParaRPr lang="en-US" sz="1250" b="0" dirty="0">
              <a:solidFill>
                <a:srgbClr val="99A6B7"/>
              </a:solidFill>
              <a:latin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3"/>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5"/>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What happens during the rollout?</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Example: 3 replicas, maxSurge=1, maxUnavailable=1</a:t>
            </a:r>
          </a:p>
        </p:txBody>
      </p:sp>
      <p:sp>
        <p:nvSpPr>
          <p:cNvPr id="11" name="TextBox 10"/>
          <p:cNvSpPr txBox="1"/>
          <p:nvPr/>
        </p:nvSpPr>
        <p:spPr>
          <a:xfrm>
            <a:off x="850000" y="2050000"/>
            <a:ext cx="1500000" cy="350000"/>
          </a:xfrm>
          <a:prstGeom prst="rect">
            <a:avLst/>
          </a:prstGeom>
          <a:noFill/>
        </p:spPr>
        <p:txBody>
          <a:bodyPr wrap="square" lIns="27432" tIns="0" rIns="27432" bIns="0">
            <a:spAutoFit/>
          </a:bodyPr>
          <a:lstStyle/>
          <a:p>
            <a:pPr algn="ctr"/>
            <a:r>
              <a:rPr sz="1500" b="1">
                <a:solidFill>
                  <a:srgbClr val="51E0FF"/>
                </a:solidFill>
                <a:latin typeface="Space Grotesk"/>
              </a:rPr>
              <a:t>START</a:t>
            </a:r>
          </a:p>
        </p:txBody>
      </p:sp>
      <p:sp>
        <p:nvSpPr>
          <p:cNvPr id="12" name="Rounded Rectangle 11"/>
          <p:cNvSpPr/>
          <p:nvPr/>
        </p:nvSpPr>
        <p:spPr>
          <a:xfrm>
            <a:off x="850000" y="2750000"/>
            <a:ext cx="310000" cy="30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13" name="Rounded Rectangle 12"/>
          <p:cNvSpPr/>
          <p:nvPr/>
        </p:nvSpPr>
        <p:spPr>
          <a:xfrm>
            <a:off x="1210000" y="2750000"/>
            <a:ext cx="310000" cy="30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14" name="Rounded Rectangle 13"/>
          <p:cNvSpPr/>
          <p:nvPr/>
        </p:nvSpPr>
        <p:spPr>
          <a:xfrm>
            <a:off x="1570000" y="2750000"/>
            <a:ext cx="310000" cy="30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0B1626"/>
                </a:solidFill>
                <a:latin typeface="Plus Jakarta Sans"/>
              </a:rPr>
              <a:t>v1</a:t>
            </a:r>
          </a:p>
        </p:txBody>
      </p:sp>
      <p:sp>
        <p:nvSpPr>
          <p:cNvPr id="15" name="TextBox 14"/>
          <p:cNvSpPr txBox="1"/>
          <p:nvPr/>
        </p:nvSpPr>
        <p:spPr>
          <a:xfrm>
            <a:off x="2300000" y="2650000"/>
            <a:ext cx="450000" cy="45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16" name="TextBox 15"/>
          <p:cNvSpPr txBox="1"/>
          <p:nvPr/>
        </p:nvSpPr>
        <p:spPr>
          <a:xfrm>
            <a:off x="2750000" y="2050000"/>
            <a:ext cx="1500000" cy="350000"/>
          </a:xfrm>
          <a:prstGeom prst="rect">
            <a:avLst/>
          </a:prstGeom>
          <a:noFill/>
        </p:spPr>
        <p:txBody>
          <a:bodyPr wrap="square" lIns="27432" tIns="0" rIns="27432" bIns="0">
            <a:spAutoFit/>
          </a:bodyPr>
          <a:lstStyle/>
          <a:p>
            <a:pPr algn="ctr"/>
            <a:r>
              <a:rPr sz="1500" b="1">
                <a:solidFill>
                  <a:srgbClr val="51E0FF"/>
                </a:solidFill>
                <a:latin typeface="Space Grotesk"/>
              </a:rPr>
              <a:t>STEP 1</a:t>
            </a:r>
          </a:p>
        </p:txBody>
      </p:sp>
      <p:sp>
        <p:nvSpPr>
          <p:cNvPr id="17" name="Rounded Rectangle 16"/>
          <p:cNvSpPr/>
          <p:nvPr/>
        </p:nvSpPr>
        <p:spPr>
          <a:xfrm>
            <a:off x="2750000" y="2750000"/>
            <a:ext cx="310000" cy="30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18" name="Rounded Rectangle 17"/>
          <p:cNvSpPr/>
          <p:nvPr/>
        </p:nvSpPr>
        <p:spPr>
          <a:xfrm>
            <a:off x="3110000" y="2750000"/>
            <a:ext cx="310000" cy="30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19" name="Rounded Rectangle 18"/>
          <p:cNvSpPr/>
          <p:nvPr/>
        </p:nvSpPr>
        <p:spPr>
          <a:xfrm>
            <a:off x="3470000" y="2750000"/>
            <a:ext cx="310000" cy="30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20" name="Rounded Rectangle 19"/>
          <p:cNvSpPr/>
          <p:nvPr/>
        </p:nvSpPr>
        <p:spPr>
          <a:xfrm>
            <a:off x="3830000" y="2750000"/>
            <a:ext cx="310000" cy="30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21" name="TextBox 20"/>
          <p:cNvSpPr txBox="1"/>
          <p:nvPr/>
        </p:nvSpPr>
        <p:spPr>
          <a:xfrm>
            <a:off x="4200000" y="2650000"/>
            <a:ext cx="450000" cy="45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22" name="TextBox 21"/>
          <p:cNvSpPr txBox="1"/>
          <p:nvPr/>
        </p:nvSpPr>
        <p:spPr>
          <a:xfrm>
            <a:off x="4650000" y="2050000"/>
            <a:ext cx="1500000" cy="350000"/>
          </a:xfrm>
          <a:prstGeom prst="rect">
            <a:avLst/>
          </a:prstGeom>
          <a:noFill/>
        </p:spPr>
        <p:txBody>
          <a:bodyPr wrap="square" lIns="27432" tIns="0" rIns="27432" bIns="0">
            <a:spAutoFit/>
          </a:bodyPr>
          <a:lstStyle/>
          <a:p>
            <a:pPr algn="ctr"/>
            <a:r>
              <a:rPr sz="1500" b="1">
                <a:solidFill>
                  <a:srgbClr val="51E0FF"/>
                </a:solidFill>
                <a:latin typeface="Space Grotesk"/>
              </a:rPr>
              <a:t>STEP 2</a:t>
            </a:r>
          </a:p>
        </p:txBody>
      </p:sp>
      <p:sp>
        <p:nvSpPr>
          <p:cNvPr id="23" name="Rounded Rectangle 22"/>
          <p:cNvSpPr/>
          <p:nvPr/>
        </p:nvSpPr>
        <p:spPr>
          <a:xfrm>
            <a:off x="4650000" y="2750000"/>
            <a:ext cx="310000" cy="30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24" name="Rounded Rectangle 23"/>
          <p:cNvSpPr/>
          <p:nvPr/>
        </p:nvSpPr>
        <p:spPr>
          <a:xfrm>
            <a:off x="5010000" y="2750000"/>
            <a:ext cx="310000" cy="30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25" name="Rounded Rectangle 24"/>
          <p:cNvSpPr/>
          <p:nvPr/>
        </p:nvSpPr>
        <p:spPr>
          <a:xfrm>
            <a:off x="5370000" y="2750000"/>
            <a:ext cx="310000" cy="30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26" name="Rounded Rectangle 25"/>
          <p:cNvSpPr/>
          <p:nvPr/>
        </p:nvSpPr>
        <p:spPr>
          <a:xfrm>
            <a:off x="5730000" y="2750000"/>
            <a:ext cx="310000" cy="30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27" name="TextBox 26"/>
          <p:cNvSpPr txBox="1"/>
          <p:nvPr/>
        </p:nvSpPr>
        <p:spPr>
          <a:xfrm>
            <a:off x="6100000" y="2650000"/>
            <a:ext cx="450000" cy="45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28" name="TextBox 27"/>
          <p:cNvSpPr txBox="1"/>
          <p:nvPr/>
        </p:nvSpPr>
        <p:spPr>
          <a:xfrm>
            <a:off x="6550000" y="2050000"/>
            <a:ext cx="1500000" cy="350000"/>
          </a:xfrm>
          <a:prstGeom prst="rect">
            <a:avLst/>
          </a:prstGeom>
          <a:noFill/>
        </p:spPr>
        <p:txBody>
          <a:bodyPr wrap="square" lIns="27432" tIns="0" rIns="27432" bIns="0">
            <a:spAutoFit/>
          </a:bodyPr>
          <a:lstStyle/>
          <a:p>
            <a:pPr algn="ctr"/>
            <a:r>
              <a:rPr sz="1500" b="1">
                <a:solidFill>
                  <a:srgbClr val="51E0FF"/>
                </a:solidFill>
                <a:latin typeface="Space Grotesk"/>
              </a:rPr>
              <a:t>STEP 3</a:t>
            </a:r>
          </a:p>
        </p:txBody>
      </p:sp>
      <p:sp>
        <p:nvSpPr>
          <p:cNvPr id="29" name="Rounded Rectangle 28"/>
          <p:cNvSpPr/>
          <p:nvPr/>
        </p:nvSpPr>
        <p:spPr>
          <a:xfrm>
            <a:off x="6550000" y="2750000"/>
            <a:ext cx="310000" cy="300000"/>
          </a:xfrm>
          <a:prstGeom prst="roundRect">
            <a:avLst/>
          </a:prstGeom>
          <a:solidFill>
            <a:srgbClr val="73B4FF"/>
          </a:solidFill>
          <a:ln>
            <a:solidFill>
              <a:srgbClr val="73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v1</a:t>
            </a:r>
          </a:p>
        </p:txBody>
      </p:sp>
      <p:sp>
        <p:nvSpPr>
          <p:cNvPr id="30" name="Rounded Rectangle 29"/>
          <p:cNvSpPr/>
          <p:nvPr/>
        </p:nvSpPr>
        <p:spPr>
          <a:xfrm>
            <a:off x="6910000" y="2750000"/>
            <a:ext cx="310000" cy="30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31" name="Rounded Rectangle 30"/>
          <p:cNvSpPr/>
          <p:nvPr/>
        </p:nvSpPr>
        <p:spPr>
          <a:xfrm>
            <a:off x="7270000" y="2750000"/>
            <a:ext cx="310000" cy="30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32" name="Rounded Rectangle 31"/>
          <p:cNvSpPr/>
          <p:nvPr/>
        </p:nvSpPr>
        <p:spPr>
          <a:xfrm>
            <a:off x="7630000" y="2750000"/>
            <a:ext cx="310000" cy="30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33" name="TextBox 32"/>
          <p:cNvSpPr txBox="1"/>
          <p:nvPr/>
        </p:nvSpPr>
        <p:spPr>
          <a:xfrm>
            <a:off x="8000000" y="2650000"/>
            <a:ext cx="450000" cy="45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34" name="TextBox 33"/>
          <p:cNvSpPr txBox="1"/>
          <p:nvPr/>
        </p:nvSpPr>
        <p:spPr>
          <a:xfrm>
            <a:off x="8450000" y="2050000"/>
            <a:ext cx="1500000" cy="350000"/>
          </a:xfrm>
          <a:prstGeom prst="rect">
            <a:avLst/>
          </a:prstGeom>
          <a:noFill/>
        </p:spPr>
        <p:txBody>
          <a:bodyPr wrap="square" lIns="27432" tIns="0" rIns="27432" bIns="0">
            <a:spAutoFit/>
          </a:bodyPr>
          <a:lstStyle/>
          <a:p>
            <a:pPr algn="ctr"/>
            <a:r>
              <a:rPr sz="1500" b="1">
                <a:solidFill>
                  <a:srgbClr val="51E0FF"/>
                </a:solidFill>
                <a:latin typeface="Space Grotesk"/>
              </a:rPr>
              <a:t>END</a:t>
            </a:r>
          </a:p>
        </p:txBody>
      </p:sp>
      <p:sp>
        <p:nvSpPr>
          <p:cNvPr id="35" name="Rounded Rectangle 34"/>
          <p:cNvSpPr/>
          <p:nvPr/>
        </p:nvSpPr>
        <p:spPr>
          <a:xfrm>
            <a:off x="8450000" y="2750000"/>
            <a:ext cx="310000" cy="30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36" name="Rounded Rectangle 35"/>
          <p:cNvSpPr/>
          <p:nvPr/>
        </p:nvSpPr>
        <p:spPr>
          <a:xfrm>
            <a:off x="8810000" y="2750000"/>
            <a:ext cx="310000" cy="30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37" name="Rounded Rectangle 36"/>
          <p:cNvSpPr/>
          <p:nvPr/>
        </p:nvSpPr>
        <p:spPr>
          <a:xfrm>
            <a:off x="9170000" y="2750000"/>
            <a:ext cx="310000" cy="300000"/>
          </a:xfrm>
          <a:prstGeom prst="roundRect">
            <a:avLst/>
          </a:prstGeom>
          <a:solidFill>
            <a:srgbClr val="70EBB1"/>
          </a:solidFill>
          <a:ln>
            <a:solidFill>
              <a:srgbClr val="70EBB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B1626"/>
                </a:solidFill>
                <a:latin typeface="Plus Jakarta Sans"/>
              </a:rPr>
              <a:t>v2</a:t>
            </a:r>
          </a:p>
        </p:txBody>
      </p:sp>
      <p:sp>
        <p:nvSpPr>
          <p:cNvPr id="38" name="TextBox 37"/>
          <p:cNvSpPr txBox="1"/>
          <p:nvPr/>
        </p:nvSpPr>
        <p:spPr>
          <a:xfrm>
            <a:off x="628650" y="3900000"/>
            <a:ext cx="10001250" cy="261610"/>
          </a:xfrm>
          <a:prstGeom prst="rect">
            <a:avLst/>
          </a:prstGeom>
          <a:noFill/>
        </p:spPr>
        <p:txBody>
          <a:bodyPr wrap="square" lIns="27432" tIns="0" rIns="27432" bIns="0">
            <a:spAutoFit/>
          </a:bodyPr>
          <a:lstStyle/>
          <a:p>
            <a:pPr algn="ctr"/>
            <a:r>
              <a:rPr lang="en-US" sz="1700" b="0" dirty="0">
                <a:solidFill>
                  <a:srgbClr val="99A6B7"/>
                </a:solidFill>
                <a:latin typeface="Plus Jakarta Sans"/>
              </a:rPr>
              <a:t>Old version is gradually replaced by the new one. </a:t>
            </a:r>
            <a:r>
              <a:rPr lang="en-US" sz="1700" dirty="0">
                <a:solidFill>
                  <a:srgbClr val="99A6B7"/>
                </a:solidFill>
                <a:latin typeface="Plus Jakarta Sans"/>
              </a:rPr>
              <a:t>E</a:t>
            </a:r>
            <a:r>
              <a:rPr sz="1700" b="0" dirty="0">
                <a:solidFill>
                  <a:srgbClr val="99A6B7"/>
                </a:solidFill>
                <a:latin typeface="Plus Jakarta Sans"/>
              </a:rPr>
              <a:t>xact timing depends on readiness and controller reconciliation.</a:t>
            </a:r>
          </a:p>
        </p:txBody>
      </p:sp>
      <p:sp>
        <p:nvSpPr>
          <p:cNvPr id="39" name="TextBox 38"/>
          <p:cNvSpPr txBox="1"/>
          <p:nvPr/>
        </p:nvSpPr>
        <p:spPr>
          <a:xfrm>
            <a:off x="1025872" y="5425000"/>
            <a:ext cx="10050000" cy="384721"/>
          </a:xfrm>
          <a:prstGeom prst="rect">
            <a:avLst/>
          </a:prstGeom>
          <a:noFill/>
        </p:spPr>
        <p:txBody>
          <a:bodyPr wrap="square" lIns="27432" tIns="0" rIns="27432" bIns="0">
            <a:spAutoFit/>
          </a:bodyPr>
          <a:lstStyle/>
          <a:p>
            <a:pPr algn="l"/>
            <a:r>
              <a:rPr sz="1250" b="0" dirty="0">
                <a:solidFill>
                  <a:srgbClr val="99A6B7"/>
                </a:solidFill>
                <a:latin typeface="Plus Jakarta Sans"/>
              </a:rPr>
              <a:t>The controller is not following a fixed human script; it continuously reconciles. This diagram is an illustrative possible progression that makes surge/unavailable concrete.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Defaults and constraints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What Kubernetes does if you do not configure the rollout</a:t>
            </a:r>
          </a:p>
        </p:txBody>
      </p:sp>
      <p:sp>
        <p:nvSpPr>
          <p:cNvPr id="11" name="TextBox 10"/>
          <p:cNvSpPr txBox="1"/>
          <p:nvPr/>
        </p:nvSpPr>
        <p:spPr>
          <a:xfrm>
            <a:off x="628650" y="1950000"/>
            <a:ext cx="5800000" cy="2350000"/>
          </a:xfrm>
          <a:prstGeom prst="rect">
            <a:avLst/>
          </a:prstGeom>
          <a:noFill/>
        </p:spPr>
        <p:txBody>
          <a:bodyPr wrap="square" lIns="18288" tIns="0" rIns="18288" bIns="0">
            <a:spAutoFit/>
          </a:bodyPr>
          <a:lstStyle/>
          <a:p>
            <a:pPr>
              <a:spcAft>
                <a:spcPts val="700"/>
              </a:spcAft>
              <a:defRPr sz="1900">
                <a:solidFill>
                  <a:srgbClr val="D7DEE8"/>
                </a:solidFill>
                <a:latin typeface="Plus Jakarta Sans"/>
              </a:defRPr>
            </a:pPr>
            <a:r>
              <a:t>• Default strategy: RollingUpdate</a:t>
            </a:r>
          </a:p>
          <a:p>
            <a:pPr>
              <a:spcAft>
                <a:spcPts val="700"/>
              </a:spcAft>
              <a:defRPr sz="1900">
                <a:solidFill>
                  <a:srgbClr val="D7DEE8"/>
                </a:solidFill>
                <a:latin typeface="Plus Jakarta Sans"/>
              </a:defRPr>
            </a:pPr>
            <a:r>
              <a:t>• Default maxSurge: 25%</a:t>
            </a:r>
          </a:p>
          <a:p>
            <a:pPr>
              <a:spcAft>
                <a:spcPts val="700"/>
              </a:spcAft>
              <a:defRPr sz="1900">
                <a:solidFill>
                  <a:srgbClr val="D7DEE8"/>
                </a:solidFill>
                <a:latin typeface="Plus Jakarta Sans"/>
              </a:defRPr>
            </a:pPr>
            <a:r>
              <a:t>• Default maxUnavailable: 25%</a:t>
            </a:r>
          </a:p>
          <a:p>
            <a:pPr>
              <a:spcAft>
                <a:spcPts val="700"/>
              </a:spcAft>
              <a:defRPr sz="1900">
                <a:solidFill>
                  <a:srgbClr val="D7DEE8"/>
                </a:solidFill>
                <a:latin typeface="Plus Jakarta Sans"/>
              </a:defRPr>
            </a:pPr>
            <a:r>
              <a:t>• Percentage maxSurge rounds up; maxUnavailable rounds down</a:t>
            </a:r>
          </a:p>
          <a:p>
            <a:pPr>
              <a:spcAft>
                <a:spcPts val="700"/>
              </a:spcAft>
              <a:defRPr sz="1900">
                <a:solidFill>
                  <a:srgbClr val="D7DEE8"/>
                </a:solidFill>
                <a:latin typeface="Plus Jakarta Sans"/>
              </a:defRPr>
            </a:pPr>
            <a:r>
              <a:t>• maxSurge and maxUnavailable cannot both be 0</a:t>
            </a:r>
          </a:p>
        </p:txBody>
      </p:sp>
      <p:sp>
        <p:nvSpPr>
          <p:cNvPr id="12" name="Rounded Rectangle 11"/>
          <p:cNvSpPr/>
          <p:nvPr/>
        </p:nvSpPr>
        <p:spPr>
          <a:xfrm>
            <a:off x="7349999" y="2050000"/>
            <a:ext cx="3538579"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Example: 3 replicas</a:t>
            </a:r>
          </a:p>
          <a:p>
            <a:pPr>
              <a:spcAft>
                <a:spcPts val="400"/>
              </a:spcAft>
              <a:defRPr sz="1600">
                <a:solidFill>
                  <a:srgbClr val="D7DEE8"/>
                </a:solidFill>
                <a:latin typeface="Plus Jakarta Sans"/>
              </a:defRPr>
            </a:pPr>
            <a:r>
              <a:rPr dirty="0"/>
              <a:t>25% surge → ceil</a:t>
            </a:r>
            <a:r>
              <a:rPr lang="en-US" dirty="0"/>
              <a:t>ing </a:t>
            </a:r>
            <a:r>
              <a:rPr dirty="0"/>
              <a:t>(0.75) = 1</a:t>
            </a:r>
          </a:p>
          <a:p>
            <a:pPr>
              <a:spcAft>
                <a:spcPts val="400"/>
              </a:spcAft>
              <a:defRPr sz="1600">
                <a:solidFill>
                  <a:srgbClr val="D7DEE8"/>
                </a:solidFill>
                <a:latin typeface="Plus Jakarta Sans"/>
              </a:defRPr>
            </a:pPr>
            <a:r>
              <a:rPr dirty="0"/>
              <a:t>25% unavailable → floor</a:t>
            </a:r>
            <a:r>
              <a:rPr lang="en-US" dirty="0"/>
              <a:t> </a:t>
            </a:r>
            <a:r>
              <a:rPr dirty="0"/>
              <a:t>(0.75) = 0</a:t>
            </a:r>
          </a:p>
        </p:txBody>
      </p:sp>
      <p:sp>
        <p:nvSpPr>
          <p:cNvPr id="13" name="TextBox 12"/>
          <p:cNvSpPr txBox="1"/>
          <p:nvPr/>
        </p:nvSpPr>
        <p:spPr>
          <a:xfrm>
            <a:off x="1025872" y="5425000"/>
            <a:ext cx="10050000" cy="384721"/>
          </a:xfrm>
          <a:prstGeom prst="rect">
            <a:avLst/>
          </a:prstGeom>
          <a:noFill/>
        </p:spPr>
        <p:txBody>
          <a:bodyPr wrap="square" lIns="27432" tIns="0" rIns="27432" bIns="0">
            <a:spAutoFit/>
          </a:bodyPr>
          <a:lstStyle/>
          <a:p>
            <a:pPr algn="l"/>
            <a:r>
              <a:rPr sz="1250" b="0" dirty="0">
                <a:solidFill>
                  <a:srgbClr val="99A6B7"/>
                </a:solidFill>
                <a:latin typeface="Plus Jakarta Sans"/>
              </a:rPr>
              <a:t>The percentage rounding rules matter for small replica counts. For 3 replicas, the default 25% values effectively become</a:t>
            </a:r>
            <a:r>
              <a:rPr lang="en-US" sz="1250" b="0" dirty="0">
                <a:solidFill>
                  <a:srgbClr val="99A6B7"/>
                </a:solidFill>
                <a:latin typeface="Plus Jakarta Sans"/>
              </a:rPr>
              <a:t>s</a:t>
            </a:r>
            <a:r>
              <a:rPr sz="1250" b="0" dirty="0">
                <a:solidFill>
                  <a:srgbClr val="99A6B7"/>
                </a:solidFill>
                <a:latin typeface="Plus Jakarta Sans"/>
              </a:rPr>
              <a:t> </a:t>
            </a:r>
            <a:r>
              <a:rPr sz="1250" b="0" dirty="0" err="1">
                <a:solidFill>
                  <a:srgbClr val="99A6B7"/>
                </a:solidFill>
                <a:latin typeface="Plus Jakarta Sans"/>
              </a:rPr>
              <a:t>maxSurge</a:t>
            </a:r>
            <a:r>
              <a:rPr sz="1250" b="0" dirty="0">
                <a:solidFill>
                  <a:srgbClr val="99A6B7"/>
                </a:solidFill>
                <a:latin typeface="Plus Jakarta Sans"/>
              </a:rPr>
              <a:t>=1 and </a:t>
            </a:r>
            <a:r>
              <a:rPr sz="1250" b="0" dirty="0" err="1">
                <a:solidFill>
                  <a:srgbClr val="99A6B7"/>
                </a:solidFill>
                <a:latin typeface="Plus Jakarta Sans"/>
              </a:rPr>
              <a:t>maxUnavailable</a:t>
            </a:r>
            <a:r>
              <a:rPr sz="1250" b="0" dirty="0">
                <a:solidFill>
                  <a:srgbClr val="99A6B7"/>
                </a:solidFill>
                <a:latin typeface="Plus Jakarta Sans"/>
              </a:rPr>
              <a:t>=0.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Readiness matters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RollingUpdate controls replacement; readiness tells Kubernetes whether a Pod is ready</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New Pod starts</a:t>
            </a:r>
          </a:p>
          <a:p>
            <a:pPr>
              <a:spcAft>
                <a:spcPts val="400"/>
              </a:spcAft>
              <a:defRPr sz="1600">
                <a:solidFill>
                  <a:srgbClr val="D7DEE8"/>
                </a:solidFill>
                <a:latin typeface="Plus Jakarta Sans"/>
              </a:defRPr>
            </a:pPr>
            <a:r>
              <a:t>Created ≠ ready</a:t>
            </a:r>
          </a:p>
          <a:p>
            <a:pPr>
              <a:spcAft>
                <a:spcPts val="400"/>
              </a:spcAft>
              <a:defRPr sz="1600">
                <a:solidFill>
                  <a:srgbClr val="D7DEE8"/>
                </a:solidFill>
                <a:latin typeface="Plus Jakarta Sans"/>
              </a:defRPr>
            </a:pPr>
            <a:r>
              <a:t>The container may still be initializing, loading data, or failing health checks.</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70EBB1"/>
                </a:solidFill>
                <a:latin typeface="Space Grotesk"/>
              </a:rPr>
              <a:t>Rollout progresses</a:t>
            </a:r>
          </a:p>
          <a:p>
            <a:pPr>
              <a:spcAft>
                <a:spcPts val="400"/>
              </a:spcAft>
              <a:defRPr sz="1600">
                <a:solidFill>
                  <a:srgbClr val="D7DEE8"/>
                </a:solidFill>
                <a:latin typeface="Plus Jakarta Sans"/>
              </a:defRPr>
            </a:pPr>
            <a:r>
              <a:rPr dirty="0"/>
              <a:t>Kubernetes uses Pod availability/readiness signals while scaling the old and new </a:t>
            </a:r>
            <a:r>
              <a:rPr dirty="0" err="1"/>
              <a:t>ReplicaSets</a:t>
            </a:r>
            <a:r>
              <a:rPr dirty="0"/>
              <a:t>.</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1900" b="1">
                <a:solidFill>
                  <a:srgbClr val="F5F7FA"/>
                </a:solidFill>
                <a:latin typeface="Space Grotesk"/>
              </a:rPr>
              <a:t>A “successful” rollout depends on the application becoming ready — not just the container existing.</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The important connection is that rollout safety depends on the new Pods actually becoming usable. This is why a bad image can stall a rollout.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Performing an update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Two common operational approaches</a:t>
            </a:r>
          </a:p>
        </p:txBody>
      </p:sp>
      <p:sp>
        <p:nvSpPr>
          <p:cNvPr id="11" name="TextBox 10"/>
          <p:cNvSpPr txBox="1"/>
          <p:nvPr/>
        </p:nvSpPr>
        <p:spPr>
          <a:xfrm>
            <a:off x="628650" y="1950000"/>
            <a:ext cx="5760118" cy="1436291"/>
          </a:xfrm>
          <a:prstGeom prst="rect">
            <a:avLst/>
          </a:prstGeom>
          <a:solidFill>
            <a:srgbClr val="09121F"/>
          </a:solidFill>
          <a:ln>
            <a:solidFill>
              <a:srgbClr val="314963"/>
            </a:solidFill>
          </a:ln>
        </p:spPr>
        <p:txBody>
          <a:bodyPr wrap="square" lIns="152400" tIns="101600" rIns="152400" bIns="101600">
            <a:spAutoFit/>
          </a:bodyPr>
          <a:lstStyle/>
          <a:p>
            <a:r>
              <a:rPr sz="1600" dirty="0">
                <a:solidFill>
                  <a:srgbClr val="F5F7FA"/>
                </a:solidFill>
                <a:latin typeface="Consolas"/>
              </a:rPr>
              <a:t># Directly change the container image
</a:t>
            </a:r>
            <a:r>
              <a:rPr sz="1600" dirty="0" err="1">
                <a:solidFill>
                  <a:srgbClr val="F5F7FA"/>
                </a:solidFill>
                <a:latin typeface="Consolas"/>
              </a:rPr>
              <a:t>kubectl</a:t>
            </a:r>
            <a:r>
              <a:rPr sz="1600" dirty="0">
                <a:solidFill>
                  <a:srgbClr val="F5F7FA"/>
                </a:solidFill>
                <a:latin typeface="Consolas"/>
              </a:rPr>
              <a:t> set image deployment/web web=nginx:1.27
# Or change the manifest and apply it
</a:t>
            </a:r>
            <a:r>
              <a:rPr sz="1600" dirty="0" err="1">
                <a:solidFill>
                  <a:srgbClr val="F5F7FA"/>
                </a:solidFill>
                <a:latin typeface="Consolas"/>
              </a:rPr>
              <a:t>kubectl</a:t>
            </a:r>
            <a:r>
              <a:rPr sz="1600" dirty="0">
                <a:solidFill>
                  <a:srgbClr val="F5F7FA"/>
                </a:solidFill>
                <a:latin typeface="Consolas"/>
              </a:rPr>
              <a:t> apply -f </a:t>
            </a:r>
            <a:r>
              <a:rPr sz="1600" dirty="0" err="1">
                <a:solidFill>
                  <a:srgbClr val="F5F7FA"/>
                </a:solidFill>
                <a:latin typeface="Consolas"/>
              </a:rPr>
              <a:t>deployment.yaml</a:t>
            </a:r>
            <a:endParaRPr sz="1600" dirty="0">
              <a:solidFill>
                <a:srgbClr val="F5F7FA"/>
              </a:solidFill>
              <a:latin typeface="Consolas"/>
            </a:endParaRPr>
          </a:p>
        </p:txBody>
      </p:sp>
      <p:sp>
        <p:nvSpPr>
          <p:cNvPr id="12" name="Rounded Rectangle 11"/>
          <p:cNvSpPr/>
          <p:nvPr/>
        </p:nvSpPr>
        <p:spPr>
          <a:xfrm>
            <a:off x="6657592" y="1941746"/>
            <a:ext cx="5265584" cy="23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What happens next?</a:t>
            </a:r>
          </a:p>
          <a:p>
            <a:pPr>
              <a:spcAft>
                <a:spcPts val="400"/>
              </a:spcAft>
              <a:defRPr sz="1600">
                <a:solidFill>
                  <a:srgbClr val="D7DEE8"/>
                </a:solidFill>
                <a:latin typeface="Plus Jakarta Sans"/>
              </a:defRPr>
            </a:pPr>
            <a:r>
              <a:rPr dirty="0"/>
              <a:t>The Pod template changes.</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That creates a new Deployment revision and a new </a:t>
            </a:r>
            <a:r>
              <a:rPr dirty="0" err="1"/>
              <a:t>ReplicaSet</a:t>
            </a:r>
            <a:r>
              <a:rPr dirty="0"/>
              <a:t>.</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The Deployment controller starts reconciling the rollout.</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lang="en-US" sz="1250" dirty="0">
                <a:solidFill>
                  <a:srgbClr val="99A6B7"/>
                </a:solidFill>
                <a:latin typeface="Plus Jakarta Sans"/>
              </a:rPr>
              <a:t>“A</a:t>
            </a:r>
            <a:r>
              <a:rPr sz="1250" b="0" dirty="0">
                <a:solidFill>
                  <a:srgbClr val="99A6B7"/>
                </a:solidFill>
                <a:latin typeface="Plus Jakarta Sans"/>
              </a:rPr>
              <a:t>pply</a:t>
            </a:r>
            <a:r>
              <a:rPr lang="en-US" sz="1250" b="0" dirty="0">
                <a:solidFill>
                  <a:srgbClr val="99A6B7"/>
                </a:solidFill>
                <a:latin typeface="Plus Jakarta Sans"/>
              </a:rPr>
              <a:t>“ </a:t>
            </a:r>
            <a:r>
              <a:rPr sz="1250" b="0" dirty="0">
                <a:solidFill>
                  <a:srgbClr val="99A6B7"/>
                </a:solidFill>
                <a:latin typeface="Plus Jakarta Sans"/>
              </a:rPr>
              <a:t>is </a:t>
            </a:r>
            <a:r>
              <a:rPr lang="en-US" sz="1250" b="0" dirty="0">
                <a:solidFill>
                  <a:srgbClr val="99A6B7"/>
                </a:solidFill>
                <a:latin typeface="Plus Jakarta Sans"/>
              </a:rPr>
              <a:t>a </a:t>
            </a:r>
            <a:r>
              <a:rPr sz="1250" b="0" dirty="0">
                <a:solidFill>
                  <a:srgbClr val="99A6B7"/>
                </a:solidFill>
                <a:latin typeface="Plus Jakarta Sans"/>
              </a:rPr>
              <a:t>declarative and usually preferred when manifests are the source of truth; set image is convenient for an operational change.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Monitoring the rollout</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Do not make a change and then stare at one Pod</a:t>
            </a:r>
          </a:p>
        </p:txBody>
      </p:sp>
      <p:sp>
        <p:nvSpPr>
          <p:cNvPr id="11" name="Rounded Rectangle 10"/>
          <p:cNvSpPr/>
          <p:nvPr/>
        </p:nvSpPr>
        <p:spPr>
          <a:xfrm>
            <a:off x="461243" y="1950000"/>
            <a:ext cx="3641526" cy="235018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51E0FF"/>
                </a:solidFill>
                <a:latin typeface="Space Grotesk"/>
              </a:rPr>
              <a:t>1 — Watch rollout</a:t>
            </a:r>
          </a:p>
          <a:p>
            <a:pPr>
              <a:spcAft>
                <a:spcPts val="400"/>
              </a:spcAft>
              <a:defRPr sz="1500">
                <a:solidFill>
                  <a:srgbClr val="D7DEE8"/>
                </a:solidFill>
                <a:latin typeface="Plus Jakarta Sans"/>
              </a:defRPr>
            </a:pPr>
            <a:r>
              <a:t>kubectl rollout status deployment/web</a:t>
            </a:r>
          </a:p>
          <a:p>
            <a:pPr>
              <a:spcAft>
                <a:spcPts val="400"/>
              </a:spcAft>
              <a:defRPr sz="1500">
                <a:solidFill>
                  <a:srgbClr val="D7DEE8"/>
                </a:solidFill>
                <a:latin typeface="Plus Jakarta Sans"/>
              </a:defRPr>
            </a:pPr>
            <a:endParaRPr/>
          </a:p>
          <a:p>
            <a:pPr>
              <a:spcAft>
                <a:spcPts val="400"/>
              </a:spcAft>
              <a:defRPr sz="1500">
                <a:solidFill>
                  <a:srgbClr val="D7DEE8"/>
                </a:solidFill>
                <a:latin typeface="Plus Jakarta Sans"/>
              </a:defRPr>
            </a:pPr>
            <a:r>
              <a:t>Answers: “Is the rollout progressing and when is it complete?”</a:t>
            </a:r>
          </a:p>
        </p:txBody>
      </p:sp>
      <p:sp>
        <p:nvSpPr>
          <p:cNvPr id="12" name="Rounded Rectangle 11"/>
          <p:cNvSpPr/>
          <p:nvPr/>
        </p:nvSpPr>
        <p:spPr>
          <a:xfrm>
            <a:off x="4659291" y="1950000"/>
            <a:ext cx="28000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70EBB1"/>
                </a:solidFill>
                <a:latin typeface="Space Grotesk"/>
              </a:rPr>
              <a:t>2 — Inspect Pods</a:t>
            </a:r>
          </a:p>
          <a:p>
            <a:pPr>
              <a:spcAft>
                <a:spcPts val="400"/>
              </a:spcAft>
              <a:defRPr sz="1500">
                <a:solidFill>
                  <a:srgbClr val="D7DEE8"/>
                </a:solidFill>
                <a:latin typeface="Plus Jakarta Sans"/>
              </a:defRPr>
            </a:pPr>
            <a:r>
              <a:rPr dirty="0" err="1"/>
              <a:t>kubectl</a:t>
            </a:r>
            <a:r>
              <a:rPr dirty="0"/>
              <a:t> get pods </a:t>
            </a:r>
            <a:r>
              <a:rPr lang="en-US" dirty="0"/>
              <a:t> -</a:t>
            </a:r>
            <a:r>
              <a:rPr lang="en-US" dirty="0" err="1"/>
              <a:t>owide</a:t>
            </a:r>
            <a:r>
              <a:rPr lang="en-US" dirty="0"/>
              <a:t> </a:t>
            </a:r>
            <a:r>
              <a:rPr dirty="0"/>
              <a:t>-w</a:t>
            </a:r>
          </a:p>
          <a:p>
            <a:pPr>
              <a:spcAft>
                <a:spcPts val="400"/>
              </a:spcAft>
              <a:defRPr sz="1500">
                <a:solidFill>
                  <a:srgbClr val="D7DEE8"/>
                </a:solidFill>
                <a:latin typeface="Plus Jakarta Sans"/>
              </a:defRPr>
            </a:pPr>
            <a:endParaRPr dirty="0"/>
          </a:p>
          <a:p>
            <a:pPr>
              <a:spcAft>
                <a:spcPts val="400"/>
              </a:spcAft>
              <a:defRPr sz="1500">
                <a:solidFill>
                  <a:srgbClr val="D7DEE8"/>
                </a:solidFill>
                <a:latin typeface="Plus Jakarta Sans"/>
              </a:defRPr>
            </a:pPr>
            <a:r>
              <a:rPr dirty="0"/>
              <a:t>Answers: “What are the actual Pod states?”</a:t>
            </a:r>
          </a:p>
        </p:txBody>
      </p:sp>
      <p:sp>
        <p:nvSpPr>
          <p:cNvPr id="13" name="Rounded Rectangle 12"/>
          <p:cNvSpPr/>
          <p:nvPr/>
        </p:nvSpPr>
        <p:spPr>
          <a:xfrm>
            <a:off x="8015814" y="1950000"/>
            <a:ext cx="28000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73B4FF"/>
                </a:solidFill>
                <a:latin typeface="Space Grotesk"/>
              </a:rPr>
              <a:t>3 — Inspect ReplicaSets</a:t>
            </a:r>
          </a:p>
          <a:p>
            <a:pPr>
              <a:spcAft>
                <a:spcPts val="400"/>
              </a:spcAft>
              <a:defRPr sz="1500">
                <a:solidFill>
                  <a:srgbClr val="D7DEE8"/>
                </a:solidFill>
                <a:latin typeface="Plus Jakarta Sans"/>
              </a:defRPr>
            </a:pPr>
            <a:r>
              <a:t>kubectl get rs</a:t>
            </a:r>
          </a:p>
          <a:p>
            <a:pPr>
              <a:spcAft>
                <a:spcPts val="400"/>
              </a:spcAft>
              <a:defRPr sz="1500">
                <a:solidFill>
                  <a:srgbClr val="D7DEE8"/>
                </a:solidFill>
                <a:latin typeface="Plus Jakarta Sans"/>
              </a:defRPr>
            </a:pPr>
            <a:endParaRPr/>
          </a:p>
          <a:p>
            <a:pPr>
              <a:spcAft>
                <a:spcPts val="400"/>
              </a:spcAft>
              <a:defRPr sz="1500">
                <a:solidFill>
                  <a:srgbClr val="D7DEE8"/>
                </a:solidFill>
                <a:latin typeface="Plus Jakarta Sans"/>
              </a:defRPr>
            </a:pPr>
            <a:r>
              <a:t>Answers: “How are old/new revisions being scaled?”</a:t>
            </a:r>
          </a:p>
        </p:txBody>
      </p:sp>
      <p:sp>
        <p:nvSpPr>
          <p:cNvPr id="14" name="TextBox 13"/>
          <p:cNvSpPr txBox="1"/>
          <p:nvPr/>
        </p:nvSpPr>
        <p:spPr>
          <a:xfrm>
            <a:off x="1025872" y="5425000"/>
            <a:ext cx="10050000" cy="384721"/>
          </a:xfrm>
          <a:prstGeom prst="rect">
            <a:avLst/>
          </a:prstGeom>
          <a:noFill/>
        </p:spPr>
        <p:txBody>
          <a:bodyPr wrap="square" lIns="27432" tIns="0" rIns="27432" bIns="0">
            <a:spAutoFit/>
          </a:bodyPr>
          <a:lstStyle/>
          <a:p>
            <a:pPr algn="l"/>
            <a:r>
              <a:rPr sz="1250" b="0" dirty="0">
                <a:solidFill>
                  <a:srgbClr val="99A6B7"/>
                </a:solidFill>
                <a:latin typeface="Plus Jakarta Sans"/>
              </a:rPr>
              <a:t>Official </a:t>
            </a:r>
            <a:r>
              <a:rPr sz="1250" b="0" dirty="0" err="1">
                <a:solidFill>
                  <a:srgbClr val="99A6B7"/>
                </a:solidFill>
                <a:latin typeface="Plus Jakarta Sans"/>
              </a:rPr>
              <a:t>kubectl</a:t>
            </a:r>
            <a:r>
              <a:rPr sz="1250" b="0" dirty="0">
                <a:solidFill>
                  <a:srgbClr val="99A6B7"/>
                </a:solidFill>
                <a:latin typeface="Plus Jakarta Sans"/>
              </a:rPr>
              <a:t> rollout status watches the latest rollout by default. Pair it with Pods and </a:t>
            </a:r>
            <a:r>
              <a:rPr sz="1250" b="0" dirty="0" err="1">
                <a:solidFill>
                  <a:srgbClr val="99A6B7"/>
                </a:solidFill>
                <a:latin typeface="Plus Jakarta Sans"/>
              </a:rPr>
              <a:t>ReplicaSets</a:t>
            </a:r>
            <a:r>
              <a:rPr sz="1250" b="0" dirty="0">
                <a:solidFill>
                  <a:srgbClr val="99A6B7"/>
                </a:solidFill>
                <a:latin typeface="Plus Jakarta Sans"/>
              </a:rPr>
              <a:t> </a:t>
            </a:r>
            <a:r>
              <a:rPr lang="en-US" sz="1250" b="0" dirty="0">
                <a:solidFill>
                  <a:srgbClr val="99A6B7"/>
                </a:solidFill>
                <a:latin typeface="Plus Jakarta Sans"/>
              </a:rPr>
              <a:t>so that you </a:t>
            </a:r>
            <a:r>
              <a:rPr sz="1250" b="0" dirty="0">
                <a:solidFill>
                  <a:srgbClr val="99A6B7"/>
                </a:solidFill>
                <a:latin typeface="Plus Jakarta Sans"/>
              </a:rPr>
              <a:t>learn to observe both the outcome and the controller mechanism.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A healthy rollout: what should you observe?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Use multiple views to build the story</a:t>
            </a:r>
          </a:p>
        </p:txBody>
      </p:sp>
      <p:sp>
        <p:nvSpPr>
          <p:cNvPr id="11" name="TextBox 10"/>
          <p:cNvSpPr txBox="1"/>
          <p:nvPr/>
        </p:nvSpPr>
        <p:spPr>
          <a:xfrm>
            <a:off x="628650" y="1950000"/>
            <a:ext cx="5900000" cy="2450000"/>
          </a:xfrm>
          <a:prstGeom prst="rect">
            <a:avLst/>
          </a:prstGeom>
          <a:noFill/>
        </p:spPr>
        <p:txBody>
          <a:bodyPr wrap="square" lIns="18288" tIns="0" rIns="18288" bIns="0">
            <a:spAutoFit/>
          </a:bodyPr>
          <a:lstStyle/>
          <a:p>
            <a:pPr>
              <a:spcAft>
                <a:spcPts val="700"/>
              </a:spcAft>
              <a:defRPr sz="1800">
                <a:solidFill>
                  <a:srgbClr val="D7DEE8"/>
                </a:solidFill>
                <a:latin typeface="Plus Jakarta Sans"/>
              </a:defRPr>
            </a:pPr>
            <a:r>
              <a:t>• New Pods are created and become Ready.</a:t>
            </a:r>
          </a:p>
          <a:p>
            <a:pPr>
              <a:spcAft>
                <a:spcPts val="700"/>
              </a:spcAft>
              <a:defRPr sz="1800">
                <a:solidFill>
                  <a:srgbClr val="D7DEE8"/>
                </a:solidFill>
                <a:latin typeface="Plus Jakarta Sans"/>
              </a:defRPr>
            </a:pPr>
            <a:r>
              <a:t>• The new ReplicaSet increases while the old ReplicaSet decreases.</a:t>
            </a:r>
          </a:p>
          <a:p>
            <a:pPr>
              <a:spcAft>
                <a:spcPts val="700"/>
              </a:spcAft>
              <a:defRPr sz="1800">
                <a:solidFill>
                  <a:srgbClr val="D7DEE8"/>
                </a:solidFill>
                <a:latin typeface="Plus Jakarta Sans"/>
              </a:defRPr>
            </a:pPr>
            <a:r>
              <a:t>• The desired replica count is eventually owned by the new version.</a:t>
            </a:r>
          </a:p>
          <a:p>
            <a:pPr>
              <a:spcAft>
                <a:spcPts val="700"/>
              </a:spcAft>
              <a:defRPr sz="1800">
                <a:solidFill>
                  <a:srgbClr val="D7DEE8"/>
                </a:solidFill>
                <a:latin typeface="Plus Jakarta Sans"/>
              </a:defRPr>
            </a:pPr>
            <a:r>
              <a:t>• rollout status reports successful completion.</a:t>
            </a:r>
          </a:p>
          <a:p>
            <a:pPr>
              <a:spcAft>
                <a:spcPts val="700"/>
              </a:spcAft>
              <a:defRPr sz="1800">
                <a:solidFill>
                  <a:srgbClr val="D7DEE8"/>
                </a:solidFill>
                <a:latin typeface="Plus Jakarta Sans"/>
              </a:defRPr>
            </a:pPr>
            <a:r>
              <a:t>• Old ReplicaSets may remain at 0 replicas for rollback history.</a:t>
            </a:r>
          </a:p>
        </p:txBody>
      </p:sp>
      <p:sp>
        <p:nvSpPr>
          <p:cNvPr id="12" name="TextBox 11"/>
          <p:cNvSpPr txBox="1"/>
          <p:nvPr/>
        </p:nvSpPr>
        <p:spPr>
          <a:xfrm>
            <a:off x="7000000" y="2050000"/>
            <a:ext cx="4075872" cy="1066959"/>
          </a:xfrm>
          <a:prstGeom prst="rect">
            <a:avLst/>
          </a:prstGeom>
          <a:solidFill>
            <a:srgbClr val="09121F"/>
          </a:solidFill>
          <a:ln>
            <a:solidFill>
              <a:srgbClr val="314963"/>
            </a:solidFill>
          </a:ln>
        </p:spPr>
        <p:txBody>
          <a:bodyPr wrap="square" lIns="152400" tIns="101600" rIns="152400" bIns="101600">
            <a:spAutoFit/>
          </a:bodyPr>
          <a:lstStyle/>
          <a:p>
            <a:r>
              <a:rPr sz="1400">
                <a:solidFill>
                  <a:srgbClr val="F5F7FA"/>
                </a:solidFill>
                <a:latin typeface="Consolas"/>
              </a:rPr>
              <a:t>kubectl get deploy web
kubectl get rs
kubectl get pods
kubectl rollout status deployment/web</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lang="en-US" sz="1250" dirty="0">
                <a:solidFill>
                  <a:srgbClr val="99A6B7"/>
                </a:solidFill>
                <a:latin typeface="Plus Jakarta Sans"/>
              </a:rPr>
              <a:t>O</a:t>
            </a:r>
            <a:r>
              <a:rPr sz="1250" b="0" dirty="0">
                <a:solidFill>
                  <a:srgbClr val="99A6B7"/>
                </a:solidFill>
                <a:latin typeface="Plus Jakarta Sans"/>
              </a:rPr>
              <a:t>ld </a:t>
            </a:r>
            <a:r>
              <a:rPr sz="1250" b="0" dirty="0" err="1">
                <a:solidFill>
                  <a:srgbClr val="99A6B7"/>
                </a:solidFill>
                <a:latin typeface="Plus Jakarta Sans"/>
              </a:rPr>
              <a:t>ReplicaSets</a:t>
            </a:r>
            <a:r>
              <a:rPr sz="1250" b="0" dirty="0">
                <a:solidFill>
                  <a:srgbClr val="99A6B7"/>
                </a:solidFill>
                <a:latin typeface="Plus Jakarta Sans"/>
              </a:rPr>
              <a:t> are not necessarily deleted immediately. They store revision information and can be retained </a:t>
            </a:r>
            <a:r>
              <a:rPr lang="en-US" sz="1250" dirty="0">
                <a:solidFill>
                  <a:srgbClr val="99A6B7"/>
                </a:solidFill>
                <a:latin typeface="Plus Jakarta Sans"/>
              </a:rPr>
              <a:t>in the History</a:t>
            </a:r>
            <a:r>
              <a:rPr sz="1250" b="0" dirty="0">
                <a:solidFill>
                  <a:srgbClr val="99A6B7"/>
                </a:solidFill>
                <a:latin typeface="Plus Jakarta Sans"/>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When a rollout stalls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A rollout can stop making progress without immediately being “rolled back”</a:t>
            </a:r>
          </a:p>
        </p:txBody>
      </p:sp>
      <p:sp>
        <p:nvSpPr>
          <p:cNvPr id="11" name="Rounded Rectangle 10"/>
          <p:cNvSpPr/>
          <p:nvPr/>
        </p:nvSpPr>
        <p:spPr>
          <a:xfrm>
            <a:off x="628650" y="1950000"/>
            <a:ext cx="40000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Typical causes</a:t>
            </a:r>
          </a:p>
          <a:p>
            <a:pPr>
              <a:spcAft>
                <a:spcPts val="400"/>
              </a:spcAft>
              <a:defRPr sz="1600">
                <a:solidFill>
                  <a:srgbClr val="D7DEE8"/>
                </a:solidFill>
                <a:latin typeface="Plus Jakarta Sans"/>
              </a:defRPr>
            </a:pPr>
            <a:r>
              <a:t>Bad image / ImagePullBackOff</a:t>
            </a:r>
          </a:p>
          <a:p>
            <a:pPr>
              <a:spcAft>
                <a:spcPts val="400"/>
              </a:spcAft>
              <a:defRPr sz="1600">
                <a:solidFill>
                  <a:srgbClr val="D7DEE8"/>
                </a:solidFill>
                <a:latin typeface="Plus Jakarta Sans"/>
              </a:defRPr>
            </a:pPr>
            <a:r>
              <a:t>CrashLoopBackOff</a:t>
            </a:r>
          </a:p>
          <a:p>
            <a:pPr>
              <a:spcAft>
                <a:spcPts val="400"/>
              </a:spcAft>
              <a:defRPr sz="1600">
                <a:solidFill>
                  <a:srgbClr val="D7DEE8"/>
                </a:solidFill>
                <a:latin typeface="Plus Jakarta Sans"/>
              </a:defRPr>
            </a:pPr>
            <a:r>
              <a:t>Readiness never succeeds</a:t>
            </a:r>
          </a:p>
          <a:p>
            <a:pPr>
              <a:spcAft>
                <a:spcPts val="400"/>
              </a:spcAft>
              <a:defRPr sz="1600">
                <a:solidFill>
                  <a:srgbClr val="D7DEE8"/>
                </a:solidFill>
                <a:latin typeface="Plus Jakarta Sans"/>
              </a:defRPr>
            </a:pPr>
            <a:r>
              <a:t>Insufficient cluster resources</a:t>
            </a:r>
          </a:p>
          <a:p>
            <a:pPr>
              <a:spcAft>
                <a:spcPts val="400"/>
              </a:spcAft>
              <a:defRPr sz="1600">
                <a:solidFill>
                  <a:srgbClr val="D7DEE8"/>
                </a:solidFill>
                <a:latin typeface="Plus Jakarta Sans"/>
              </a:defRPr>
            </a:pPr>
            <a:r>
              <a:t>Configuration or secret errors</a:t>
            </a:r>
          </a:p>
        </p:txBody>
      </p:sp>
      <p:sp>
        <p:nvSpPr>
          <p:cNvPr id="12" name="Rounded Rectangle 11"/>
          <p:cNvSpPr/>
          <p:nvPr/>
        </p:nvSpPr>
        <p:spPr>
          <a:xfrm>
            <a:off x="4900000" y="1950000"/>
            <a:ext cx="46000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First troubleshooting steps</a:t>
            </a:r>
          </a:p>
          <a:p>
            <a:pPr>
              <a:spcAft>
                <a:spcPts val="400"/>
              </a:spcAft>
              <a:defRPr sz="1500">
                <a:solidFill>
                  <a:srgbClr val="D7DEE8"/>
                </a:solidFill>
                <a:latin typeface="Plus Jakarta Sans"/>
              </a:defRPr>
            </a:pPr>
            <a:r>
              <a:rPr dirty="0" err="1"/>
              <a:t>kubectl</a:t>
            </a:r>
            <a:r>
              <a:rPr dirty="0"/>
              <a:t> describe deployment web</a:t>
            </a:r>
          </a:p>
          <a:p>
            <a:pPr>
              <a:spcAft>
                <a:spcPts val="400"/>
              </a:spcAft>
              <a:defRPr sz="1500">
                <a:solidFill>
                  <a:srgbClr val="D7DEE8"/>
                </a:solidFill>
                <a:latin typeface="Plus Jakarta Sans"/>
              </a:defRPr>
            </a:pPr>
            <a:r>
              <a:rPr dirty="0" err="1"/>
              <a:t>kubectl</a:t>
            </a:r>
            <a:r>
              <a:rPr dirty="0"/>
              <a:t> get pods</a:t>
            </a:r>
          </a:p>
          <a:p>
            <a:pPr>
              <a:spcAft>
                <a:spcPts val="400"/>
              </a:spcAft>
              <a:defRPr sz="1500">
                <a:solidFill>
                  <a:srgbClr val="D7DEE8"/>
                </a:solidFill>
                <a:latin typeface="Plus Jakarta Sans"/>
              </a:defRPr>
            </a:pPr>
            <a:r>
              <a:rPr dirty="0" err="1"/>
              <a:t>kubectl</a:t>
            </a:r>
            <a:r>
              <a:rPr dirty="0"/>
              <a:t> describe pod &lt;</a:t>
            </a:r>
            <a:r>
              <a:rPr dirty="0" err="1"/>
              <a:t>pod</a:t>
            </a:r>
            <a:r>
              <a:rPr lang="en-US" dirty="0" err="1"/>
              <a:t>_id</a:t>
            </a:r>
            <a:r>
              <a:rPr dirty="0"/>
              <a:t>&gt;</a:t>
            </a:r>
          </a:p>
          <a:p>
            <a:pPr>
              <a:spcAft>
                <a:spcPts val="400"/>
              </a:spcAft>
              <a:defRPr sz="1500">
                <a:solidFill>
                  <a:srgbClr val="D7DEE8"/>
                </a:solidFill>
                <a:latin typeface="Plus Jakarta Sans"/>
              </a:defRPr>
            </a:pPr>
            <a:r>
              <a:rPr dirty="0" err="1"/>
              <a:t>kubectl</a:t>
            </a:r>
            <a:r>
              <a:rPr dirty="0"/>
              <a:t> get events --sort-by=.</a:t>
            </a:r>
            <a:r>
              <a:rPr dirty="0" err="1"/>
              <a:t>lastTimestamp</a:t>
            </a:r>
            <a:endParaRPr dirty="0"/>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The official rolling-update task recommends describe + Events for a stalled rollout.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progressDeadlineSeconds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When should Kubernetes consider a rollout stalled?</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Default: 600 seconds</a:t>
            </a:r>
          </a:p>
          <a:p>
            <a:pPr>
              <a:spcAft>
                <a:spcPts val="400"/>
              </a:spcAft>
              <a:defRPr sz="1600">
                <a:solidFill>
                  <a:srgbClr val="D7DEE8"/>
                </a:solidFill>
                <a:latin typeface="Plus Jakarta Sans"/>
              </a:defRPr>
            </a:pPr>
            <a:r>
              <a:t>If the Deployment does not make progress within the configured deadline, Kubernetes marks Progressing=False with a progress-deadline-exceeded reason.</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Important distinction</a:t>
            </a:r>
          </a:p>
          <a:p>
            <a:pPr>
              <a:spcAft>
                <a:spcPts val="400"/>
              </a:spcAft>
              <a:defRPr sz="1600">
                <a:solidFill>
                  <a:srgbClr val="D7DEE8"/>
                </a:solidFill>
                <a:latin typeface="Plus Jakarta Sans"/>
              </a:defRPr>
            </a:pPr>
            <a:r>
              <a:t>Kubernetes reports the stalled rollout; it does not automatically perform a rollback for you.</a:t>
            </a:r>
          </a:p>
        </p:txBody>
      </p:sp>
      <p:sp>
        <p:nvSpPr>
          <p:cNvPr id="13" name="TextBox 12"/>
          <p:cNvSpPr txBox="1"/>
          <p:nvPr/>
        </p:nvSpPr>
        <p:spPr>
          <a:xfrm>
            <a:off x="628650" y="4150000"/>
            <a:ext cx="10001250" cy="900000"/>
          </a:xfrm>
          <a:prstGeom prst="rect">
            <a:avLst/>
          </a:prstGeom>
          <a:solidFill>
            <a:srgbClr val="09121F"/>
          </a:solidFill>
          <a:ln>
            <a:solidFill>
              <a:srgbClr val="314963"/>
            </a:solidFill>
          </a:ln>
        </p:spPr>
        <p:txBody>
          <a:bodyPr wrap="none" lIns="152400" tIns="101600" rIns="152400" bIns="101600">
            <a:spAutoFit/>
          </a:bodyPr>
          <a:lstStyle/>
          <a:p>
            <a:r>
              <a:rPr sz="1500">
                <a:solidFill>
                  <a:srgbClr val="F5F7FA"/>
                </a:solidFill>
                <a:latin typeface="Consolas"/>
              </a:rPr>
              <a:t>kubectl describe deployment web
# Look at Conditions and Events</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lang="en-US" sz="1250" dirty="0" err="1">
                <a:solidFill>
                  <a:srgbClr val="99A6B7"/>
                </a:solidFill>
                <a:latin typeface="Plus Jakarta Sans"/>
              </a:rPr>
              <a:t>P</a:t>
            </a:r>
            <a:r>
              <a:rPr sz="1250" b="0" dirty="0" err="1">
                <a:solidFill>
                  <a:srgbClr val="99A6B7"/>
                </a:solidFill>
                <a:latin typeface="Plus Jakarta Sans"/>
              </a:rPr>
              <a:t>rogressDeadlineSeconds</a:t>
            </a:r>
            <a:r>
              <a:rPr sz="1250" b="0" dirty="0">
                <a:solidFill>
                  <a:srgbClr val="99A6B7"/>
                </a:solidFill>
                <a:latin typeface="Plus Jakarta Sans"/>
              </a:rPr>
              <a:t> is</a:t>
            </a:r>
            <a:r>
              <a:rPr lang="en-US" sz="1250" b="0" dirty="0">
                <a:solidFill>
                  <a:srgbClr val="99A6B7"/>
                </a:solidFill>
                <a:latin typeface="Plus Jakarta Sans"/>
              </a:rPr>
              <a:t> a</a:t>
            </a:r>
            <a:r>
              <a:rPr sz="1250" b="0" dirty="0">
                <a:solidFill>
                  <a:srgbClr val="99A6B7"/>
                </a:solidFill>
                <a:latin typeface="Plus Jakarta Sans"/>
              </a:rPr>
              <a:t> detection/reporting</a:t>
            </a:r>
            <a:r>
              <a:rPr lang="en-US" sz="1250" b="0" dirty="0">
                <a:solidFill>
                  <a:srgbClr val="99A6B7"/>
                </a:solidFill>
                <a:latin typeface="Plus Jakarta Sans"/>
              </a:rPr>
              <a:t> mechanism</a:t>
            </a:r>
            <a:r>
              <a:rPr sz="1250" b="0" dirty="0">
                <a:solidFill>
                  <a:srgbClr val="99A6B7"/>
                </a:solidFill>
                <a:latin typeface="Plus Jakarta Sans"/>
              </a:rPr>
              <a:t>, not </a:t>
            </a:r>
            <a:r>
              <a:rPr lang="en-US" sz="1250" b="0" dirty="0">
                <a:solidFill>
                  <a:srgbClr val="99A6B7"/>
                </a:solidFill>
                <a:latin typeface="Plus Jakarta Sans"/>
              </a:rPr>
              <a:t>an </a:t>
            </a:r>
            <a:r>
              <a:rPr sz="1250" b="0" dirty="0">
                <a:solidFill>
                  <a:srgbClr val="99A6B7"/>
                </a:solidFill>
                <a:latin typeface="Plus Jakarta Sans"/>
              </a:rPr>
              <a:t>automatic rollback. Recovery is an operational decision.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Rollout history and revisions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ReplicaSets are where Deployment revision history lives</a:t>
            </a:r>
          </a:p>
        </p:txBody>
      </p:sp>
      <p:sp>
        <p:nvSpPr>
          <p:cNvPr id="11" name="TextBox 10"/>
          <p:cNvSpPr txBox="1"/>
          <p:nvPr/>
        </p:nvSpPr>
        <p:spPr>
          <a:xfrm>
            <a:off x="628650" y="1950000"/>
            <a:ext cx="5700000" cy="2450000"/>
          </a:xfrm>
          <a:prstGeom prst="rect">
            <a:avLst/>
          </a:prstGeom>
          <a:noFill/>
        </p:spPr>
        <p:txBody>
          <a:bodyPr wrap="square" lIns="18288" tIns="0" rIns="18288" bIns="0">
            <a:spAutoFit/>
          </a:bodyPr>
          <a:lstStyle/>
          <a:p>
            <a:pPr>
              <a:spcAft>
                <a:spcPts val="700"/>
              </a:spcAft>
              <a:defRPr sz="1800">
                <a:solidFill>
                  <a:srgbClr val="D7DEE8"/>
                </a:solidFill>
                <a:latin typeface="Plus Jakarta Sans"/>
              </a:defRPr>
            </a:pPr>
            <a:r>
              <a:t>• Each Pod-template change creates a new revision.</a:t>
            </a:r>
          </a:p>
          <a:p>
            <a:pPr>
              <a:spcAft>
                <a:spcPts val="700"/>
              </a:spcAft>
              <a:defRPr sz="1800">
                <a:solidFill>
                  <a:srgbClr val="D7DEE8"/>
                </a:solidFill>
                <a:latin typeface="Plus Jakarta Sans"/>
              </a:defRPr>
            </a:pPr>
            <a:r>
              <a:t>• The Deployment keeps old ReplicaSets according to revisionHistoryLimit.</a:t>
            </a:r>
          </a:p>
          <a:p>
            <a:pPr>
              <a:spcAft>
                <a:spcPts val="700"/>
              </a:spcAft>
              <a:defRPr sz="1800">
                <a:solidFill>
                  <a:srgbClr val="D7DEE8"/>
                </a:solidFill>
                <a:latin typeface="Plus Jakarta Sans"/>
              </a:defRPr>
            </a:pPr>
            <a:r>
              <a:t>• Default revisionHistoryLimit: 10 old ReplicaSets.</a:t>
            </a:r>
          </a:p>
          <a:p>
            <a:pPr>
              <a:spcAft>
                <a:spcPts val="700"/>
              </a:spcAft>
              <a:defRPr sz="1800">
                <a:solidFill>
                  <a:srgbClr val="D7DEE8"/>
                </a:solidFill>
                <a:latin typeface="Plus Jakarta Sans"/>
              </a:defRPr>
            </a:pPr>
            <a:r>
              <a:t>• Setting revisionHistoryLimit to 0 removes rollback history after cleanup.</a:t>
            </a:r>
          </a:p>
        </p:txBody>
      </p:sp>
      <p:sp>
        <p:nvSpPr>
          <p:cNvPr id="12" name="TextBox 11"/>
          <p:cNvSpPr txBox="1"/>
          <p:nvPr/>
        </p:nvSpPr>
        <p:spPr>
          <a:xfrm>
            <a:off x="6900000" y="2049999"/>
            <a:ext cx="4663350" cy="1066959"/>
          </a:xfrm>
          <a:prstGeom prst="rect">
            <a:avLst/>
          </a:prstGeom>
          <a:solidFill>
            <a:srgbClr val="09121F"/>
          </a:solidFill>
          <a:ln>
            <a:solidFill>
              <a:srgbClr val="314963"/>
            </a:solidFill>
          </a:ln>
        </p:spPr>
        <p:txBody>
          <a:bodyPr wrap="square" lIns="152400" tIns="101600" rIns="152400" bIns="101600">
            <a:spAutoFit/>
          </a:bodyPr>
          <a:lstStyle/>
          <a:p>
            <a:r>
              <a:rPr sz="1400">
                <a:solidFill>
                  <a:srgbClr val="F5F7FA"/>
                </a:solidFill>
                <a:latin typeface="Consolas"/>
              </a:rPr>
              <a:t>kubectl rollout history deployment/web
kubectl rollout history deployment/web \
  --revision=2</a:t>
            </a:r>
          </a:p>
        </p:txBody>
      </p:sp>
      <p:sp>
        <p:nvSpPr>
          <p:cNvPr id="13" name="TextBox 12"/>
          <p:cNvSpPr txBox="1"/>
          <p:nvPr/>
        </p:nvSpPr>
        <p:spPr>
          <a:xfrm>
            <a:off x="1025872" y="5425000"/>
            <a:ext cx="10050000" cy="620000"/>
          </a:xfrm>
          <a:prstGeom prst="rect">
            <a:avLst/>
          </a:prstGeom>
          <a:noFill/>
        </p:spPr>
        <p:txBody>
          <a:bodyPr wrap="square" lIns="27432" tIns="0" rIns="27432" bIns="0">
            <a:spAutoFit/>
          </a:bodyPr>
          <a:lstStyle/>
          <a:p>
            <a:pPr algn="l"/>
            <a:r>
              <a:rPr sz="1250" b="0" dirty="0">
                <a:solidFill>
                  <a:srgbClr val="99A6B7"/>
                </a:solidFill>
                <a:latin typeface="Plus Jakarta Sans"/>
              </a:rPr>
              <a:t>History is not stored as a magical separate Deployment object. The old </a:t>
            </a:r>
            <a:r>
              <a:rPr sz="1250" b="0" dirty="0" err="1">
                <a:solidFill>
                  <a:srgbClr val="99A6B7"/>
                </a:solidFill>
                <a:latin typeface="Plus Jakarta Sans"/>
              </a:rPr>
              <a:t>ReplicaSets</a:t>
            </a:r>
            <a:r>
              <a:rPr sz="1250" b="0" dirty="0">
                <a:solidFill>
                  <a:srgbClr val="99A6B7"/>
                </a:solidFill>
                <a:latin typeface="Plus Jakarta Sans"/>
              </a:rPr>
              <a:t> carry the previous Pod-template configurations. If they are cleaned up, you lose the ability to roll back to those revisions.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Rollback: recover from a bad release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 normal response when the new revision is unhealthy</a:t>
            </a:r>
          </a:p>
        </p:txBody>
      </p:sp>
      <p:sp>
        <p:nvSpPr>
          <p:cNvPr id="11" name="Rounded Rectangle 10"/>
          <p:cNvSpPr/>
          <p:nvPr/>
        </p:nvSpPr>
        <p:spPr>
          <a:xfrm>
            <a:off x="628650" y="1950000"/>
            <a:ext cx="3000000" cy="23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1. Detect</a:t>
            </a:r>
          </a:p>
          <a:p>
            <a:pPr>
              <a:spcAft>
                <a:spcPts val="400"/>
              </a:spcAft>
              <a:defRPr sz="1600">
                <a:solidFill>
                  <a:srgbClr val="D7DEE8"/>
                </a:solidFill>
                <a:latin typeface="Plus Jakarta Sans"/>
              </a:defRPr>
            </a:pPr>
            <a:r>
              <a:t>New Pods fail or the application is unstable.</a:t>
            </a:r>
          </a:p>
        </p:txBody>
      </p:sp>
      <p:sp>
        <p:nvSpPr>
          <p:cNvPr id="12" name="Rounded Rectangle 11"/>
          <p:cNvSpPr/>
          <p:nvPr/>
        </p:nvSpPr>
        <p:spPr>
          <a:xfrm>
            <a:off x="3927688" y="1966350"/>
            <a:ext cx="3000000" cy="23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2. Inspect</a:t>
            </a:r>
          </a:p>
          <a:p>
            <a:pPr>
              <a:spcAft>
                <a:spcPts val="400"/>
              </a:spcAft>
              <a:defRPr sz="1600">
                <a:solidFill>
                  <a:srgbClr val="D7DEE8"/>
                </a:solidFill>
                <a:latin typeface="Plus Jakarta Sans"/>
              </a:defRPr>
            </a:pPr>
            <a:r>
              <a:t>Pods, Events, Deployment conditions, rollout history.</a:t>
            </a:r>
          </a:p>
        </p:txBody>
      </p:sp>
      <p:sp>
        <p:nvSpPr>
          <p:cNvPr id="13" name="Rounded Rectangle 12"/>
          <p:cNvSpPr/>
          <p:nvPr/>
        </p:nvSpPr>
        <p:spPr>
          <a:xfrm>
            <a:off x="7226725" y="1950000"/>
            <a:ext cx="4010769" cy="23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70EBB1"/>
                </a:solidFill>
                <a:latin typeface="Space Grotesk"/>
              </a:rPr>
              <a:t>3. Undo</a:t>
            </a:r>
          </a:p>
          <a:p>
            <a:pPr>
              <a:spcAft>
                <a:spcPts val="400"/>
              </a:spcAft>
              <a:defRPr sz="1500">
                <a:solidFill>
                  <a:srgbClr val="D7DEE8"/>
                </a:solidFill>
                <a:latin typeface="Plus Jakarta Sans"/>
              </a:defRPr>
            </a:pPr>
            <a:r>
              <a:rPr dirty="0" err="1"/>
              <a:t>kubectl</a:t>
            </a:r>
            <a:r>
              <a:rPr dirty="0"/>
              <a:t> rollout undo deployment/web</a:t>
            </a:r>
          </a:p>
          <a:p>
            <a:pPr>
              <a:spcAft>
                <a:spcPts val="400"/>
              </a:spcAft>
              <a:defRPr sz="1500">
                <a:solidFill>
                  <a:srgbClr val="D7DEE8"/>
                </a:solidFill>
                <a:latin typeface="Plus Jakarta Sans"/>
              </a:defRPr>
            </a:pPr>
            <a:endParaRPr dirty="0"/>
          </a:p>
          <a:p>
            <a:pPr>
              <a:spcAft>
                <a:spcPts val="400"/>
              </a:spcAft>
              <a:defRPr sz="1500">
                <a:solidFill>
                  <a:srgbClr val="D7DEE8"/>
                </a:solidFill>
                <a:latin typeface="Plus Jakarta Sans"/>
              </a:defRPr>
            </a:pPr>
            <a:r>
              <a:rPr dirty="0"/>
              <a:t>Or target a revision with --to-revision.</a:t>
            </a:r>
          </a:p>
        </p:txBody>
      </p:sp>
      <p:sp>
        <p:nvSpPr>
          <p:cNvPr id="14" name="TextBox 13"/>
          <p:cNvSpPr txBox="1"/>
          <p:nvPr/>
        </p:nvSpPr>
        <p:spPr>
          <a:xfrm>
            <a:off x="628650" y="4350000"/>
            <a:ext cx="10001250" cy="650000"/>
          </a:xfrm>
          <a:prstGeom prst="rect">
            <a:avLst/>
          </a:prstGeom>
          <a:noFill/>
        </p:spPr>
        <p:txBody>
          <a:bodyPr wrap="square" lIns="27432" tIns="0" rIns="27432" bIns="0">
            <a:spAutoFit/>
          </a:bodyPr>
          <a:lstStyle/>
          <a:p>
            <a:pPr algn="ctr"/>
            <a:r>
              <a:rPr sz="1900" b="1">
                <a:solidFill>
                  <a:srgbClr val="F5F7FA"/>
                </a:solidFill>
                <a:latin typeface="Space Grotesk"/>
              </a:rPr>
              <a:t>Rollback starts another rollout toward the previous Pod template.</a:t>
            </a:r>
          </a:p>
        </p:txBody>
      </p:sp>
      <p:sp>
        <p:nvSpPr>
          <p:cNvPr id="15" name="TextBox 14"/>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A rollback is not “time travel” for the entire Deployment object. </a:t>
            </a:r>
            <a:r>
              <a:rPr lang="en-US" sz="1250" b="0" dirty="0">
                <a:solidFill>
                  <a:srgbClr val="99A6B7"/>
                </a:solidFill>
                <a:latin typeface="Plus Jakarta Sans"/>
              </a:rPr>
              <a:t>The </a:t>
            </a:r>
            <a:r>
              <a:rPr sz="1250" b="0" dirty="0">
                <a:solidFill>
                  <a:srgbClr val="99A6B7"/>
                </a:solidFill>
                <a:latin typeface="Plus Jakarta Sans"/>
              </a:rPr>
              <a:t>rollback restores the Pod-template part. Scaling changes are separate.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Pause and resume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Useful when you want to group or inspect changes before continuing</a:t>
            </a:r>
          </a:p>
        </p:txBody>
      </p:sp>
      <p:sp>
        <p:nvSpPr>
          <p:cNvPr id="11" name="TextBox 10"/>
          <p:cNvSpPr txBox="1"/>
          <p:nvPr/>
        </p:nvSpPr>
        <p:spPr>
          <a:xfrm>
            <a:off x="628650" y="2000000"/>
            <a:ext cx="4700000" cy="1900000"/>
          </a:xfrm>
          <a:prstGeom prst="rect">
            <a:avLst/>
          </a:prstGeom>
          <a:solidFill>
            <a:srgbClr val="09121F"/>
          </a:solidFill>
          <a:ln>
            <a:solidFill>
              <a:srgbClr val="314963"/>
            </a:solidFill>
          </a:ln>
        </p:spPr>
        <p:txBody>
          <a:bodyPr wrap="none" lIns="152400" tIns="101600" rIns="152400" bIns="101600">
            <a:spAutoFit/>
          </a:bodyPr>
          <a:lstStyle/>
          <a:p>
            <a:r>
              <a:rPr sz="1600">
                <a:solidFill>
                  <a:srgbClr val="F5F7FA"/>
                </a:solidFill>
                <a:latin typeface="Consolas"/>
              </a:rPr>
              <a:t>kubectl rollout pause deployment/web
# make / inspect Pod-template changes
kubectl rollout resume deployment/web</a:t>
            </a:r>
          </a:p>
        </p:txBody>
      </p:sp>
      <p:sp>
        <p:nvSpPr>
          <p:cNvPr id="12" name="Rounded Rectangle 11"/>
          <p:cNvSpPr/>
          <p:nvPr/>
        </p:nvSpPr>
        <p:spPr>
          <a:xfrm>
            <a:off x="5700000" y="2000000"/>
            <a:ext cx="4929900"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51E0FF"/>
                </a:solidFill>
                <a:latin typeface="Space Grotesk"/>
              </a:rPr>
              <a:t>When is this useful?</a:t>
            </a:r>
          </a:p>
          <a:p>
            <a:pPr>
              <a:spcAft>
                <a:spcPts val="400"/>
              </a:spcAft>
              <a:defRPr sz="1600">
                <a:solidFill>
                  <a:srgbClr val="D7DEE8"/>
                </a:solidFill>
                <a:latin typeface="Plus Jakarta Sans"/>
              </a:defRPr>
            </a:pPr>
            <a:r>
              <a:t>Controlled rollout workflows</a:t>
            </a:r>
          </a:p>
          <a:p>
            <a:pPr>
              <a:spcAft>
                <a:spcPts val="400"/>
              </a:spcAft>
              <a:defRPr sz="1600">
                <a:solidFill>
                  <a:srgbClr val="D7DEE8"/>
                </a:solidFill>
                <a:latin typeface="Plus Jakarta Sans"/>
              </a:defRPr>
            </a:pPr>
            <a:r>
              <a:t>Batching multiple Pod-template changes</a:t>
            </a:r>
          </a:p>
          <a:p>
            <a:pPr>
              <a:spcAft>
                <a:spcPts val="400"/>
              </a:spcAft>
              <a:defRPr sz="1600">
                <a:solidFill>
                  <a:srgbClr val="D7DEE8"/>
                </a:solidFill>
                <a:latin typeface="Plus Jakarta Sans"/>
              </a:defRPr>
            </a:pPr>
            <a:r>
              <a:t>Inspecting a staged configuration before resuming</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Pause/resume is lower priority than surge, unavailable, status, history and undo.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Part 1</a:t>
            </a:r>
          </a:p>
        </p:txBody>
      </p:sp>
      <p:sp>
        <p:nvSpPr>
          <p:cNvPr id="10" name="TextBox 9"/>
          <p:cNvSpPr txBox="1"/>
          <p:nvPr/>
        </p:nvSpPr>
        <p:spPr>
          <a:xfrm>
            <a:off x="628650" y="1114425"/>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Create, observe, update, and explain the rollout</a:t>
            </a:r>
          </a:p>
        </p:txBody>
      </p:sp>
      <p:sp>
        <p:nvSpPr>
          <p:cNvPr id="11" name="TextBox 10"/>
          <p:cNvSpPr txBox="1"/>
          <p:nvPr/>
        </p:nvSpPr>
        <p:spPr>
          <a:xfrm>
            <a:off x="628650" y="1476375"/>
            <a:ext cx="10584782" cy="3005951"/>
          </a:xfrm>
          <a:prstGeom prst="rect">
            <a:avLst/>
          </a:prstGeom>
          <a:solidFill>
            <a:srgbClr val="09121F"/>
          </a:solidFill>
          <a:ln>
            <a:solidFill>
              <a:srgbClr val="314963"/>
            </a:solidFill>
          </a:ln>
        </p:spPr>
        <p:txBody>
          <a:bodyPr wrap="square" lIns="152400" tIns="101600" rIns="152400" bIns="101600">
            <a:spAutoFit/>
          </a:bodyPr>
          <a:lstStyle/>
          <a:p>
            <a:r>
              <a:rPr sz="1400" dirty="0">
                <a:solidFill>
                  <a:srgbClr val="F5F7FA"/>
                </a:solidFill>
                <a:latin typeface="Consolas"/>
              </a:rPr>
              <a:t># 1. Create the lab Deployment
</a:t>
            </a:r>
            <a:r>
              <a:rPr sz="1400" dirty="0" err="1">
                <a:solidFill>
                  <a:srgbClr val="F5F7FA"/>
                </a:solidFill>
                <a:latin typeface="Consolas"/>
              </a:rPr>
              <a:t>kubectl</a:t>
            </a:r>
            <a:r>
              <a:rPr sz="1400" dirty="0">
                <a:solidFill>
                  <a:srgbClr val="F5F7FA"/>
                </a:solidFill>
                <a:latin typeface="Consolas"/>
              </a:rPr>
              <a:t> apply -f hello-</a:t>
            </a:r>
            <a:r>
              <a:rPr sz="1400" dirty="0" err="1">
                <a:solidFill>
                  <a:srgbClr val="F5F7FA"/>
                </a:solidFill>
                <a:latin typeface="Consolas"/>
              </a:rPr>
              <a:t>dep.yaml</a:t>
            </a:r>
            <a:r>
              <a:rPr sz="1400" dirty="0">
                <a:solidFill>
                  <a:srgbClr val="F5F7FA"/>
                </a:solidFill>
                <a:latin typeface="Consolas"/>
              </a:rPr>
              <a:t>
# 2. Baseline
</a:t>
            </a:r>
            <a:r>
              <a:rPr sz="1400" dirty="0" err="1">
                <a:solidFill>
                  <a:srgbClr val="F5F7FA"/>
                </a:solidFill>
                <a:latin typeface="Consolas"/>
              </a:rPr>
              <a:t>kubectl</a:t>
            </a:r>
            <a:r>
              <a:rPr sz="1400" dirty="0">
                <a:solidFill>
                  <a:srgbClr val="F5F7FA"/>
                </a:solidFill>
                <a:latin typeface="Consolas"/>
              </a:rPr>
              <a:t> get </a:t>
            </a:r>
            <a:r>
              <a:rPr sz="1400" dirty="0" err="1">
                <a:solidFill>
                  <a:srgbClr val="F5F7FA"/>
                </a:solidFill>
                <a:latin typeface="Consolas"/>
              </a:rPr>
              <a:t>deployment,rs,pods</a:t>
            </a:r>
            <a:r>
              <a:rPr sz="1400" dirty="0">
                <a:solidFill>
                  <a:srgbClr val="F5F7FA"/>
                </a:solidFill>
                <a:latin typeface="Consolas"/>
              </a:rPr>
              <a:t>
# 3. Update v1 → v2
</a:t>
            </a:r>
            <a:r>
              <a:rPr sz="1400" dirty="0" err="1">
                <a:solidFill>
                  <a:srgbClr val="F5F7FA"/>
                </a:solidFill>
                <a:latin typeface="Consolas"/>
              </a:rPr>
              <a:t>kubectl</a:t>
            </a:r>
            <a:r>
              <a:rPr sz="1400" dirty="0">
                <a:solidFill>
                  <a:srgbClr val="F5F7FA"/>
                </a:solidFill>
                <a:latin typeface="Consolas"/>
              </a:rPr>
              <a:t> set image deployment/hello-dep hello=nginx:1.27
# 4. Watch it
</a:t>
            </a:r>
            <a:r>
              <a:rPr sz="1400" dirty="0" err="1">
                <a:solidFill>
                  <a:srgbClr val="F5F7FA"/>
                </a:solidFill>
                <a:latin typeface="Consolas"/>
              </a:rPr>
              <a:t>kubectl</a:t>
            </a:r>
            <a:r>
              <a:rPr sz="1400" dirty="0">
                <a:solidFill>
                  <a:srgbClr val="F5F7FA"/>
                </a:solidFill>
                <a:latin typeface="Consolas"/>
              </a:rPr>
              <a:t> rollout status deployment/hello-dep
</a:t>
            </a:r>
            <a:r>
              <a:rPr sz="1400" dirty="0" err="1">
                <a:solidFill>
                  <a:srgbClr val="F5F7FA"/>
                </a:solidFill>
                <a:latin typeface="Consolas"/>
              </a:rPr>
              <a:t>kubectl</a:t>
            </a:r>
            <a:r>
              <a:rPr sz="1400" dirty="0">
                <a:solidFill>
                  <a:srgbClr val="F5F7FA"/>
                </a:solidFill>
                <a:latin typeface="Consolas"/>
              </a:rPr>
              <a:t> get </a:t>
            </a:r>
            <a:r>
              <a:rPr sz="1400" dirty="0" err="1">
                <a:solidFill>
                  <a:srgbClr val="F5F7FA"/>
                </a:solidFill>
                <a:latin typeface="Consolas"/>
              </a:rPr>
              <a:t>rs</a:t>
            </a:r>
            <a:r>
              <a:rPr sz="1400" dirty="0">
                <a:solidFill>
                  <a:srgbClr val="F5F7FA"/>
                </a:solidFill>
                <a:latin typeface="Consolas"/>
              </a:rPr>
              <a:t>
</a:t>
            </a:r>
            <a:r>
              <a:rPr sz="1400" dirty="0" err="1">
                <a:solidFill>
                  <a:srgbClr val="F5F7FA"/>
                </a:solidFill>
                <a:latin typeface="Consolas"/>
              </a:rPr>
              <a:t>kubectl</a:t>
            </a:r>
            <a:r>
              <a:rPr sz="1400" dirty="0">
                <a:solidFill>
                  <a:srgbClr val="F5F7FA"/>
                </a:solidFill>
                <a:latin typeface="Consolas"/>
              </a:rPr>
              <a:t> get pods -w</a:t>
            </a:r>
          </a:p>
        </p:txBody>
      </p:sp>
      <p:sp>
        <p:nvSpPr>
          <p:cNvPr id="12" name="TextBox 11"/>
          <p:cNvSpPr txBox="1"/>
          <p:nvPr/>
        </p:nvSpPr>
        <p:spPr>
          <a:xfrm>
            <a:off x="628650" y="4550000"/>
            <a:ext cx="10001250" cy="276999"/>
          </a:xfrm>
          <a:prstGeom prst="rect">
            <a:avLst/>
          </a:prstGeom>
          <a:noFill/>
        </p:spPr>
        <p:txBody>
          <a:bodyPr wrap="square" lIns="27432" tIns="0" rIns="27432" bIns="0">
            <a:spAutoFit/>
          </a:bodyPr>
          <a:lstStyle/>
          <a:p>
            <a:pPr algn="ctr"/>
            <a:r>
              <a:rPr lang="en-US" b="1" dirty="0">
                <a:solidFill>
                  <a:srgbClr val="51E0FF"/>
                </a:solidFill>
                <a:latin typeface="Space Grotesk"/>
              </a:rPr>
              <a:t>C</a:t>
            </a:r>
            <a:r>
              <a:rPr sz="1800" b="1" dirty="0">
                <a:solidFill>
                  <a:srgbClr val="51E0FF"/>
                </a:solidFill>
                <a:latin typeface="Space Grotesk"/>
              </a:rPr>
              <a:t>hallenge: explain what happened to the old </a:t>
            </a:r>
            <a:r>
              <a:rPr sz="1800" b="1" dirty="0" err="1">
                <a:solidFill>
                  <a:srgbClr val="51E0FF"/>
                </a:solidFill>
                <a:latin typeface="Space Grotesk"/>
              </a:rPr>
              <a:t>ReplicaSet</a:t>
            </a:r>
            <a:r>
              <a:rPr sz="1800" b="1" dirty="0">
                <a:solidFill>
                  <a:srgbClr val="51E0FF"/>
                </a:solidFill>
                <a:latin typeface="Space Grotesk"/>
              </a:rPr>
              <a:t>.</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Lab goal: identify Deployment, old/new </a:t>
            </a:r>
            <a:r>
              <a:rPr sz="1250" b="0" dirty="0" err="1">
                <a:solidFill>
                  <a:srgbClr val="99A6B7"/>
                </a:solidFill>
                <a:latin typeface="Plus Jakarta Sans"/>
              </a:rPr>
              <a:t>ReplicaSet</a:t>
            </a:r>
            <a:r>
              <a:rPr sz="1250" b="0" dirty="0">
                <a:solidFill>
                  <a:srgbClr val="99A6B7"/>
                </a:solidFill>
                <a:latin typeface="Plus Jakarta Sans"/>
              </a:rPr>
              <a:t>, and Pods before moving on.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Part 2</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Break the rollout deliberately, then diagnose it</a:t>
            </a:r>
          </a:p>
        </p:txBody>
      </p:sp>
      <p:sp>
        <p:nvSpPr>
          <p:cNvPr id="11" name="TextBox 10"/>
          <p:cNvSpPr txBox="1"/>
          <p:nvPr/>
        </p:nvSpPr>
        <p:spPr>
          <a:xfrm>
            <a:off x="628649" y="1900000"/>
            <a:ext cx="5856371" cy="2805896"/>
          </a:xfrm>
          <a:prstGeom prst="rect">
            <a:avLst/>
          </a:prstGeom>
          <a:solidFill>
            <a:srgbClr val="09121F"/>
          </a:solidFill>
          <a:ln>
            <a:solidFill>
              <a:srgbClr val="314963"/>
            </a:solidFill>
          </a:ln>
        </p:spPr>
        <p:txBody>
          <a:bodyPr wrap="square" lIns="152400" tIns="101600" rIns="152400" bIns="101600">
            <a:spAutoFit/>
          </a:bodyPr>
          <a:lstStyle/>
          <a:p>
            <a:r>
              <a:rPr sz="1300" dirty="0">
                <a:solidFill>
                  <a:srgbClr val="F5F7FA"/>
                </a:solidFill>
                <a:latin typeface="Consolas"/>
              </a:rPr>
              <a:t># Deploy a deliberately invalid image
</a:t>
            </a:r>
            <a:r>
              <a:rPr sz="1300" dirty="0" err="1">
                <a:solidFill>
                  <a:srgbClr val="F5F7FA"/>
                </a:solidFill>
                <a:latin typeface="Consolas"/>
              </a:rPr>
              <a:t>kubectl</a:t>
            </a:r>
            <a:r>
              <a:rPr sz="1300" dirty="0">
                <a:solidFill>
                  <a:srgbClr val="F5F7FA"/>
                </a:solidFill>
                <a:latin typeface="Consolas"/>
              </a:rPr>
              <a:t> set image deployment/hello-dep \
  hello=</a:t>
            </a:r>
            <a:r>
              <a:rPr sz="1300" dirty="0" err="1">
                <a:solidFill>
                  <a:srgbClr val="F5F7FA"/>
                </a:solidFill>
                <a:latin typeface="Consolas"/>
              </a:rPr>
              <a:t>nginx:this-tag-does-not-exist</a:t>
            </a:r>
            <a:r>
              <a:rPr sz="1300" dirty="0">
                <a:solidFill>
                  <a:srgbClr val="F5F7FA"/>
                </a:solidFill>
                <a:latin typeface="Consolas"/>
              </a:rPr>
              <a:t>
# Observe
</a:t>
            </a:r>
            <a:r>
              <a:rPr sz="1300" dirty="0" err="1">
                <a:solidFill>
                  <a:srgbClr val="F5F7FA"/>
                </a:solidFill>
                <a:latin typeface="Consolas"/>
              </a:rPr>
              <a:t>kubectl</a:t>
            </a:r>
            <a:r>
              <a:rPr sz="1300" dirty="0">
                <a:solidFill>
                  <a:srgbClr val="F5F7FA"/>
                </a:solidFill>
                <a:latin typeface="Consolas"/>
              </a:rPr>
              <a:t> get pods
</a:t>
            </a:r>
            <a:r>
              <a:rPr sz="1300" dirty="0" err="1">
                <a:solidFill>
                  <a:srgbClr val="F5F7FA"/>
                </a:solidFill>
                <a:latin typeface="Consolas"/>
              </a:rPr>
              <a:t>kubectl</a:t>
            </a:r>
            <a:r>
              <a:rPr sz="1300" dirty="0">
                <a:solidFill>
                  <a:srgbClr val="F5F7FA"/>
                </a:solidFill>
                <a:latin typeface="Consolas"/>
              </a:rPr>
              <a:t> get </a:t>
            </a:r>
            <a:r>
              <a:rPr sz="1300" dirty="0" err="1">
                <a:solidFill>
                  <a:srgbClr val="F5F7FA"/>
                </a:solidFill>
                <a:latin typeface="Consolas"/>
              </a:rPr>
              <a:t>rs</a:t>
            </a:r>
            <a:r>
              <a:rPr sz="1300" dirty="0">
                <a:solidFill>
                  <a:srgbClr val="F5F7FA"/>
                </a:solidFill>
                <a:latin typeface="Consolas"/>
              </a:rPr>
              <a:t>
</a:t>
            </a:r>
            <a:r>
              <a:rPr sz="1300" dirty="0" err="1">
                <a:solidFill>
                  <a:srgbClr val="F5F7FA"/>
                </a:solidFill>
                <a:latin typeface="Consolas"/>
              </a:rPr>
              <a:t>kubectl</a:t>
            </a:r>
            <a:r>
              <a:rPr sz="1300" dirty="0">
                <a:solidFill>
                  <a:srgbClr val="F5F7FA"/>
                </a:solidFill>
                <a:latin typeface="Consolas"/>
              </a:rPr>
              <a:t> rollout status deployment/hello-dep
# Diagnose
</a:t>
            </a:r>
            <a:r>
              <a:rPr sz="1300" dirty="0" err="1">
                <a:solidFill>
                  <a:srgbClr val="F5F7FA"/>
                </a:solidFill>
                <a:latin typeface="Consolas"/>
              </a:rPr>
              <a:t>kubectl</a:t>
            </a:r>
            <a:r>
              <a:rPr sz="1300" dirty="0">
                <a:solidFill>
                  <a:srgbClr val="F5F7FA"/>
                </a:solidFill>
                <a:latin typeface="Consolas"/>
              </a:rPr>
              <a:t> describe deployment/hello-dep
</a:t>
            </a:r>
            <a:r>
              <a:rPr sz="1300" dirty="0" err="1">
                <a:solidFill>
                  <a:srgbClr val="F5F7FA"/>
                </a:solidFill>
                <a:latin typeface="Consolas"/>
              </a:rPr>
              <a:t>kubectl</a:t>
            </a:r>
            <a:r>
              <a:rPr sz="1300" dirty="0">
                <a:solidFill>
                  <a:srgbClr val="F5F7FA"/>
                </a:solidFill>
                <a:latin typeface="Consolas"/>
              </a:rPr>
              <a:t> describe pod &lt;new-pod&gt;
</a:t>
            </a:r>
            <a:r>
              <a:rPr sz="1300" dirty="0" err="1">
                <a:solidFill>
                  <a:srgbClr val="F5F7FA"/>
                </a:solidFill>
                <a:latin typeface="Consolas"/>
              </a:rPr>
              <a:t>kubectl</a:t>
            </a:r>
            <a:r>
              <a:rPr sz="1300" dirty="0">
                <a:solidFill>
                  <a:srgbClr val="F5F7FA"/>
                </a:solidFill>
                <a:latin typeface="Consolas"/>
              </a:rPr>
              <a:t> get events --sort-by=.</a:t>
            </a:r>
            <a:r>
              <a:rPr sz="1300" dirty="0" err="1">
                <a:solidFill>
                  <a:srgbClr val="F5F7FA"/>
                </a:solidFill>
                <a:latin typeface="Consolas"/>
              </a:rPr>
              <a:t>lastTimestamp</a:t>
            </a:r>
            <a:endParaRPr sz="1300" dirty="0">
              <a:solidFill>
                <a:srgbClr val="F5F7FA"/>
              </a:solidFill>
              <a:latin typeface="Consolas"/>
            </a:endParaRPr>
          </a:p>
        </p:txBody>
      </p:sp>
      <p:sp>
        <p:nvSpPr>
          <p:cNvPr id="12" name="Rounded Rectangle 11"/>
          <p:cNvSpPr/>
          <p:nvPr/>
        </p:nvSpPr>
        <p:spPr>
          <a:xfrm>
            <a:off x="7463324" y="1885950"/>
            <a:ext cx="3900000"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Expected learning</a:t>
            </a:r>
          </a:p>
          <a:p>
            <a:pPr>
              <a:spcAft>
                <a:spcPts val="400"/>
              </a:spcAft>
              <a:defRPr sz="1600">
                <a:solidFill>
                  <a:srgbClr val="D7DEE8"/>
                </a:solidFill>
                <a:latin typeface="Plus Jakarta Sans"/>
              </a:defRPr>
            </a:pPr>
            <a:r>
              <a:t>The new ReplicaSet exists.</a:t>
            </a:r>
          </a:p>
          <a:p>
            <a:pPr>
              <a:spcAft>
                <a:spcPts val="400"/>
              </a:spcAft>
              <a:defRPr sz="1600">
                <a:solidFill>
                  <a:srgbClr val="D7DEE8"/>
                </a:solidFill>
                <a:latin typeface="Plus Jakarta Sans"/>
              </a:defRPr>
            </a:pPr>
            <a:r>
              <a:t>New Pods cannot become Ready.</a:t>
            </a:r>
          </a:p>
          <a:p>
            <a:pPr>
              <a:spcAft>
                <a:spcPts val="400"/>
              </a:spcAft>
              <a:defRPr sz="1600">
                <a:solidFill>
                  <a:srgbClr val="D7DEE8"/>
                </a:solidFill>
                <a:latin typeface="Plus Jakarta Sans"/>
              </a:defRPr>
            </a:pPr>
            <a:r>
              <a:t>The rollout stops making progress.</a:t>
            </a:r>
          </a:p>
          <a:p>
            <a:pPr>
              <a:spcAft>
                <a:spcPts val="400"/>
              </a:spcAft>
              <a:defRPr sz="1600">
                <a:solidFill>
                  <a:srgbClr val="D7DEE8"/>
                </a:solidFill>
                <a:latin typeface="Plus Jakarta Sans"/>
              </a:defRPr>
            </a:pPr>
            <a:r>
              <a:t>Events reveal the image-pull problem.</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The goal is to connect rollout mechanics to real operational symptoms.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Part 3</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Recover using rollout history and undo</a:t>
            </a:r>
          </a:p>
        </p:txBody>
      </p:sp>
      <p:sp>
        <p:nvSpPr>
          <p:cNvPr id="11" name="TextBox 10"/>
          <p:cNvSpPr txBox="1"/>
          <p:nvPr/>
        </p:nvSpPr>
        <p:spPr>
          <a:xfrm>
            <a:off x="628650" y="1900000"/>
            <a:ext cx="4700000" cy="2700000"/>
          </a:xfrm>
          <a:prstGeom prst="rect">
            <a:avLst/>
          </a:prstGeom>
          <a:solidFill>
            <a:srgbClr val="09121F"/>
          </a:solidFill>
          <a:ln>
            <a:solidFill>
              <a:srgbClr val="314963"/>
            </a:solidFill>
          </a:ln>
        </p:spPr>
        <p:txBody>
          <a:bodyPr wrap="none" lIns="152400" tIns="101600" rIns="152400" bIns="101600">
            <a:spAutoFit/>
          </a:bodyPr>
          <a:lstStyle/>
          <a:p>
            <a:r>
              <a:rPr sz="1400">
                <a:solidFill>
                  <a:srgbClr val="F5F7FA"/>
                </a:solidFill>
                <a:latin typeface="Consolas"/>
              </a:rPr>
              <a:t># Review revisions
kubectl rollout history deployment/hello-dep
# Roll back
kubectl rollout undo deployment/hello-dep
# Verify
kubectl rollout status deployment/hello-dep
kubectl get rs
kubectl get pods</a:t>
            </a:r>
          </a:p>
        </p:txBody>
      </p:sp>
      <p:sp>
        <p:nvSpPr>
          <p:cNvPr id="12" name="Rounded Rectangle 11"/>
          <p:cNvSpPr/>
          <p:nvPr/>
        </p:nvSpPr>
        <p:spPr>
          <a:xfrm>
            <a:off x="5700000" y="1900000"/>
            <a:ext cx="3900000"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70EBB1"/>
                </a:solidFill>
                <a:latin typeface="Space Grotesk"/>
              </a:rPr>
              <a:t>Challenge questions</a:t>
            </a:r>
          </a:p>
          <a:p>
            <a:pPr>
              <a:spcAft>
                <a:spcPts val="400"/>
              </a:spcAft>
              <a:defRPr sz="1600">
                <a:solidFill>
                  <a:srgbClr val="D7DEE8"/>
                </a:solidFill>
                <a:latin typeface="Plus Jakarta Sans"/>
              </a:defRPr>
            </a:pPr>
            <a:r>
              <a:t>Which ReplicaSet becomes active?</a:t>
            </a:r>
          </a:p>
          <a:p>
            <a:pPr>
              <a:spcAft>
                <a:spcPts val="400"/>
              </a:spcAft>
              <a:defRPr sz="1600">
                <a:solidFill>
                  <a:srgbClr val="D7DEE8"/>
                </a:solidFill>
                <a:latin typeface="Plus Jakarta Sans"/>
              </a:defRPr>
            </a:pPr>
            <a:r>
              <a:t>What happens to the broken revision?</a:t>
            </a:r>
          </a:p>
          <a:p>
            <a:pPr>
              <a:spcAft>
                <a:spcPts val="400"/>
              </a:spcAft>
              <a:defRPr sz="1600">
                <a:solidFill>
                  <a:srgbClr val="D7DEE8"/>
                </a:solidFill>
                <a:latin typeface="Plus Jakarta Sans"/>
              </a:defRPr>
            </a:pPr>
            <a:r>
              <a:t>Why was rollback possible?</a:t>
            </a:r>
          </a:p>
          <a:p>
            <a:pPr>
              <a:spcAft>
                <a:spcPts val="400"/>
              </a:spcAft>
              <a:defRPr sz="1600">
                <a:solidFill>
                  <a:srgbClr val="D7DEE8"/>
                </a:solidFill>
                <a:latin typeface="Plus Jakarta Sans"/>
              </a:defRPr>
            </a:pPr>
            <a:r>
              <a:t>What would happen if history had been removed?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Knowledge check + mental model</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If these answers are clear, the Rolling Updates section is doing its job</a:t>
            </a:r>
          </a:p>
        </p:txBody>
      </p:sp>
      <p:sp>
        <p:nvSpPr>
          <p:cNvPr id="11" name="TextBox 10"/>
          <p:cNvSpPr txBox="1"/>
          <p:nvPr/>
        </p:nvSpPr>
        <p:spPr>
          <a:xfrm>
            <a:off x="628650" y="1900000"/>
            <a:ext cx="5600000" cy="3000000"/>
          </a:xfrm>
          <a:prstGeom prst="rect">
            <a:avLst/>
          </a:prstGeom>
          <a:noFill/>
        </p:spPr>
        <p:txBody>
          <a:bodyPr wrap="square" lIns="18288" tIns="0" rIns="18288" bIns="0">
            <a:spAutoFit/>
          </a:bodyPr>
          <a:lstStyle/>
          <a:p>
            <a:pPr>
              <a:spcAft>
                <a:spcPts val="700"/>
              </a:spcAft>
              <a:defRPr sz="1600">
                <a:solidFill>
                  <a:srgbClr val="D7DEE8"/>
                </a:solidFill>
                <a:latin typeface="Plus Jakarta Sans"/>
              </a:defRPr>
            </a:pPr>
            <a:r>
              <a:t>• 3 replicas + maxSurge=1 → what is the surge limit?</a:t>
            </a:r>
          </a:p>
          <a:p>
            <a:pPr>
              <a:spcAft>
                <a:spcPts val="700"/>
              </a:spcAft>
              <a:defRPr sz="1600">
                <a:solidFill>
                  <a:srgbClr val="D7DEE8"/>
                </a:solidFill>
                <a:latin typeface="Plus Jakarta Sans"/>
              </a:defRPr>
            </a:pPr>
            <a:r>
              <a:t>• 3 replicas + maxUnavailable=1 → how much unavailable capacity is permitted?</a:t>
            </a:r>
          </a:p>
          <a:p>
            <a:pPr>
              <a:spcAft>
                <a:spcPts val="700"/>
              </a:spcAft>
              <a:defRPr sz="1600">
                <a:solidFill>
                  <a:srgbClr val="D7DEE8"/>
                </a:solidFill>
                <a:latin typeface="Plus Jakarta Sans"/>
              </a:defRPr>
            </a:pPr>
            <a:r>
              <a:t>• Does scaling replicas create a new revision?</a:t>
            </a:r>
          </a:p>
          <a:p>
            <a:pPr>
              <a:spcAft>
                <a:spcPts val="700"/>
              </a:spcAft>
              <a:defRPr sz="1600">
                <a:solidFill>
                  <a:srgbClr val="D7DEE8"/>
                </a:solidFill>
                <a:latin typeface="Plus Jakarta Sans"/>
              </a:defRPr>
            </a:pPr>
            <a:r>
              <a:t>• What command watches rollout progress?</a:t>
            </a:r>
          </a:p>
          <a:p>
            <a:pPr>
              <a:spcAft>
                <a:spcPts val="700"/>
              </a:spcAft>
              <a:defRPr sz="1600">
                <a:solidFill>
                  <a:srgbClr val="D7DEE8"/>
                </a:solidFill>
                <a:latin typeface="Plus Jakarta Sans"/>
              </a:defRPr>
            </a:pPr>
            <a:r>
              <a:t>• Where is rollout history stored?</a:t>
            </a:r>
          </a:p>
          <a:p>
            <a:pPr>
              <a:spcAft>
                <a:spcPts val="700"/>
              </a:spcAft>
              <a:defRPr sz="1600">
                <a:solidFill>
                  <a:srgbClr val="D7DEE8"/>
                </a:solidFill>
                <a:latin typeface="Plus Jakarta Sans"/>
              </a:defRPr>
            </a:pPr>
            <a:r>
              <a:t>• What command reverts the Deployment to the previous revision?</a:t>
            </a:r>
          </a:p>
          <a:p>
            <a:pPr>
              <a:spcAft>
                <a:spcPts val="700"/>
              </a:spcAft>
              <a:defRPr sz="1600">
                <a:solidFill>
                  <a:srgbClr val="D7DEE8"/>
                </a:solidFill>
                <a:latin typeface="Plus Jakarta Sans"/>
              </a:defRPr>
            </a:pPr>
            <a:r>
              <a:t>• A new Pod is stuck in ImagePullBackOff — where do you look first?</a:t>
            </a:r>
          </a:p>
        </p:txBody>
      </p:sp>
      <p:sp>
        <p:nvSpPr>
          <p:cNvPr id="12" name="Rounded Rectangle 11"/>
          <p:cNvSpPr/>
          <p:nvPr/>
        </p:nvSpPr>
        <p:spPr>
          <a:xfrm>
            <a:off x="7920810" y="1257200"/>
            <a:ext cx="3155062" cy="36428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Mental model</a:t>
            </a:r>
          </a:p>
          <a:p>
            <a:pPr>
              <a:spcAft>
                <a:spcPts val="400"/>
              </a:spcAft>
              <a:defRPr sz="1600">
                <a:solidFill>
                  <a:srgbClr val="D7DEE8"/>
                </a:solidFill>
                <a:latin typeface="Plus Jakarta Sans"/>
              </a:defRPr>
            </a:pPr>
            <a:r>
              <a:rPr dirty="0"/>
              <a:t>Deployment</a:t>
            </a:r>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a:t>old + new </a:t>
            </a:r>
            <a:r>
              <a:rPr dirty="0" err="1"/>
              <a:t>ReplicaSets</a:t>
            </a:r>
            <a:endParaRPr dirty="0"/>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a:t>Pods</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err="1"/>
              <a:t>maxSurge</a:t>
            </a:r>
            <a:r>
              <a:rPr dirty="0"/>
              <a:t> / </a:t>
            </a:r>
            <a:r>
              <a:rPr dirty="0" err="1"/>
              <a:t>maxUnavailable</a:t>
            </a:r>
            <a:endParaRPr dirty="0"/>
          </a:p>
          <a:p>
            <a:pPr>
              <a:spcAft>
                <a:spcPts val="400"/>
              </a:spcAft>
              <a:defRPr sz="1600">
                <a:solidFill>
                  <a:srgbClr val="D7DEE8"/>
                </a:solidFill>
                <a:latin typeface="Plus Jakarta Sans"/>
              </a:defRPr>
            </a:pPr>
            <a:r>
              <a:rPr dirty="0"/>
              <a:t>control the transition</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status → history → undo</a:t>
            </a:r>
          </a:p>
          <a:p>
            <a:pPr>
              <a:spcAft>
                <a:spcPts val="400"/>
              </a:spcAft>
              <a:defRPr sz="1600">
                <a:solidFill>
                  <a:srgbClr val="D7DEE8"/>
                </a:solidFill>
                <a:latin typeface="Plus Jakarta Sans"/>
              </a:defRPr>
            </a:pPr>
            <a:r>
              <a:rPr dirty="0"/>
              <a:t>form the operator loop</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Natural transition </a:t>
            </a:r>
            <a:r>
              <a:rPr sz="1250" b="0" dirty="0">
                <a:solidFill>
                  <a:srgbClr val="99A6B7"/>
                </a:solidFill>
                <a:latin typeface="Plus Jakarta Sans"/>
              </a:rPr>
              <a:t>to Services: once Pods are changing underneath us, how do clients reach the application reliably?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Kubernetes Services</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Stable networking for changing Pods</a:t>
            </a:r>
          </a:p>
        </p:txBody>
      </p:sp>
      <p:sp>
        <p:nvSpPr>
          <p:cNvPr id="12" name="TextBox 11"/>
          <p:cNvSpPr txBox="1"/>
          <p:nvPr/>
        </p:nvSpPr>
        <p:spPr>
          <a:xfrm>
            <a:off x="1025872" y="5425000"/>
            <a:ext cx="10050000" cy="769441"/>
          </a:xfrm>
          <a:prstGeom prst="rect">
            <a:avLst/>
          </a:prstGeom>
          <a:noFill/>
        </p:spPr>
        <p:txBody>
          <a:bodyPr wrap="square" lIns="27432" tIns="0" rIns="27432" bIns="0">
            <a:spAutoFit/>
          </a:bodyPr>
          <a:lstStyle/>
          <a:p>
            <a:pPr algn="l"/>
            <a:r>
              <a:rPr lang="en-US" sz="1250" b="0" dirty="0">
                <a:solidFill>
                  <a:srgbClr val="99A6B7"/>
                </a:solidFill>
                <a:latin typeface="Plus Jakarta Sans"/>
              </a:rPr>
              <a:t>Connected directly to Rolling Updates: the rollout replaces Pod IPs, but clients should not track those IPs. A Service separates client addressing from Pod lifecycle.</a:t>
            </a:r>
          </a:p>
          <a:p>
            <a:r>
              <a:rPr lang="en-US" sz="1250" dirty="0">
                <a:solidFill>
                  <a:srgbClr val="99A6B7"/>
                </a:solidFill>
                <a:latin typeface="Plus Jakarta Sans"/>
              </a:rPr>
              <a:t>A Service is a Kubernetes object that provides a stable permanent entry point to one or many Pods.</a:t>
            </a:r>
            <a:br>
              <a:rPr lang="en-US" sz="1250" dirty="0">
                <a:solidFill>
                  <a:srgbClr val="99A6B7"/>
                </a:solidFill>
                <a:latin typeface="Plus Jakarta Sans"/>
              </a:rPr>
            </a:br>
            <a:endParaRPr lang="en-US" sz="1250" dirty="0">
              <a:solidFill>
                <a:srgbClr val="99A6B7"/>
              </a:solidFill>
              <a:latin typeface="Plus Jakarta Sans"/>
            </a:endParaRPr>
          </a:p>
        </p:txBody>
      </p:sp>
      <p:sp>
        <p:nvSpPr>
          <p:cNvPr id="6" name="TextBox 5">
            <a:extLst>
              <a:ext uri="{FF2B5EF4-FFF2-40B4-BE49-F238E27FC236}">
                <a16:creationId xmlns:a16="http://schemas.microsoft.com/office/drawing/2014/main" id="{4748AAE4-9ED6-13F9-9FA8-AB4304CEA3E7}"/>
              </a:ext>
            </a:extLst>
          </p:cNvPr>
          <p:cNvSpPr txBox="1"/>
          <p:nvPr/>
        </p:nvSpPr>
        <p:spPr>
          <a:xfrm>
            <a:off x="628650" y="1881137"/>
            <a:ext cx="9144000" cy="1097280"/>
          </a:xfrm>
          <a:prstGeom prst="rect">
            <a:avLst/>
          </a:prstGeom>
          <a:noFill/>
        </p:spPr>
        <p:txBody>
          <a:bodyPr wrap="square" anchor="t">
            <a:spAutoFit/>
          </a:bodyPr>
          <a:lstStyle/>
          <a:p>
            <a:pPr algn="l"/>
            <a:r>
              <a:rPr sz="1900" b="0" dirty="0">
                <a:solidFill>
                  <a:srgbClr val="CCD3DE"/>
                </a:solidFill>
                <a:latin typeface="Plus Jakarta Sans"/>
              </a:rPr>
              <a:t>A Service exposes one or more Pods behind a stable network endpoint. Clients connect to the Service while Kubernetes keeps the current backend endpoints in sync.</a:t>
            </a:r>
          </a:p>
        </p:txBody>
      </p:sp>
      <p:sp>
        <p:nvSpPr>
          <p:cNvPr id="17" name="Rounded Rectangle 11">
            <a:extLst>
              <a:ext uri="{FF2B5EF4-FFF2-40B4-BE49-F238E27FC236}">
                <a16:creationId xmlns:a16="http://schemas.microsoft.com/office/drawing/2014/main" id="{36F07A6E-B68E-BB61-2F63-A4350C0608E9}"/>
              </a:ext>
            </a:extLst>
          </p:cNvPr>
          <p:cNvSpPr/>
          <p:nvPr/>
        </p:nvSpPr>
        <p:spPr>
          <a:xfrm>
            <a:off x="68580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1">
            <a:extLst>
              <a:ext uri="{FF2B5EF4-FFF2-40B4-BE49-F238E27FC236}">
                <a16:creationId xmlns:a16="http://schemas.microsoft.com/office/drawing/2014/main" id="{934C5021-F958-0FB0-0374-AE20F24F07AF}"/>
              </a:ext>
            </a:extLst>
          </p:cNvPr>
          <p:cNvSpPr/>
          <p:nvPr/>
        </p:nvSpPr>
        <p:spPr>
          <a:xfrm>
            <a:off x="387477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1">
            <a:extLst>
              <a:ext uri="{FF2B5EF4-FFF2-40B4-BE49-F238E27FC236}">
                <a16:creationId xmlns:a16="http://schemas.microsoft.com/office/drawing/2014/main" id="{FD32325E-6720-B29F-00D8-3F791E8F0EDB}"/>
              </a:ext>
            </a:extLst>
          </p:cNvPr>
          <p:cNvSpPr/>
          <p:nvPr/>
        </p:nvSpPr>
        <p:spPr>
          <a:xfrm>
            <a:off x="706374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E5ACEF36-BAD8-4438-1A5C-D83F7E243AAD}"/>
              </a:ext>
            </a:extLst>
          </p:cNvPr>
          <p:cNvSpPr txBox="1"/>
          <p:nvPr/>
        </p:nvSpPr>
        <p:spPr>
          <a:xfrm>
            <a:off x="828675" y="2916936"/>
            <a:ext cx="2322576" cy="320040"/>
          </a:xfrm>
          <a:prstGeom prst="rect">
            <a:avLst/>
          </a:prstGeom>
          <a:noFill/>
        </p:spPr>
        <p:txBody>
          <a:bodyPr wrap="square" anchor="t">
            <a:spAutoFit/>
          </a:bodyPr>
          <a:lstStyle/>
          <a:p>
            <a:pPr algn="l"/>
            <a:r>
              <a:rPr sz="1500" b="1" dirty="0">
                <a:solidFill>
                  <a:srgbClr val="25C7FF"/>
                </a:solidFill>
                <a:latin typeface="Space Grotesk"/>
              </a:rPr>
              <a:t>1</a:t>
            </a:r>
          </a:p>
        </p:txBody>
      </p:sp>
      <p:sp>
        <p:nvSpPr>
          <p:cNvPr id="25" name="TextBox 24">
            <a:extLst>
              <a:ext uri="{FF2B5EF4-FFF2-40B4-BE49-F238E27FC236}">
                <a16:creationId xmlns:a16="http://schemas.microsoft.com/office/drawing/2014/main" id="{1BD61E48-1B0F-898F-F52A-79D2EE2690DA}"/>
              </a:ext>
            </a:extLst>
          </p:cNvPr>
          <p:cNvSpPr txBox="1"/>
          <p:nvPr/>
        </p:nvSpPr>
        <p:spPr>
          <a:xfrm>
            <a:off x="3950334" y="2916936"/>
            <a:ext cx="2322576" cy="320040"/>
          </a:xfrm>
          <a:prstGeom prst="rect">
            <a:avLst/>
          </a:prstGeom>
          <a:noFill/>
        </p:spPr>
        <p:txBody>
          <a:bodyPr wrap="square" anchor="t">
            <a:spAutoFit/>
          </a:bodyPr>
          <a:lstStyle/>
          <a:p>
            <a:pPr algn="l"/>
            <a:r>
              <a:rPr sz="1500" b="1" dirty="0">
                <a:solidFill>
                  <a:srgbClr val="8CF7D7"/>
                </a:solidFill>
                <a:latin typeface="Space Grotesk"/>
              </a:rPr>
              <a:t>2</a:t>
            </a:r>
          </a:p>
        </p:txBody>
      </p:sp>
      <p:sp>
        <p:nvSpPr>
          <p:cNvPr id="27" name="TextBox 26">
            <a:extLst>
              <a:ext uri="{FF2B5EF4-FFF2-40B4-BE49-F238E27FC236}">
                <a16:creationId xmlns:a16="http://schemas.microsoft.com/office/drawing/2014/main" id="{D9524D72-DE76-3A9D-7FF0-A4B450AFDB29}"/>
              </a:ext>
            </a:extLst>
          </p:cNvPr>
          <p:cNvSpPr txBox="1"/>
          <p:nvPr/>
        </p:nvSpPr>
        <p:spPr>
          <a:xfrm>
            <a:off x="7139304" y="2916936"/>
            <a:ext cx="2322576" cy="320040"/>
          </a:xfrm>
          <a:prstGeom prst="rect">
            <a:avLst/>
          </a:prstGeom>
          <a:noFill/>
        </p:spPr>
        <p:txBody>
          <a:bodyPr wrap="square" anchor="t">
            <a:spAutoFit/>
          </a:bodyPr>
          <a:lstStyle/>
          <a:p>
            <a:pPr algn="l"/>
            <a:r>
              <a:rPr sz="1500" b="1" dirty="0">
                <a:solidFill>
                  <a:srgbClr val="25C7FF"/>
                </a:solidFill>
                <a:latin typeface="Space Grotesk"/>
              </a:rPr>
              <a:t>3</a:t>
            </a:r>
          </a:p>
        </p:txBody>
      </p:sp>
      <p:sp>
        <p:nvSpPr>
          <p:cNvPr id="29" name="TextBox 28">
            <a:extLst>
              <a:ext uri="{FF2B5EF4-FFF2-40B4-BE49-F238E27FC236}">
                <a16:creationId xmlns:a16="http://schemas.microsoft.com/office/drawing/2014/main" id="{DD664B68-803C-A561-4E61-0EA59B4F996F}"/>
              </a:ext>
            </a:extLst>
          </p:cNvPr>
          <p:cNvSpPr txBox="1"/>
          <p:nvPr/>
        </p:nvSpPr>
        <p:spPr>
          <a:xfrm>
            <a:off x="850392" y="3291839"/>
            <a:ext cx="2322576" cy="731519"/>
          </a:xfrm>
          <a:prstGeom prst="rect">
            <a:avLst/>
          </a:prstGeom>
          <a:noFill/>
        </p:spPr>
        <p:txBody>
          <a:bodyPr wrap="square" anchor="t">
            <a:spAutoFit/>
          </a:bodyPr>
          <a:lstStyle/>
          <a:p>
            <a:pPr algn="l"/>
            <a:r>
              <a:rPr sz="1200" b="0" dirty="0">
                <a:solidFill>
                  <a:srgbClr val="CCD3DE"/>
                </a:solidFill>
                <a:latin typeface="Plus Jakarta Sans"/>
              </a:rPr>
              <a:t>Pods can change</a:t>
            </a:r>
          </a:p>
        </p:txBody>
      </p:sp>
      <p:sp>
        <p:nvSpPr>
          <p:cNvPr id="31" name="TextBox 30">
            <a:extLst>
              <a:ext uri="{FF2B5EF4-FFF2-40B4-BE49-F238E27FC236}">
                <a16:creationId xmlns:a16="http://schemas.microsoft.com/office/drawing/2014/main" id="{48A2A40C-33CB-D744-C721-B3F48ECE0A10}"/>
              </a:ext>
            </a:extLst>
          </p:cNvPr>
          <p:cNvSpPr txBox="1"/>
          <p:nvPr/>
        </p:nvSpPr>
        <p:spPr>
          <a:xfrm>
            <a:off x="3969590" y="3291839"/>
            <a:ext cx="2322576" cy="731519"/>
          </a:xfrm>
          <a:prstGeom prst="rect">
            <a:avLst/>
          </a:prstGeom>
          <a:noFill/>
        </p:spPr>
        <p:txBody>
          <a:bodyPr wrap="square" anchor="t">
            <a:spAutoFit/>
          </a:bodyPr>
          <a:lstStyle/>
          <a:p>
            <a:pPr algn="l"/>
            <a:r>
              <a:rPr sz="1200" b="0" dirty="0">
                <a:solidFill>
                  <a:srgbClr val="CCD3DE"/>
                </a:solidFill>
                <a:latin typeface="Plus Jakarta Sans"/>
              </a:rPr>
              <a:t>Service selects backends</a:t>
            </a:r>
          </a:p>
        </p:txBody>
      </p:sp>
      <p:sp>
        <p:nvSpPr>
          <p:cNvPr id="33" name="TextBox 32">
            <a:extLst>
              <a:ext uri="{FF2B5EF4-FFF2-40B4-BE49-F238E27FC236}">
                <a16:creationId xmlns:a16="http://schemas.microsoft.com/office/drawing/2014/main" id="{25417823-D66A-B6CA-DDF3-B4B527A54DB9}"/>
              </a:ext>
            </a:extLst>
          </p:cNvPr>
          <p:cNvSpPr txBox="1"/>
          <p:nvPr/>
        </p:nvSpPr>
        <p:spPr>
          <a:xfrm>
            <a:off x="7063740" y="3291839"/>
            <a:ext cx="2322576" cy="731519"/>
          </a:xfrm>
          <a:prstGeom prst="rect">
            <a:avLst/>
          </a:prstGeom>
          <a:noFill/>
        </p:spPr>
        <p:txBody>
          <a:bodyPr wrap="square" anchor="t">
            <a:spAutoFit/>
          </a:bodyPr>
          <a:lstStyle/>
          <a:p>
            <a:pPr algn="l"/>
            <a:r>
              <a:rPr sz="1200" b="0" dirty="0">
                <a:solidFill>
                  <a:srgbClr val="CCD3DE"/>
                </a:solidFill>
                <a:latin typeface="Plus Jakarta Sans"/>
              </a:rPr>
              <a:t>Clients use a stable endpoint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Why do we need Services?</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Pod identity is temporary; application connectivity should not be</a:t>
            </a:r>
          </a:p>
        </p:txBody>
      </p:sp>
      <p:sp>
        <p:nvSpPr>
          <p:cNvPr id="11" name="TextBox 10"/>
          <p:cNvSpPr txBox="1"/>
          <p:nvPr/>
        </p:nvSpPr>
        <p:spPr>
          <a:xfrm>
            <a:off x="628650" y="1950000"/>
            <a:ext cx="6100000" cy="2350000"/>
          </a:xfrm>
          <a:prstGeom prst="rect">
            <a:avLst/>
          </a:prstGeom>
          <a:noFill/>
        </p:spPr>
        <p:txBody>
          <a:bodyPr wrap="square" lIns="18288" tIns="0" rIns="18288" bIns="0">
            <a:spAutoFit/>
          </a:bodyPr>
          <a:lstStyle/>
          <a:p>
            <a:pPr>
              <a:spcAft>
                <a:spcPts val="700"/>
              </a:spcAft>
              <a:defRPr sz="1800">
                <a:solidFill>
                  <a:srgbClr val="D7DEE8"/>
                </a:solidFill>
                <a:latin typeface="Plus Jakarta Sans"/>
              </a:defRPr>
            </a:pPr>
            <a:r>
              <a:t>• Pods are created, deleted, rescheduled, and replaced.</a:t>
            </a:r>
          </a:p>
          <a:p>
            <a:pPr>
              <a:spcAft>
                <a:spcPts val="700"/>
              </a:spcAft>
              <a:defRPr sz="1800">
                <a:solidFill>
                  <a:srgbClr val="D7DEE8"/>
                </a:solidFill>
                <a:latin typeface="Plus Jakarta Sans"/>
              </a:defRPr>
            </a:pPr>
            <a:r>
              <a:t>• Replacement Pods normally receive different IP addresses.</a:t>
            </a:r>
          </a:p>
          <a:p>
            <a:pPr>
              <a:spcAft>
                <a:spcPts val="700"/>
              </a:spcAft>
              <a:defRPr sz="1800">
                <a:solidFill>
                  <a:srgbClr val="D7DEE8"/>
                </a:solidFill>
                <a:latin typeface="Plus Jakarta Sans"/>
              </a:defRPr>
            </a:pPr>
            <a:r>
              <a:t>• Hard-coding Pod IPs makes clients fragile.</a:t>
            </a:r>
          </a:p>
          <a:p>
            <a:pPr>
              <a:spcAft>
                <a:spcPts val="700"/>
              </a:spcAft>
              <a:defRPr sz="1800">
                <a:solidFill>
                  <a:srgbClr val="D7DEE8"/>
                </a:solidFill>
                <a:latin typeface="Plus Jakarta Sans"/>
              </a:defRPr>
            </a:pPr>
            <a:r>
              <a:t>• A Service keeps a stable endpoint while the backend set changes.</a:t>
            </a:r>
          </a:p>
        </p:txBody>
      </p:sp>
      <p:sp>
        <p:nvSpPr>
          <p:cNvPr id="12" name="Rounded Rectangle 11"/>
          <p:cNvSpPr/>
          <p:nvPr/>
        </p:nvSpPr>
        <p:spPr>
          <a:xfrm>
            <a:off x="7199999" y="1999999"/>
            <a:ext cx="3875873" cy="2143375"/>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Operational goal</a:t>
            </a:r>
          </a:p>
          <a:p>
            <a:pPr>
              <a:spcAft>
                <a:spcPts val="400"/>
              </a:spcAft>
              <a:defRPr sz="1500">
                <a:solidFill>
                  <a:srgbClr val="D7DEE8"/>
                </a:solidFill>
                <a:latin typeface="Plus Jakarta Sans"/>
              </a:defRPr>
            </a:pPr>
            <a:r>
              <a:rPr dirty="0"/>
              <a:t>Reach the application</a:t>
            </a:r>
          </a:p>
          <a:p>
            <a:pPr>
              <a:spcAft>
                <a:spcPts val="400"/>
              </a:spcAft>
              <a:defRPr sz="1500">
                <a:solidFill>
                  <a:srgbClr val="D7DEE8"/>
                </a:solidFill>
                <a:latin typeface="Plus Jakarta Sans"/>
              </a:defRPr>
            </a:pPr>
            <a:r>
              <a:rPr dirty="0"/>
              <a:t>without knowing individual Pod IPs.</a:t>
            </a:r>
          </a:p>
        </p:txBody>
      </p:sp>
      <p:sp>
        <p:nvSpPr>
          <p:cNvPr id="13" name="TextBox 12"/>
          <p:cNvSpPr txBox="1"/>
          <p:nvPr/>
        </p:nvSpPr>
        <p:spPr>
          <a:xfrm>
            <a:off x="1025872" y="5425000"/>
            <a:ext cx="10050000" cy="577081"/>
          </a:xfrm>
          <a:prstGeom prst="rect">
            <a:avLst/>
          </a:prstGeom>
          <a:noFill/>
        </p:spPr>
        <p:txBody>
          <a:bodyPr wrap="square" lIns="27432" tIns="0" rIns="27432" bIns="0">
            <a:spAutoFit/>
          </a:bodyPr>
          <a:lstStyle/>
          <a:p>
            <a:r>
              <a:rPr lang="en-US" sz="1250" dirty="0">
                <a:solidFill>
                  <a:srgbClr val="99A6B7"/>
                </a:solidFill>
                <a:latin typeface="Plus Jakarta Sans"/>
              </a:rPr>
              <a:t>If your frontend Pod is configured to talk to a backend Pod using a specific IP that connection will break the moment the Backend Pod restarts.</a:t>
            </a:r>
          </a:p>
          <a:p>
            <a:endParaRPr lang="en-US" sz="1250" dirty="0">
              <a:solidFill>
                <a:srgbClr val="99A6B7"/>
              </a:solidFill>
              <a:latin typeface="Plus Jakarta Sans"/>
            </a:endParaRPr>
          </a:p>
          <a:p>
            <a:pPr algn="l"/>
            <a:r>
              <a:rPr sz="1250" b="0" dirty="0">
                <a:solidFill>
                  <a:srgbClr val="99A6B7"/>
                </a:solidFill>
                <a:latin typeface="Plus Jakarta Sans"/>
              </a:rPr>
              <a:t>A Service address is stable for the lifetime of that Service. </a:t>
            </a:r>
            <a:r>
              <a:rPr sz="1250" b="0" dirty="0" err="1">
                <a:solidFill>
                  <a:srgbClr val="99A6B7"/>
                </a:solidFill>
                <a:latin typeface="Plus Jakarta Sans"/>
              </a:rPr>
              <a:t>If the Service itself is deleted and recreated, its ClusterIP can change.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The Service mental model</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Clients know the Service; Kubernetes tracks the current Pods</a:t>
            </a:r>
          </a:p>
        </p:txBody>
      </p:sp>
      <p:sp>
        <p:nvSpPr>
          <p:cNvPr id="11" name="Rounded Rectangle 10"/>
          <p:cNvSpPr/>
          <p:nvPr/>
        </p:nvSpPr>
        <p:spPr>
          <a:xfrm>
            <a:off x="628650" y="1950000"/>
            <a:ext cx="3000000"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Client</a:t>
            </a:r>
          </a:p>
          <a:p>
            <a:pPr>
              <a:spcAft>
                <a:spcPts val="400"/>
              </a:spcAft>
              <a:defRPr sz="1600">
                <a:solidFill>
                  <a:srgbClr val="D7DEE8"/>
                </a:solidFill>
                <a:latin typeface="Plus Jakarta Sans"/>
              </a:defRPr>
            </a:pPr>
            <a:r>
              <a:rPr dirty="0"/>
              <a:t>Connects to a Service</a:t>
            </a:r>
          </a:p>
          <a:p>
            <a:pPr>
              <a:spcAft>
                <a:spcPts val="400"/>
              </a:spcAft>
              <a:defRPr sz="1600">
                <a:solidFill>
                  <a:srgbClr val="D7DEE8"/>
                </a:solidFill>
                <a:latin typeface="Plus Jakarta Sans"/>
              </a:defRPr>
            </a:pPr>
            <a:r>
              <a:rPr dirty="0"/>
              <a:t>DNS name + Service port</a:t>
            </a:r>
          </a:p>
        </p:txBody>
      </p:sp>
      <p:sp>
        <p:nvSpPr>
          <p:cNvPr id="12" name="TextBox 11"/>
          <p:cNvSpPr txBox="1"/>
          <p:nvPr/>
        </p:nvSpPr>
        <p:spPr>
          <a:xfrm>
            <a:off x="3700000" y="2480000"/>
            <a:ext cx="900000" cy="50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13" name="Rounded Rectangle 12"/>
          <p:cNvSpPr/>
          <p:nvPr/>
        </p:nvSpPr>
        <p:spPr>
          <a:xfrm>
            <a:off x="4550000" y="1950000"/>
            <a:ext cx="2933872"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3B4FF"/>
                </a:solidFill>
                <a:latin typeface="Space Grotesk"/>
              </a:rPr>
              <a:t>Service</a:t>
            </a:r>
            <a:endParaRPr sz="1800" b="1" dirty="0">
              <a:solidFill>
                <a:srgbClr val="73B4FF"/>
              </a:solidFill>
              <a:latin typeface="Space Grotesk"/>
            </a:endParaRPr>
          </a:p>
          <a:p>
            <a:pPr>
              <a:spcAft>
                <a:spcPts val="400"/>
              </a:spcAft>
              <a:defRPr sz="1600">
                <a:solidFill>
                  <a:srgbClr val="D7DEE8"/>
                </a:solidFill>
                <a:latin typeface="Plus Jakarta Sans"/>
              </a:defRPr>
            </a:pPr>
            <a:r>
              <a:rPr dirty="0"/>
              <a:t>Stable virtual endpoint</a:t>
            </a:r>
          </a:p>
          <a:p>
            <a:pPr>
              <a:spcAft>
                <a:spcPts val="400"/>
              </a:spcAft>
              <a:defRPr sz="1600">
                <a:solidFill>
                  <a:srgbClr val="D7DEE8"/>
                </a:solidFill>
                <a:latin typeface="Plus Jakarta Sans"/>
              </a:defRPr>
            </a:pPr>
            <a:r>
              <a:rPr dirty="0"/>
              <a:t>selects backends by labels</a:t>
            </a:r>
          </a:p>
        </p:txBody>
      </p:sp>
      <p:sp>
        <p:nvSpPr>
          <p:cNvPr id="14" name="TextBox 13"/>
          <p:cNvSpPr txBox="1"/>
          <p:nvPr/>
        </p:nvSpPr>
        <p:spPr>
          <a:xfrm>
            <a:off x="7800000" y="2480000"/>
            <a:ext cx="700000" cy="50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15" name="Rounded Rectangle 14"/>
          <p:cNvSpPr/>
          <p:nvPr/>
        </p:nvSpPr>
        <p:spPr>
          <a:xfrm>
            <a:off x="8600000" y="1950000"/>
            <a:ext cx="2475872" cy="18704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70EBB1"/>
                </a:solidFill>
                <a:latin typeface="Space Grotesk"/>
              </a:rPr>
              <a:t>Pods</a:t>
            </a:r>
          </a:p>
          <a:p>
            <a:pPr>
              <a:spcAft>
                <a:spcPts val="400"/>
              </a:spcAft>
              <a:defRPr sz="1600">
                <a:solidFill>
                  <a:srgbClr val="D7DEE8"/>
                </a:solidFill>
                <a:latin typeface="Plus Jakarta Sans"/>
              </a:defRPr>
            </a:pPr>
            <a:r>
              <a:rPr dirty="0"/>
              <a:t>Matching, ready endpoints</a:t>
            </a:r>
          </a:p>
          <a:p>
            <a:pPr>
              <a:spcAft>
                <a:spcPts val="400"/>
              </a:spcAft>
              <a:defRPr sz="1600">
                <a:solidFill>
                  <a:srgbClr val="D7DEE8"/>
                </a:solidFill>
                <a:latin typeface="Plus Jakarta Sans"/>
              </a:defRPr>
            </a:pPr>
            <a:r>
              <a:rPr dirty="0"/>
              <a:t>can change over time</a:t>
            </a:r>
          </a:p>
        </p:txBody>
      </p:sp>
      <p:sp>
        <p:nvSpPr>
          <p:cNvPr id="16" name="TextBox 15"/>
          <p:cNvSpPr txBox="1"/>
          <p:nvPr/>
        </p:nvSpPr>
        <p:spPr>
          <a:xfrm>
            <a:off x="628650" y="4100000"/>
            <a:ext cx="10001250" cy="500000"/>
          </a:xfrm>
          <a:prstGeom prst="rect">
            <a:avLst/>
          </a:prstGeom>
          <a:noFill/>
        </p:spPr>
        <p:txBody>
          <a:bodyPr wrap="square" lIns="27432" tIns="0" rIns="27432" bIns="0">
            <a:spAutoFit/>
          </a:bodyPr>
          <a:lstStyle/>
          <a:p>
            <a:pPr algn="ctr"/>
            <a:r>
              <a:rPr sz="2100" b="1">
                <a:solidFill>
                  <a:srgbClr val="F5F7FA"/>
                </a:solidFill>
                <a:latin typeface="Space Grotesk"/>
              </a:rPr>
              <a:t>Think: clients know the Service; the Service knows the current backends.</a:t>
            </a:r>
          </a:p>
        </p:txBody>
      </p:sp>
      <p:sp>
        <p:nvSpPr>
          <p:cNvPr id="17" name="TextBox 16"/>
          <p:cNvSpPr txBox="1"/>
          <p:nvPr/>
        </p:nvSpPr>
        <p:spPr>
          <a:xfrm>
            <a:off x="1025872" y="5425000"/>
            <a:ext cx="10050000" cy="577081"/>
          </a:xfrm>
          <a:prstGeom prst="rect">
            <a:avLst/>
          </a:prstGeom>
          <a:noFill/>
        </p:spPr>
        <p:txBody>
          <a:bodyPr wrap="square" lIns="27432" tIns="0" rIns="27432" bIns="0">
            <a:spAutoFit/>
          </a:bodyPr>
          <a:lstStyle/>
          <a:p>
            <a:r>
              <a:rPr lang="en-US" sz="1250" dirty="0">
                <a:solidFill>
                  <a:srgbClr val="99A6B7"/>
                </a:solidFill>
                <a:latin typeface="Plus Jakarta Sans"/>
              </a:rPr>
              <a:t>Stable Identity: Unlike Pods a Service gets a static IP address (</a:t>
            </a:r>
            <a:r>
              <a:rPr lang="en-US" sz="1250" dirty="0" err="1">
                <a:solidFill>
                  <a:srgbClr val="99A6B7"/>
                </a:solidFill>
                <a:latin typeface="Plus Jakarta Sans"/>
              </a:rPr>
              <a:t>ClusterIP</a:t>
            </a:r>
            <a:r>
              <a:rPr lang="en-US" sz="1250" dirty="0">
                <a:solidFill>
                  <a:srgbClr val="99A6B7"/>
                </a:solidFill>
                <a:latin typeface="Plus Jakarta Sans"/>
              </a:rPr>
              <a:t>) and a DNS name that never changes.</a:t>
            </a:r>
          </a:p>
          <a:p>
            <a:endParaRPr lang="en-US" sz="1250" dirty="0">
              <a:solidFill>
                <a:srgbClr val="99A6B7"/>
              </a:solidFill>
              <a:latin typeface="Plus Jakarta Sans"/>
            </a:endParaRPr>
          </a:p>
          <a:p>
            <a:pPr algn="l"/>
            <a:r>
              <a:rPr sz="1250" b="0" dirty="0">
                <a:solidFill>
                  <a:srgbClr val="99A6B7"/>
                </a:solidFill>
                <a:latin typeface="Plus Jakarta Sans"/>
              </a:rPr>
              <a:t>The Service object is not a server process. Kubernetes networking implements the virtual endpoint, while EndpointSlices track the backend addresses.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3716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Selectors and EndpointSlices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How a Service finds the Pods that should receive traffic</a:t>
            </a:r>
          </a:p>
        </p:txBody>
      </p:sp>
      <p:sp>
        <p:nvSpPr>
          <p:cNvPr id="11" name="Rounded Rectangle 10"/>
          <p:cNvSpPr/>
          <p:nvPr/>
        </p:nvSpPr>
        <p:spPr>
          <a:xfrm>
            <a:off x="628649" y="1950000"/>
            <a:ext cx="4605737"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Selector</a:t>
            </a:r>
          </a:p>
          <a:p>
            <a:pPr>
              <a:spcAft>
                <a:spcPts val="400"/>
              </a:spcAft>
              <a:defRPr sz="1600">
                <a:solidFill>
                  <a:srgbClr val="D7DEE8"/>
                </a:solidFill>
                <a:latin typeface="Plus Jakarta Sans"/>
              </a:defRPr>
            </a:pPr>
            <a:r>
              <a:rPr dirty="0"/>
              <a:t>Matches Pod labels</a:t>
            </a:r>
          </a:p>
          <a:p>
            <a:pPr>
              <a:spcAft>
                <a:spcPts val="400"/>
              </a:spcAft>
              <a:defRPr sz="1600">
                <a:solidFill>
                  <a:srgbClr val="D7DEE8"/>
                </a:solidFill>
                <a:latin typeface="Plus Jakarta Sans"/>
              </a:defRPr>
            </a:pPr>
            <a:r>
              <a:rPr dirty="0"/>
              <a:t>Example: app=web</a:t>
            </a:r>
          </a:p>
          <a:p>
            <a:pPr>
              <a:spcAft>
                <a:spcPts val="400"/>
              </a:spcAft>
              <a:defRPr sz="1600">
                <a:solidFill>
                  <a:srgbClr val="D7DEE8"/>
                </a:solidFill>
                <a:latin typeface="Plus Jakarta Sans"/>
              </a:defRPr>
            </a:pPr>
            <a:r>
              <a:rPr dirty="0"/>
              <a:t>Wrong selector → no backends</a:t>
            </a:r>
          </a:p>
          <a:p>
            <a:pPr>
              <a:spcAft>
                <a:spcPts val="400"/>
              </a:spcAft>
              <a:defRPr sz="1600">
                <a:solidFill>
                  <a:srgbClr val="D7DEE8"/>
                </a:solidFill>
                <a:latin typeface="Plus Jakarta Sans"/>
              </a:defRPr>
            </a:pPr>
            <a:endParaRPr dirty="0"/>
          </a:p>
        </p:txBody>
      </p:sp>
      <p:sp>
        <p:nvSpPr>
          <p:cNvPr id="12" name="Rounded Rectangle 11"/>
          <p:cNvSpPr/>
          <p:nvPr/>
        </p:nvSpPr>
        <p:spPr>
          <a:xfrm>
            <a:off x="6024163" y="1950000"/>
            <a:ext cx="4605737"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FFB866"/>
                </a:solidFill>
                <a:latin typeface="Space Grotesk"/>
              </a:rPr>
              <a:t>EndpointSlices</a:t>
            </a:r>
          </a:p>
          <a:p>
            <a:pPr>
              <a:spcAft>
                <a:spcPts val="400"/>
              </a:spcAft>
              <a:defRPr sz="1600">
                <a:solidFill>
                  <a:srgbClr val="D7DEE8"/>
                </a:solidFill>
                <a:latin typeface="Plus Jakarta Sans"/>
              </a:defRPr>
            </a:pPr>
            <a:r>
              <a:rPr dirty="0"/>
              <a:t>Track backend IPs and ports</a:t>
            </a:r>
          </a:p>
          <a:p>
            <a:pPr>
              <a:spcAft>
                <a:spcPts val="400"/>
              </a:spcAft>
              <a:defRPr sz="1600">
                <a:solidFill>
                  <a:srgbClr val="D7DEE8"/>
                </a:solidFill>
                <a:latin typeface="Plus Jakarta Sans"/>
              </a:defRPr>
            </a:pPr>
            <a:r>
              <a:rPr dirty="0"/>
              <a:t>Include readiness information</a:t>
            </a:r>
          </a:p>
          <a:p>
            <a:pPr>
              <a:spcAft>
                <a:spcPts val="400"/>
              </a:spcAft>
              <a:defRPr sz="1600">
                <a:solidFill>
                  <a:srgbClr val="D7DEE8"/>
                </a:solidFill>
                <a:latin typeface="Plus Jakarta Sans"/>
              </a:defRPr>
            </a:pPr>
            <a:r>
              <a:rPr dirty="0"/>
              <a:t>Managed automatically for selector-based Services</a:t>
            </a:r>
          </a:p>
        </p:txBody>
      </p:sp>
      <p:sp>
        <p:nvSpPr>
          <p:cNvPr id="14" name="TextBox 13"/>
          <p:cNvSpPr txBox="1"/>
          <p:nvPr/>
        </p:nvSpPr>
        <p:spPr>
          <a:xfrm>
            <a:off x="1025872" y="5425000"/>
            <a:ext cx="10050000" cy="961802"/>
          </a:xfrm>
          <a:prstGeom prst="rect">
            <a:avLst/>
          </a:prstGeom>
          <a:noFill/>
        </p:spPr>
        <p:txBody>
          <a:bodyPr wrap="square" lIns="27432" tIns="0" rIns="27432" bIns="0">
            <a:spAutoFit/>
          </a:bodyPr>
          <a:lstStyle/>
          <a:p>
            <a:r>
              <a:rPr lang="en-US" sz="1250" dirty="0">
                <a:solidFill>
                  <a:srgbClr val="99A6B7"/>
                </a:solidFill>
                <a:latin typeface="Plus Jakarta Sans"/>
              </a:rPr>
              <a:t>A Service identifies which Pods to send traffic to by using Selectors (matching labels). If a Service finds multiple Pods matching its selector, it automatically balances the incoming traffic between them.</a:t>
            </a:r>
          </a:p>
          <a:p>
            <a:endParaRPr lang="en-US" sz="1250" dirty="0">
              <a:solidFill>
                <a:srgbClr val="99A6B7"/>
              </a:solidFill>
              <a:latin typeface="Plus Jakarta Sans"/>
            </a:endParaRPr>
          </a:p>
          <a:p>
            <a:pPr algn="l"/>
            <a:r>
              <a:rPr lang="en-US" sz="1250" b="0" dirty="0">
                <a:solidFill>
                  <a:srgbClr val="99A6B7"/>
                </a:solidFill>
                <a:latin typeface="Plus Jakarta Sans"/>
              </a:rPr>
              <a:t>Current Kubernetes uses EndpointSlice as the scalable backend-tracking API. The older Endpoints API is deprecated; students mainly need to know where to inspect the selected backends.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port vs targetPort</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 Service port and the application port do not have to be the same</a:t>
            </a:r>
          </a:p>
        </p:txBody>
      </p:sp>
      <p:sp>
        <p:nvSpPr>
          <p:cNvPr id="11" name="TextBox 10"/>
          <p:cNvSpPr txBox="1"/>
          <p:nvPr/>
        </p:nvSpPr>
        <p:spPr>
          <a:xfrm>
            <a:off x="628650" y="1950000"/>
            <a:ext cx="5760118" cy="1436291"/>
          </a:xfrm>
          <a:prstGeom prst="rect">
            <a:avLst/>
          </a:prstGeom>
          <a:solidFill>
            <a:srgbClr val="09121F"/>
          </a:solidFill>
          <a:ln>
            <a:solidFill>
              <a:srgbClr val="314963"/>
            </a:solidFill>
          </a:ln>
        </p:spPr>
        <p:txBody>
          <a:bodyPr wrap="square" lIns="152400" tIns="101600" rIns="152400" bIns="101600">
            <a:spAutoFit/>
          </a:bodyPr>
          <a:lstStyle/>
          <a:p>
            <a:pPr algn="l"/>
            <a:r>
              <a:rPr sz="1350">
                <a:solidFill>
                  <a:srgbClr val="F5F7FA"/>
                </a:solidFill>
                <a:latin typeface="Consolas"/>
              </a:rPr>
              <a:t>ports:
- port: 8080
  targetPort: 80</a:t>
            </a:r>
            <a:endParaRPr sz="1600" dirty="0">
              <a:solidFill>
                <a:srgbClr val="F5F7FA"/>
              </a:solidFill>
              <a:latin typeface="Consolas"/>
            </a:endParaRPr>
          </a:p>
        </p:txBody>
      </p:sp>
      <p:sp>
        <p:nvSpPr>
          <p:cNvPr id="12" name="Rounded Rectangle 11"/>
          <p:cNvSpPr/>
          <p:nvPr/>
        </p:nvSpPr>
        <p:spPr>
          <a:xfrm>
            <a:off x="6657592" y="1941746"/>
            <a:ext cx="5265584" cy="23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Service port</a:t>
            </a:r>
          </a:p>
          <a:p>
            <a:pPr>
              <a:spcAft>
                <a:spcPts val="400"/>
              </a:spcAft>
              <a:defRPr sz="1600">
                <a:solidFill>
                  <a:srgbClr val="D7DEE8"/>
                </a:solidFill>
                <a:latin typeface="Plus Jakarta Sans"/>
              </a:defRPr>
            </a:pPr>
            <a:r>
              <a:rPr dirty="0"/>
              <a:t>Clients connect to the Service on 8080.</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targetPort</a:t>
            </a:r>
          </a:p>
          <a:p>
            <a:pPr>
              <a:spcAft>
                <a:spcPts val="400"/>
              </a:spcAft>
              <a:defRPr sz="1600">
                <a:solidFill>
                  <a:srgbClr val="D7DEE8"/>
                </a:solidFill>
                <a:latin typeface="Plus Jakarta Sans"/>
              </a:defRPr>
            </a:pPr>
            <a:r>
              <a:t>Traffic is forwarded to port 80 on the selected Pods.</a:t>
            </a:r>
            <a:endParaRPr dirty="0"/>
          </a:p>
          <a:p>
            <a:pPr>
              <a:spcAft>
                <a:spcPts val="400"/>
              </a:spcAft>
              <a:defRPr sz="1600">
                <a:solidFill>
                  <a:srgbClr val="D7DEE8"/>
                </a:solidFill>
                <a:latin typeface="Plus Jakarta Sans"/>
              </a:defRPr>
            </a:pPr>
            <a:endParaRPr dirty="0"/>
          </a:p>
        </p:txBody>
      </p:sp>
      <p:sp>
        <p:nvSpPr>
          <p:cNvPr id="13" name="TextBox 12"/>
          <p:cNvSpPr txBox="1"/>
          <p:nvPr/>
        </p:nvSpPr>
        <p:spPr>
          <a:xfrm>
            <a:off x="1025872" y="5425000"/>
            <a:ext cx="10050000" cy="769441"/>
          </a:xfrm>
          <a:prstGeom prst="rect">
            <a:avLst/>
          </a:prstGeom>
          <a:noFill/>
        </p:spPr>
        <p:txBody>
          <a:bodyPr wrap="square" lIns="27432" tIns="0" rIns="27432" bIns="0">
            <a:spAutoFit/>
          </a:bodyPr>
          <a:lstStyle/>
          <a:p>
            <a:pPr algn="l"/>
            <a:r>
              <a:rPr lang="en-US" sz="1250" dirty="0">
                <a:solidFill>
                  <a:srgbClr val="99A6B7"/>
                </a:solidFill>
                <a:latin typeface="Plus Jakarta Sans"/>
              </a:rPr>
              <a:t>Do not confuse </a:t>
            </a:r>
            <a:r>
              <a:rPr lang="en-US" sz="1250" dirty="0" err="1">
                <a:solidFill>
                  <a:srgbClr val="99A6B7"/>
                </a:solidFill>
                <a:latin typeface="Plus Jakarta Sans"/>
              </a:rPr>
              <a:t>targetPort</a:t>
            </a:r>
            <a:r>
              <a:rPr lang="en-US" sz="1250" dirty="0">
                <a:solidFill>
                  <a:srgbClr val="99A6B7"/>
                </a:solidFill>
                <a:latin typeface="Plus Jakarta Sans"/>
              </a:rPr>
              <a:t> with port.</a:t>
            </a:r>
          </a:p>
          <a:p>
            <a:pPr algn="l"/>
            <a:endParaRPr lang="en-US" sz="1250" dirty="0">
              <a:solidFill>
                <a:srgbClr val="99A6B7"/>
              </a:solidFill>
              <a:latin typeface="Plus Jakarta Sans"/>
            </a:endParaRPr>
          </a:p>
          <a:p>
            <a:r>
              <a:rPr lang="en-US" sz="1250" dirty="0">
                <a:solidFill>
                  <a:srgbClr val="99A6B7"/>
                </a:solidFill>
                <a:latin typeface="Plus Jakarta Sans"/>
              </a:rPr>
              <a:t>port: The port number that the Service itself listens on.</a:t>
            </a:r>
          </a:p>
          <a:p>
            <a:r>
              <a:rPr lang="en-US" sz="1250" dirty="0" err="1">
                <a:solidFill>
                  <a:srgbClr val="99A6B7"/>
                </a:solidFill>
                <a:latin typeface="Plus Jakarta Sans"/>
              </a:rPr>
              <a:t>targetPort</a:t>
            </a:r>
            <a:r>
              <a:rPr lang="en-US" sz="1250" dirty="0">
                <a:solidFill>
                  <a:srgbClr val="99A6B7"/>
                </a:solidFill>
                <a:latin typeface="Plus Jakarta Sans"/>
              </a:rPr>
              <a:t>: The port number on the Pod (container) where the application is actually running.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Service types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Choose how far the stable endpoint should be exposed</a:t>
            </a:r>
          </a:p>
        </p:txBody>
      </p:sp>
      <p:sp>
        <p:nvSpPr>
          <p:cNvPr id="11" name="Rounded Rectangle 10"/>
          <p:cNvSpPr/>
          <p:nvPr/>
        </p:nvSpPr>
        <p:spPr>
          <a:xfrm>
            <a:off x="8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ClusterIP</a:t>
            </a:r>
          </a:p>
          <a:p>
            <a:pPr>
              <a:spcAft>
                <a:spcPts val="400"/>
              </a:spcAft>
              <a:defRPr sz="1800">
                <a:solidFill>
                  <a:srgbClr val="D7DEE8"/>
                </a:solidFill>
                <a:latin typeface="Plus Jakarta Sans"/>
              </a:defRPr>
            </a:pPr>
            <a:r>
              <a:rPr dirty="0"/>
              <a:t>Default type</a:t>
            </a:r>
          </a:p>
          <a:p>
            <a:pPr>
              <a:spcAft>
                <a:spcPts val="400"/>
              </a:spcAft>
              <a:defRPr sz="1800">
                <a:solidFill>
                  <a:srgbClr val="D7DEE8"/>
                </a:solidFill>
                <a:latin typeface="Plus Jakarta Sans"/>
              </a:defRPr>
            </a:pPr>
            <a:r>
              <a:rPr lang="en-US" dirty="0"/>
              <a:t>Exposes the service on an internal IP within the cluster</a:t>
            </a:r>
            <a:endParaRPr dirty="0"/>
          </a:p>
        </p:txBody>
      </p:sp>
      <p:sp>
        <p:nvSpPr>
          <p:cNvPr id="12" name="Rounded Rectangle 11"/>
          <p:cNvSpPr/>
          <p:nvPr/>
        </p:nvSpPr>
        <p:spPr>
          <a:xfrm>
            <a:off x="43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NodePort</a:t>
            </a:r>
          </a:p>
          <a:p>
            <a:pPr>
              <a:spcAft>
                <a:spcPts val="400"/>
              </a:spcAft>
              <a:defRPr sz="1800">
                <a:solidFill>
                  <a:srgbClr val="D7DEE8"/>
                </a:solidFill>
                <a:latin typeface="Plus Jakarta Sans"/>
              </a:defRPr>
            </a:pPr>
            <a:r>
              <a:rPr dirty="0"/>
              <a:t>ClusterIP + port on each Node</a:t>
            </a:r>
          </a:p>
          <a:p>
            <a:pPr>
              <a:spcAft>
                <a:spcPts val="400"/>
              </a:spcAft>
              <a:defRPr sz="1800">
                <a:solidFill>
                  <a:srgbClr val="D7DEE8"/>
                </a:solidFill>
                <a:latin typeface="Plus Jakarta Sans"/>
              </a:defRPr>
            </a:pPr>
            <a:r>
              <a:rPr dirty="0"/>
              <a:t>Useful for simple external access</a:t>
            </a:r>
          </a:p>
        </p:txBody>
      </p:sp>
      <p:sp>
        <p:nvSpPr>
          <p:cNvPr id="13" name="Rounded Rectangle 12"/>
          <p:cNvSpPr/>
          <p:nvPr/>
        </p:nvSpPr>
        <p:spPr>
          <a:xfrm>
            <a:off x="78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FFB866"/>
                </a:solidFill>
                <a:latin typeface="Space Grotesk"/>
              </a:rPr>
              <a:t>LoadBalancer</a:t>
            </a:r>
          </a:p>
          <a:p>
            <a:pPr>
              <a:spcAft>
                <a:spcPts val="400"/>
              </a:spcAft>
              <a:defRPr sz="1800">
                <a:solidFill>
                  <a:srgbClr val="D7DEE8"/>
                </a:solidFill>
                <a:latin typeface="Plus Jakarta Sans"/>
              </a:defRPr>
            </a:pPr>
            <a:r>
              <a:rPr dirty="0"/>
              <a:t>Requests an external load balancer</a:t>
            </a:r>
          </a:p>
          <a:p>
            <a:pPr>
              <a:spcAft>
                <a:spcPts val="400"/>
              </a:spcAft>
              <a:defRPr sz="1800">
                <a:solidFill>
                  <a:srgbClr val="D7DEE8"/>
                </a:solidFill>
                <a:latin typeface="Plus Jakarta Sans"/>
              </a:defRPr>
            </a:pPr>
            <a:r>
              <a:rPr dirty="0"/>
              <a:t>Platform / provider supplies it</a:t>
            </a:r>
          </a:p>
        </p:txBody>
      </p:sp>
      <p:sp>
        <p:nvSpPr>
          <p:cNvPr id="14" name="TextBox 13"/>
          <p:cNvSpPr txBox="1"/>
          <p:nvPr/>
        </p:nvSpPr>
        <p:spPr>
          <a:xfrm>
            <a:off x="628650" y="4200000"/>
            <a:ext cx="10001250" cy="650000"/>
          </a:xfrm>
          <a:prstGeom prst="rect">
            <a:avLst/>
          </a:prstGeom>
          <a:noFill/>
        </p:spPr>
        <p:txBody>
          <a:bodyPr wrap="square" lIns="27432" tIns="0" rIns="27432" bIns="0">
            <a:spAutoFit/>
          </a:bodyPr>
          <a:lstStyle/>
          <a:p>
            <a:pPr algn="ctr"/>
            <a:r>
              <a:rPr sz="1900" b="1">
                <a:solidFill>
                  <a:srgbClr val="F5F7FA"/>
                </a:solidFill>
                <a:latin typeface="Space Grotesk"/>
              </a:rPr>
              <a:t>ExternalName is another Service type: it returns a DNS CNAME to an external hostname and does not proxy traffic.</a:t>
            </a:r>
          </a:p>
        </p:txBody>
      </p:sp>
      <p:sp>
        <p:nvSpPr>
          <p:cNvPr id="15" name="TextBox 14"/>
          <p:cNvSpPr txBox="1"/>
          <p:nvPr/>
        </p:nvSpPr>
        <p:spPr>
          <a:xfrm>
            <a:off x="1025872" y="5425000"/>
            <a:ext cx="10050000" cy="384721"/>
          </a:xfrm>
          <a:prstGeom prst="rect">
            <a:avLst/>
          </a:prstGeom>
          <a:noFill/>
        </p:spPr>
        <p:txBody>
          <a:bodyPr wrap="square" lIns="27432" tIns="0" rIns="27432" bIns="0">
            <a:spAutoFit/>
          </a:bodyPr>
          <a:lstStyle/>
          <a:p>
            <a:pPr algn="l"/>
            <a:r>
              <a:rPr lang="en-US" sz="1250" b="0" dirty="0">
                <a:solidFill>
                  <a:srgbClr val="99A6B7"/>
                </a:solidFill>
                <a:latin typeface="Plus Jakarta Sans"/>
              </a:rPr>
              <a:t>Service types are layered: NodePort includes ClusterIP behavior. LoadBalancer implementation details vary by cloud or load-balancer integration.</a:t>
            </a:r>
          </a:p>
          <a:p>
            <a:pPr algn="l"/>
            <a:endParaRPr lang="en-US" sz="1250" b="0" dirty="0">
              <a:solidFill>
                <a:srgbClr val="99A6B7"/>
              </a:solidFill>
              <a:latin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ClusterIP and Service DNS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 normal way for workloads inside the cluster to find each other</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ClusterIP</a:t>
            </a:r>
          </a:p>
          <a:p>
            <a:pPr>
              <a:spcAft>
                <a:spcPts val="400"/>
              </a:spcAft>
              <a:defRPr sz="1600">
                <a:solidFill>
                  <a:srgbClr val="D7DEE8"/>
                </a:solidFill>
                <a:latin typeface="Plus Jakarta Sans"/>
              </a:defRPr>
            </a:pPr>
            <a:r>
              <a:t>Internal virtual IP</a:t>
            </a:r>
          </a:p>
          <a:p>
            <a:pPr>
              <a:spcAft>
                <a:spcPts val="400"/>
              </a:spcAft>
              <a:defRPr sz="1600">
                <a:solidFill>
                  <a:srgbClr val="D7DEE8"/>
                </a:solidFill>
                <a:latin typeface="Plus Jakarta Sans"/>
              </a:defRPr>
            </a:pPr>
            <a:r>
              <a:t>Default Service type</a:t>
            </a:r>
          </a:p>
          <a:p>
            <a:pPr>
              <a:spcAft>
                <a:spcPts val="400"/>
              </a:spcAft>
              <a:defRPr sz="1600">
                <a:solidFill>
                  <a:srgbClr val="D7DEE8"/>
                </a:solidFill>
                <a:latin typeface="Plus Jakarta Sans"/>
              </a:defRPr>
            </a:pPr>
            <a:r>
              <a:t>Stable for Service lifetime</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70EBB1"/>
                </a:solidFill>
                <a:latin typeface="Space Grotesk"/>
              </a:rPr>
              <a:t>DNS</a:t>
            </a:r>
          </a:p>
          <a:p>
            <a:pPr>
              <a:spcAft>
                <a:spcPts val="400"/>
              </a:spcAft>
              <a:defRPr sz="1600">
                <a:solidFill>
                  <a:srgbClr val="D7DEE8"/>
                </a:solidFill>
                <a:latin typeface="Plus Jakarta Sans"/>
              </a:defRPr>
            </a:pPr>
            <a:r>
              <a:rPr dirty="0"/>
              <a:t>web — same namespace</a:t>
            </a:r>
          </a:p>
          <a:p>
            <a:pPr>
              <a:spcAft>
                <a:spcPts val="400"/>
              </a:spcAft>
              <a:defRPr sz="1600">
                <a:solidFill>
                  <a:srgbClr val="D7DEE8"/>
                </a:solidFill>
                <a:latin typeface="Plus Jakarta Sans"/>
              </a:defRPr>
            </a:pPr>
            <a:r>
              <a:rPr dirty="0"/>
              <a:t>web.prod — another namespace</a:t>
            </a:r>
          </a:p>
          <a:p>
            <a:pPr>
              <a:spcAft>
                <a:spcPts val="400"/>
              </a:spcAft>
              <a:defRPr sz="1600">
                <a:solidFill>
                  <a:srgbClr val="D7DEE8"/>
                </a:solidFill>
                <a:latin typeface="Plus Jakarta Sans"/>
              </a:defRPr>
            </a:pPr>
            <a:r>
              <a:rPr dirty="0"/>
              <a:t>FQDN also available</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1900" b="1" dirty="0">
                <a:solidFill>
                  <a:srgbClr val="F5F7FA"/>
                </a:solidFill>
                <a:latin typeface="Space Grotesk"/>
              </a:rPr>
              <a:t>Applications should normally use the Service DNS name rather than hard-coding the numeric </a:t>
            </a:r>
            <a:r>
              <a:rPr sz="1900" b="1" dirty="0" err="1">
                <a:solidFill>
                  <a:srgbClr val="F5F7FA"/>
                </a:solidFill>
                <a:latin typeface="Space Grotesk"/>
              </a:rPr>
              <a:t>ClusterIP</a:t>
            </a:r>
            <a:r>
              <a:rPr sz="1900" b="1" dirty="0">
                <a:solidFill>
                  <a:srgbClr val="F5F7FA"/>
                </a:solidFill>
                <a:latin typeface="Space Grotesk"/>
              </a:rPr>
              <a:t>.</a:t>
            </a:r>
          </a:p>
        </p:txBody>
      </p:sp>
      <p:sp>
        <p:nvSpPr>
          <p:cNvPr id="14" name="TextBox 13"/>
          <p:cNvSpPr txBox="1"/>
          <p:nvPr/>
        </p:nvSpPr>
        <p:spPr>
          <a:xfrm>
            <a:off x="1025872" y="5425000"/>
            <a:ext cx="10050000" cy="769441"/>
          </a:xfrm>
          <a:prstGeom prst="rect">
            <a:avLst/>
          </a:prstGeom>
          <a:noFill/>
        </p:spPr>
        <p:txBody>
          <a:bodyPr wrap="square" lIns="27432" tIns="0" rIns="27432" bIns="0">
            <a:spAutoFit/>
          </a:bodyPr>
          <a:lstStyle/>
          <a:p>
            <a:r>
              <a:rPr lang="en-US" sz="1250" dirty="0" err="1">
                <a:solidFill>
                  <a:srgbClr val="99A6B7"/>
                </a:solidFill>
                <a:latin typeface="Plus Jakarta Sans"/>
              </a:rPr>
              <a:t>ClusterIP</a:t>
            </a:r>
            <a:r>
              <a:rPr lang="en-US" sz="1250" dirty="0">
                <a:solidFill>
                  <a:srgbClr val="99A6B7"/>
                </a:solidFill>
                <a:latin typeface="Plus Jakarta Sans"/>
              </a:rPr>
              <a:t> is the default service type. It provides a stable IP address that is only accessible from within the cluster. It cannot be reached from the internet or outside the virtual network of the cluster.</a:t>
            </a:r>
          </a:p>
          <a:p>
            <a:endParaRPr lang="en-US" sz="1250" dirty="0">
              <a:solidFill>
                <a:srgbClr val="99A6B7"/>
              </a:solidFill>
              <a:latin typeface="Plus Jakarta Sans"/>
            </a:endParaRPr>
          </a:p>
          <a:p>
            <a:pPr algn="l"/>
            <a:r>
              <a:rPr sz="1250" b="0" dirty="0">
                <a:solidFill>
                  <a:srgbClr val="99A6B7"/>
                </a:solidFill>
                <a:latin typeface="Plus Jakarta Sans"/>
              </a:rPr>
              <a:t>Cluster-aware DNS such as CoreDNS watches the Kubernetes API and creates records for Services. Short names resolve within the caller’s namespace.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168900"/>
            <a:ext cx="10934700" cy="11557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dirty="0" err="1">
                <a:solidFill>
                  <a:srgbClr val="F5F7FA"/>
                </a:solidFill>
                <a:latin typeface="Space Grotesk"/>
              </a:rPr>
              <a:t>NodePort</a:t>
            </a:r>
            <a:endParaRPr sz="2900" b="1" dirty="0">
              <a:solidFill>
                <a:srgbClr val="F5F7FA"/>
              </a:solidFill>
              <a:latin typeface="Space Grotesk"/>
            </a:endParaRPr>
          </a:p>
        </p:txBody>
      </p:sp>
      <p:sp>
        <p:nvSpPr>
          <p:cNvPr id="10" name="TextBox 9"/>
          <p:cNvSpPr txBox="1"/>
          <p:nvPr/>
        </p:nvSpPr>
        <p:spPr>
          <a:xfrm>
            <a:off x="628650" y="1122200"/>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Expose the Service on a port of every Node</a:t>
            </a:r>
          </a:p>
        </p:txBody>
      </p:sp>
      <p:sp>
        <p:nvSpPr>
          <p:cNvPr id="11" name="Rounded Rectangle 10"/>
          <p:cNvSpPr/>
          <p:nvPr/>
        </p:nvSpPr>
        <p:spPr>
          <a:xfrm>
            <a:off x="628650" y="16166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NodePort address</a:t>
            </a:r>
          </a:p>
          <a:p>
            <a:pPr>
              <a:spcAft>
                <a:spcPts val="400"/>
              </a:spcAft>
              <a:defRPr sz="1600">
                <a:solidFill>
                  <a:srgbClr val="D7DEE8"/>
                </a:solidFill>
                <a:latin typeface="Plus Jakarta Sans"/>
              </a:defRPr>
            </a:pPr>
            <a:r>
              <a:t>&lt;NodeIP&gt;:&lt;nodePort&gt;</a:t>
            </a:r>
          </a:p>
          <a:p>
            <a:pPr>
              <a:spcAft>
                <a:spcPts val="400"/>
              </a:spcAft>
              <a:defRPr sz="1600">
                <a:solidFill>
                  <a:srgbClr val="D7DEE8"/>
                </a:solidFill>
                <a:latin typeface="Plus Jakarta Sans"/>
              </a:defRPr>
            </a:pPr>
            <a:r>
              <a:t>Default range: 30000–32767</a:t>
            </a:r>
          </a:p>
        </p:txBody>
      </p:sp>
      <p:sp>
        <p:nvSpPr>
          <p:cNvPr id="12" name="Rounded Rectangle 11"/>
          <p:cNvSpPr/>
          <p:nvPr/>
        </p:nvSpPr>
        <p:spPr>
          <a:xfrm>
            <a:off x="5200000" y="1616600"/>
            <a:ext cx="6865000" cy="22741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spcAft>
                <a:spcPts val="400"/>
              </a:spcAft>
              <a:defRPr sz="1600">
                <a:solidFill>
                  <a:srgbClr val="D7DEE8"/>
                </a:solidFill>
                <a:latin typeface="Plus Jakarta Sans"/>
              </a:defRPr>
            </a:pPr>
            <a:r>
              <a:rPr lang="en-US" dirty="0"/>
              <a:t>In a </a:t>
            </a:r>
            <a:r>
              <a:rPr lang="en-US" dirty="0" err="1"/>
              <a:t>NodePort</a:t>
            </a:r>
            <a:r>
              <a:rPr lang="en-US" dirty="0"/>
              <a:t> configuration, you deal with three different port settings:</a:t>
            </a:r>
          </a:p>
          <a:p>
            <a:pPr>
              <a:spcAft>
                <a:spcPts val="400"/>
              </a:spcAft>
              <a:defRPr sz="1600">
                <a:solidFill>
                  <a:srgbClr val="D7DEE8"/>
                </a:solidFill>
                <a:latin typeface="Plus Jakarta Sans"/>
              </a:defRPr>
            </a:pPr>
            <a:r>
              <a:rPr lang="en-US" dirty="0" err="1">
                <a:solidFill>
                  <a:schemeClr val="accent2"/>
                </a:solidFill>
              </a:rPr>
              <a:t>nodePort</a:t>
            </a:r>
            <a:r>
              <a:rPr lang="en-US" dirty="0"/>
              <a:t>: The port opened on the physical/virtual Nodes. It must be in the range 30000–32767. If you don't specify one, Kubernetes will assign a random one from this range.</a:t>
            </a:r>
          </a:p>
          <a:p>
            <a:pPr>
              <a:spcAft>
                <a:spcPts val="400"/>
              </a:spcAft>
              <a:defRPr sz="1600">
                <a:solidFill>
                  <a:srgbClr val="D7DEE8"/>
                </a:solidFill>
                <a:latin typeface="Plus Jakarta Sans"/>
              </a:defRPr>
            </a:pPr>
            <a:r>
              <a:rPr lang="en-US" dirty="0">
                <a:solidFill>
                  <a:schemeClr val="accent2"/>
                </a:solidFill>
              </a:rPr>
              <a:t>port</a:t>
            </a:r>
            <a:r>
              <a:rPr lang="en-US" dirty="0"/>
              <a:t>: The internal port the Service listens on inside the cluster (just like </a:t>
            </a:r>
            <a:r>
              <a:rPr lang="en-US" dirty="0" err="1"/>
              <a:t>ClusterIP</a:t>
            </a:r>
            <a:r>
              <a:rPr lang="en-US" dirty="0"/>
              <a:t>).</a:t>
            </a:r>
          </a:p>
          <a:p>
            <a:pPr>
              <a:spcAft>
                <a:spcPts val="400"/>
              </a:spcAft>
              <a:defRPr sz="1600">
                <a:solidFill>
                  <a:srgbClr val="D7DEE8"/>
                </a:solidFill>
                <a:latin typeface="Plus Jakarta Sans"/>
              </a:defRPr>
            </a:pPr>
            <a:r>
              <a:rPr lang="en-US" dirty="0" err="1">
                <a:solidFill>
                  <a:schemeClr val="accent2"/>
                </a:solidFill>
              </a:rPr>
              <a:t>targetPort</a:t>
            </a:r>
            <a:r>
              <a:rPr lang="en-US" dirty="0"/>
              <a:t>: The port on the Pod where the application container is listening.</a:t>
            </a:r>
            <a:endParaRPr dirty="0"/>
          </a:p>
        </p:txBody>
      </p:sp>
      <p:sp>
        <p:nvSpPr>
          <p:cNvPr id="13" name="TextBox 12"/>
          <p:cNvSpPr txBox="1"/>
          <p:nvPr/>
        </p:nvSpPr>
        <p:spPr>
          <a:xfrm>
            <a:off x="628650" y="3939195"/>
            <a:ext cx="8871350" cy="1205458"/>
          </a:xfrm>
          <a:prstGeom prst="rect">
            <a:avLst/>
          </a:prstGeom>
          <a:solidFill>
            <a:srgbClr val="09121F"/>
          </a:solidFill>
          <a:ln>
            <a:solidFill>
              <a:srgbClr val="314963"/>
            </a:solidFill>
          </a:ln>
        </p:spPr>
        <p:txBody>
          <a:bodyPr wrap="square" lIns="152400" tIns="101600" rIns="152400" bIns="101600">
            <a:spAutoFit/>
          </a:bodyPr>
          <a:lstStyle/>
          <a:p>
            <a:pPr algn="l"/>
            <a:r>
              <a:rPr sz="1300">
                <a:solidFill>
                  <a:srgbClr val="F5F7FA"/>
                </a:solidFill>
                <a:latin typeface="Consolas"/>
              </a:rPr>
              <a:t>type: NodePort
ports:
- port: 80
  targetPort: 80
  nodePort: 32410</a:t>
            </a:r>
          </a:p>
        </p:txBody>
      </p:sp>
      <p:sp>
        <p:nvSpPr>
          <p:cNvPr id="14" name="TextBox 13"/>
          <p:cNvSpPr txBox="1"/>
          <p:nvPr/>
        </p:nvSpPr>
        <p:spPr>
          <a:xfrm>
            <a:off x="1025872" y="5425000"/>
            <a:ext cx="10050000" cy="961802"/>
          </a:xfrm>
          <a:prstGeom prst="rect">
            <a:avLst/>
          </a:prstGeom>
          <a:noFill/>
        </p:spPr>
        <p:txBody>
          <a:bodyPr wrap="square" lIns="27432" tIns="0" rIns="27432" bIns="0">
            <a:spAutoFit/>
          </a:bodyPr>
          <a:lstStyle/>
          <a:p>
            <a:r>
              <a:rPr lang="en-US" sz="1250" dirty="0">
                <a:solidFill>
                  <a:srgbClr val="99A6B7"/>
                </a:solidFill>
                <a:latin typeface="Plus Jakarta Sans"/>
              </a:rPr>
              <a:t>A </a:t>
            </a:r>
            <a:r>
              <a:rPr lang="en-US" sz="1250" dirty="0" err="1">
                <a:solidFill>
                  <a:srgbClr val="99A6B7"/>
                </a:solidFill>
                <a:latin typeface="Plus Jakarta Sans"/>
              </a:rPr>
              <a:t>NodePort</a:t>
            </a:r>
            <a:r>
              <a:rPr lang="en-US" sz="1250" dirty="0">
                <a:solidFill>
                  <a:srgbClr val="99A6B7"/>
                </a:solidFill>
                <a:latin typeface="Plus Jakarta Sans"/>
              </a:rPr>
              <a:t> service is an extension of the </a:t>
            </a:r>
            <a:r>
              <a:rPr lang="en-US" sz="1250" dirty="0" err="1">
                <a:solidFill>
                  <a:srgbClr val="99A6B7"/>
                </a:solidFill>
                <a:latin typeface="Plus Jakarta Sans"/>
              </a:rPr>
              <a:t>ClusterIP</a:t>
            </a:r>
            <a:r>
              <a:rPr lang="en-US" sz="1250" dirty="0">
                <a:solidFill>
                  <a:srgbClr val="99A6B7"/>
                </a:solidFill>
                <a:latin typeface="Plus Jakarta Sans"/>
              </a:rPr>
              <a:t> service. It not only provides internal communication but also opens a specific port on every Node (worker machine) in your cluster. This allows external traffic to reach your service by hitting any Node's IP address at that specific port.</a:t>
            </a:r>
          </a:p>
          <a:p>
            <a:endParaRPr lang="en-US" sz="1250" dirty="0">
              <a:solidFill>
                <a:srgbClr val="99A6B7"/>
              </a:solidFill>
              <a:latin typeface="Plus Jakarta Sans"/>
            </a:endParaRPr>
          </a:p>
          <a:p>
            <a:r>
              <a:rPr lang="en-US" sz="1250" dirty="0">
                <a:solidFill>
                  <a:srgbClr val="99A6B7"/>
                </a:solidFill>
                <a:latin typeface="Plus Jakarta Sans"/>
              </a:rPr>
              <a:t>To access the app from the internet, you use http://&lt;Node-Public-IP&gt;:&lt;nodePort&gt;.</a:t>
            </a:r>
          </a:p>
          <a:p>
            <a:endParaRPr lang="en-US" sz="1250" dirty="0">
              <a:solidFill>
                <a:srgbClr val="99A6B7"/>
              </a:solidFill>
              <a:latin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63195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LoadBalancer</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Ask the platform for an externally reachable Service endpoint</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Kubernetes request</a:t>
            </a:r>
          </a:p>
          <a:p>
            <a:pPr>
              <a:spcAft>
                <a:spcPts val="400"/>
              </a:spcAft>
              <a:defRPr sz="1600">
                <a:solidFill>
                  <a:srgbClr val="D7DEE8"/>
                </a:solidFill>
                <a:latin typeface="Plus Jakarta Sans"/>
              </a:defRPr>
            </a:pPr>
            <a:r>
              <a:t>type: LoadBalancer</a:t>
            </a:r>
          </a:p>
          <a:p>
            <a:pPr>
              <a:spcAft>
                <a:spcPts val="400"/>
              </a:spcAft>
              <a:defRPr sz="1600">
                <a:solidFill>
                  <a:srgbClr val="D7DEE8"/>
                </a:solidFill>
                <a:latin typeface="Plus Jakarta Sans"/>
              </a:defRPr>
            </a:pPr>
            <a:r>
              <a:t>Service still selects Pods</a:t>
            </a:r>
          </a:p>
          <a:p>
            <a:pPr>
              <a:spcAft>
                <a:spcPts val="400"/>
              </a:spcAft>
              <a:defRPr sz="1600">
                <a:solidFill>
                  <a:srgbClr val="D7DEE8"/>
                </a:solidFill>
                <a:latin typeface="Plus Jakarta Sans"/>
              </a:defRPr>
            </a:pPr>
            <a:r>
              <a:t>Cluster networking remains underneath</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70EBB1"/>
                </a:solidFill>
                <a:latin typeface="Space Grotesk"/>
              </a:rPr>
              <a:t>Platform result</a:t>
            </a:r>
          </a:p>
          <a:p>
            <a:pPr>
              <a:spcAft>
                <a:spcPts val="400"/>
              </a:spcAft>
              <a:defRPr sz="1600">
                <a:solidFill>
                  <a:srgbClr val="D7DEE8"/>
                </a:solidFill>
                <a:latin typeface="Plus Jakarta Sans"/>
              </a:defRPr>
            </a:pPr>
            <a:r>
              <a:rPr dirty="0"/>
              <a:t>External IP or hostname</a:t>
            </a:r>
          </a:p>
          <a:p>
            <a:pPr>
              <a:spcAft>
                <a:spcPts val="400"/>
              </a:spcAft>
              <a:defRPr sz="1600">
                <a:solidFill>
                  <a:srgbClr val="D7DEE8"/>
                </a:solidFill>
                <a:latin typeface="Plus Jakarta Sans"/>
              </a:defRPr>
            </a:pPr>
            <a:r>
              <a:rPr dirty="0"/>
              <a:t>Cloud / LB integration provisions it</a:t>
            </a:r>
          </a:p>
          <a:p>
            <a:pPr>
              <a:spcAft>
                <a:spcPts val="400"/>
              </a:spcAft>
              <a:defRPr sz="1600">
                <a:solidFill>
                  <a:srgbClr val="D7DEE8"/>
                </a:solidFill>
                <a:latin typeface="Plus Jakarta Sans"/>
              </a:defRPr>
            </a:pPr>
            <a:r>
              <a:rPr dirty="0"/>
              <a:t>Exact implementation varies</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1900" b="1">
                <a:solidFill>
                  <a:srgbClr val="F5F7FA"/>
                </a:solidFill>
                <a:latin typeface="Space Grotesk"/>
              </a:rPr>
              <a:t>Kubernetes defines the desired Service; the platform or load-balancer integration supplies the external load balancer.</a:t>
            </a:r>
          </a:p>
        </p:txBody>
      </p:sp>
      <p:sp>
        <p:nvSpPr>
          <p:cNvPr id="14" name="TextBox 13"/>
          <p:cNvSpPr txBox="1"/>
          <p:nvPr/>
        </p:nvSpPr>
        <p:spPr>
          <a:xfrm>
            <a:off x="1025872" y="5425000"/>
            <a:ext cx="10050000" cy="1154162"/>
          </a:xfrm>
          <a:prstGeom prst="rect">
            <a:avLst/>
          </a:prstGeom>
          <a:noFill/>
        </p:spPr>
        <p:txBody>
          <a:bodyPr wrap="square" lIns="27432" tIns="0" rIns="27432" bIns="0">
            <a:spAutoFit/>
          </a:bodyPr>
          <a:lstStyle/>
          <a:p>
            <a:r>
              <a:rPr lang="en-US" sz="1250" dirty="0">
                <a:solidFill>
                  <a:srgbClr val="99A6B7"/>
                </a:solidFill>
                <a:latin typeface="Plus Jakarta Sans"/>
              </a:rPr>
              <a:t>Automatic Provisioning: When you set the service type to </a:t>
            </a:r>
            <a:r>
              <a:rPr lang="en-US" sz="1250" dirty="0" err="1">
                <a:solidFill>
                  <a:srgbClr val="99A6B7"/>
                </a:solidFill>
                <a:latin typeface="Plus Jakarta Sans"/>
              </a:rPr>
              <a:t>LoadBalancer</a:t>
            </a:r>
            <a:r>
              <a:rPr lang="en-US" sz="1250" dirty="0">
                <a:solidFill>
                  <a:srgbClr val="99A6B7"/>
                </a:solidFill>
                <a:latin typeface="Plus Jakarta Sans"/>
              </a:rPr>
              <a:t>, the Cloud Controller Manager automatically talks to your cloud provider to spin up a physical/virtual Load Balancer (like an AWS ELB or Google LB).</a:t>
            </a:r>
          </a:p>
          <a:p>
            <a:endParaRPr lang="en-US" sz="1250" dirty="0">
              <a:solidFill>
                <a:srgbClr val="99A6B7"/>
              </a:solidFill>
              <a:latin typeface="Plus Jakarta Sans"/>
            </a:endParaRPr>
          </a:p>
          <a:p>
            <a:r>
              <a:rPr lang="en-US" sz="1250" dirty="0">
                <a:solidFill>
                  <a:srgbClr val="99A6B7"/>
                </a:solidFill>
                <a:latin typeface="Plus Jakarta Sans"/>
              </a:rPr>
              <a:t>Unique External IP: The cloud provider assigns a unique, publicly accessible IP address to this Load Balancer.</a:t>
            </a:r>
          </a:p>
          <a:p>
            <a:endParaRPr lang="en-US" sz="1250" dirty="0">
              <a:solidFill>
                <a:srgbClr val="99A6B7"/>
              </a:solidFill>
              <a:latin typeface="Plus Jakarta Sans"/>
            </a:endParaRPr>
          </a:p>
          <a:p>
            <a:r>
              <a:rPr lang="en-US" sz="1250" dirty="0">
                <a:solidFill>
                  <a:srgbClr val="99A6B7"/>
                </a:solidFill>
                <a:latin typeface="Plus Jakarta Sans"/>
              </a:rPr>
              <a:t>Traffic Flow: External users hit the Load Balancer IP - The Load Balancer forwards traffic to the Nodes (</a:t>
            </a:r>
            <a:r>
              <a:rPr lang="en-US" sz="1250" dirty="0" err="1">
                <a:solidFill>
                  <a:srgbClr val="99A6B7"/>
                </a:solidFill>
                <a:latin typeface="Plus Jakarta Sans"/>
              </a:rPr>
              <a:t>NodePort</a:t>
            </a:r>
            <a:r>
              <a:rPr lang="en-US" sz="1250" dirty="0">
                <a:solidFill>
                  <a:srgbClr val="99A6B7"/>
                </a:solidFill>
                <a:latin typeface="Plus Jakarta Sans"/>
              </a:rPr>
              <a:t>) - The Service routes it to the Pods.</a:t>
            </a:r>
            <a:endParaRPr sz="1250" b="0" dirty="0">
              <a:solidFill>
                <a:srgbClr val="99A6B7"/>
              </a:solidFill>
              <a:latin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Ingress and Gateway API</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HTTP(S) routing in front of Services</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FF7882"/>
                </a:solidFill>
                <a:latin typeface="Space Grotesk"/>
              </a:rPr>
              <a:t>Ingress</a:t>
            </a:r>
          </a:p>
          <a:p>
            <a:pPr>
              <a:spcAft>
                <a:spcPts val="400"/>
              </a:spcAft>
              <a:defRPr sz="1700">
                <a:solidFill>
                  <a:srgbClr val="D7DEE8"/>
                </a:solidFill>
                <a:latin typeface="Plus Jakarta Sans"/>
              </a:defRPr>
            </a:pPr>
            <a:r>
              <a:rPr dirty="0"/>
              <a:t>Routes hosts / paths to Services</a:t>
            </a:r>
          </a:p>
          <a:p>
            <a:pPr>
              <a:spcAft>
                <a:spcPts val="400"/>
              </a:spcAft>
              <a:defRPr sz="1700">
                <a:solidFill>
                  <a:srgbClr val="D7DEE8"/>
                </a:solidFill>
                <a:latin typeface="Plus Jakarta Sans"/>
              </a:defRPr>
            </a:pPr>
            <a:r>
              <a:rPr dirty="0"/>
              <a:t>Can terminate TLS</a:t>
            </a:r>
          </a:p>
          <a:p>
            <a:pPr>
              <a:spcAft>
                <a:spcPts val="400"/>
              </a:spcAft>
              <a:defRPr sz="1700">
                <a:solidFill>
                  <a:srgbClr val="D7DEE8"/>
                </a:solidFill>
                <a:latin typeface="Plus Jakarta Sans"/>
              </a:defRPr>
            </a:pPr>
            <a:r>
              <a:rPr dirty="0"/>
              <a:t>Requires an Ingress controller</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Gateway API</a:t>
            </a:r>
            <a:endParaRPr sz="1800" b="1" dirty="0">
              <a:solidFill>
                <a:srgbClr val="70EBB1"/>
              </a:solidFill>
              <a:latin typeface="Space Grotesk"/>
            </a:endParaRPr>
          </a:p>
          <a:p>
            <a:pPr>
              <a:spcAft>
                <a:spcPts val="400"/>
              </a:spcAft>
              <a:defRPr sz="1700">
                <a:solidFill>
                  <a:srgbClr val="D7DEE8"/>
                </a:solidFill>
                <a:latin typeface="Plus Jakarta Sans"/>
              </a:defRPr>
            </a:pPr>
            <a:r>
              <a:rPr dirty="0"/>
              <a:t>Recommended direction for new work</a:t>
            </a:r>
          </a:p>
          <a:p>
            <a:pPr>
              <a:spcAft>
                <a:spcPts val="400"/>
              </a:spcAft>
              <a:defRPr sz="1700">
                <a:solidFill>
                  <a:srgbClr val="D7DEE8"/>
                </a:solidFill>
                <a:latin typeface="Plus Jakarta Sans"/>
              </a:defRPr>
            </a:pPr>
            <a:r>
              <a:rPr dirty="0"/>
              <a:t>Richer, role-oriented routing APIs</a:t>
            </a:r>
          </a:p>
          <a:p>
            <a:pPr>
              <a:spcAft>
                <a:spcPts val="400"/>
              </a:spcAft>
              <a:defRPr sz="1700">
                <a:solidFill>
                  <a:srgbClr val="D7DEE8"/>
                </a:solidFill>
                <a:latin typeface="Plus Jakarta Sans"/>
              </a:defRPr>
            </a:pPr>
            <a:r>
              <a:rPr dirty="0"/>
              <a:t>Implemented by a Gateway controller</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2000" b="1">
                <a:solidFill>
                  <a:srgbClr val="51E0FF"/>
                </a:solidFill>
                <a:latin typeface="Space Grotesk"/>
              </a:rPr>
              <a:t>Ingress remains stable and supported, but its API is frozen. Kubernetes documentation recommends Gateway API for new capabilities.</a:t>
            </a:r>
          </a:p>
        </p:txBody>
      </p:sp>
      <p:sp>
        <p:nvSpPr>
          <p:cNvPr id="14" name="TextBox 13"/>
          <p:cNvSpPr txBox="1"/>
          <p:nvPr/>
        </p:nvSpPr>
        <p:spPr>
          <a:xfrm>
            <a:off x="1025872" y="5425000"/>
            <a:ext cx="10050000" cy="769441"/>
          </a:xfrm>
          <a:prstGeom prst="rect">
            <a:avLst/>
          </a:prstGeom>
          <a:noFill/>
        </p:spPr>
        <p:txBody>
          <a:bodyPr wrap="square" lIns="27432" tIns="0" rIns="27432" bIns="0">
            <a:spAutoFit/>
          </a:bodyPr>
          <a:lstStyle/>
          <a:p>
            <a:r>
              <a:rPr lang="en-US" sz="1250" dirty="0">
                <a:solidFill>
                  <a:srgbClr val="99A6B7"/>
                </a:solidFill>
                <a:latin typeface="Plus Jakarta Sans"/>
              </a:rPr>
              <a:t>Ingress is a high-level API object that manages external access to services, typically via HTTP and HTTPS. Think of it as a "Smart Router" or a "Reverse Proxy" (like Nginx or </a:t>
            </a:r>
            <a:r>
              <a:rPr lang="en-US" sz="1250" dirty="0" err="1">
                <a:solidFill>
                  <a:srgbClr val="99A6B7"/>
                </a:solidFill>
                <a:latin typeface="Plus Jakarta Sans"/>
              </a:rPr>
              <a:t>HAProxy</a:t>
            </a:r>
            <a:r>
              <a:rPr lang="en-US" sz="1250" dirty="0">
                <a:solidFill>
                  <a:srgbClr val="99A6B7"/>
                </a:solidFill>
                <a:latin typeface="Plus Jakarta Sans"/>
              </a:rPr>
              <a:t>) that sits in front of your cluster.</a:t>
            </a:r>
          </a:p>
          <a:p>
            <a:endParaRPr lang="en-US" sz="1250" b="0" dirty="0">
              <a:solidFill>
                <a:srgbClr val="99A6B7"/>
              </a:solidFill>
              <a:latin typeface="Plus Jakarta Sans"/>
            </a:endParaRPr>
          </a:p>
          <a:p>
            <a:r>
              <a:rPr lang="en-US" sz="1250" dirty="0">
                <a:solidFill>
                  <a:srgbClr val="99A6B7"/>
                </a:solidFill>
                <a:latin typeface="Plus Jakarta Sans"/>
              </a:rPr>
              <a:t>An Ingress cannot send traffic directly to a Pod. It acts as a set of routing rules that points to a Service, which then points to the Pods.</a:t>
            </a:r>
            <a:endParaRPr lang="en-US" sz="1250" b="0" dirty="0">
              <a:solidFill>
                <a:srgbClr val="99A6B7"/>
              </a:solidFill>
              <a:latin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Troubleshooting a Service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When the Service exists but the application is still unreachable</a:t>
            </a:r>
          </a:p>
        </p:txBody>
      </p:sp>
      <p:sp>
        <p:nvSpPr>
          <p:cNvPr id="11" name="Rounded Rectangle 10"/>
          <p:cNvSpPr/>
          <p:nvPr/>
        </p:nvSpPr>
        <p:spPr>
          <a:xfrm>
            <a:off x="628650" y="1950000"/>
            <a:ext cx="40000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Typical causes</a:t>
            </a:r>
          </a:p>
          <a:p>
            <a:pPr>
              <a:spcAft>
                <a:spcPts val="400"/>
              </a:spcAft>
              <a:defRPr sz="1600">
                <a:solidFill>
                  <a:srgbClr val="D7DEE8"/>
                </a:solidFill>
                <a:latin typeface="Plus Jakarta Sans"/>
              </a:defRPr>
            </a:pPr>
            <a:r>
              <a:t>Selector does not match Pod labels</a:t>
            </a:r>
          </a:p>
          <a:p>
            <a:pPr>
              <a:spcAft>
                <a:spcPts val="400"/>
              </a:spcAft>
              <a:defRPr sz="1600">
                <a:solidFill>
                  <a:srgbClr val="D7DEE8"/>
                </a:solidFill>
                <a:latin typeface="Plus Jakarta Sans"/>
              </a:defRPr>
            </a:pPr>
            <a:r>
              <a:t>Pods are not Ready</a:t>
            </a:r>
          </a:p>
          <a:p>
            <a:pPr>
              <a:spcAft>
                <a:spcPts val="400"/>
              </a:spcAft>
              <a:defRPr sz="1600">
                <a:solidFill>
                  <a:srgbClr val="D7DEE8"/>
                </a:solidFill>
                <a:latin typeface="Plus Jakarta Sans"/>
              </a:defRPr>
            </a:pPr>
            <a:r>
              <a:t>port / targetPort is wrong</a:t>
            </a:r>
          </a:p>
          <a:p>
            <a:pPr>
              <a:spcAft>
                <a:spcPts val="400"/>
              </a:spcAft>
              <a:defRPr sz="1600">
                <a:solidFill>
                  <a:srgbClr val="D7DEE8"/>
                </a:solidFill>
                <a:latin typeface="Plus Jakarta Sans"/>
              </a:defRPr>
            </a:pPr>
            <a:r>
              <a:t>DNS name or namespace is wrong</a:t>
            </a:r>
          </a:p>
          <a:p>
            <a:pPr>
              <a:spcAft>
                <a:spcPts val="400"/>
              </a:spcAft>
              <a:defRPr sz="1600">
                <a:solidFill>
                  <a:srgbClr val="D7DEE8"/>
                </a:solidFill>
                <a:latin typeface="Plus Jakarta Sans"/>
              </a:defRPr>
            </a:pPr>
            <a:endParaRPr/>
          </a:p>
        </p:txBody>
      </p:sp>
      <p:sp>
        <p:nvSpPr>
          <p:cNvPr id="12" name="Rounded Rectangle 11"/>
          <p:cNvSpPr/>
          <p:nvPr/>
        </p:nvSpPr>
        <p:spPr>
          <a:xfrm>
            <a:off x="4900000" y="1950000"/>
            <a:ext cx="46000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First checks</a:t>
            </a:r>
          </a:p>
          <a:p>
            <a:pPr>
              <a:spcAft>
                <a:spcPts val="400"/>
              </a:spcAft>
              <a:defRPr sz="1500">
                <a:solidFill>
                  <a:srgbClr val="D7DEE8"/>
                </a:solidFill>
                <a:latin typeface="Plus Jakarta Sans"/>
              </a:defRPr>
            </a:pPr>
            <a:r>
              <a:rPr dirty="0" err="1"/>
              <a:t>kubectl get svc</a:t>
            </a:r>
          </a:p>
          <a:p>
            <a:pPr>
              <a:spcAft>
                <a:spcPts val="400"/>
              </a:spcAft>
              <a:defRPr sz="1500">
                <a:solidFill>
                  <a:srgbClr val="D7DEE8"/>
                </a:solidFill>
                <a:latin typeface="Plus Jakarta Sans"/>
              </a:defRPr>
            </a:pPr>
            <a:r>
              <a:rPr dirty="0" err="1"/>
              <a:t>kubectl describe svc &lt;name&gt;</a:t>
            </a:r>
          </a:p>
          <a:p>
            <a:pPr>
              <a:spcAft>
                <a:spcPts val="400"/>
              </a:spcAft>
              <a:defRPr sz="1500">
                <a:solidFill>
                  <a:srgbClr val="D7DEE8"/>
                </a:solidFill>
                <a:latin typeface="Plus Jakarta Sans"/>
              </a:defRPr>
            </a:pPr>
            <a:r>
              <a:rPr dirty="0" err="1"/>
              <a:t>kubectl get endpointslices</a:t>
            </a:r>
          </a:p>
          <a:p>
            <a:pPr>
              <a:spcAft>
                <a:spcPts val="400"/>
              </a:spcAft>
              <a:defRPr sz="1500">
                <a:solidFill>
                  <a:srgbClr val="D7DEE8"/>
                </a:solidFill>
                <a:latin typeface="Plus Jakarta Sans"/>
              </a:defRPr>
            </a:pPr>
            <a:r>
              <a:rPr dirty="0" err="1"/>
              <a:t>kubectl get pods --show-labels</a:t>
            </a:r>
            <a:endParaRPr dirty="0"/>
          </a:p>
          <a:p>
            <a:pPr>
              <a:spcAft>
                <a:spcPts val="400"/>
              </a:spcAft>
              <a:defRPr sz="1500">
                <a:solidFill>
                  <a:srgbClr val="D7DEE8"/>
                </a:solidFill>
                <a:latin typeface="Plus Jakarta Sans"/>
              </a:defRPr>
            </a:pPr>
            <a:r>
              <a:rPr dirty="0" err="1"/>
              <a:t>Test from a Pod with wget / curl</a:t>
            </a:r>
            <a:endParaRPr dirty="0"/>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A Service with no usable endpoints is a key clue. Inspect selectors, Pod labels, readiness, EndpointSlices, and the Service ports before blaming DNS.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266700"/>
            <a:ext cx="11481435" cy="581025"/>
          </a:xfrm>
          <a:prstGeom prst="rect">
            <a:avLst/>
          </a:prstGeom>
          <a:noFill/>
        </p:spPr>
        <p:txBody>
          <a:bodyPr wrap="square" lIns="27432" tIns="0" rIns="27432" bIns="0">
            <a:spAutoFit/>
          </a:bodyPr>
          <a:lstStyle/>
          <a:p>
            <a:pPr algn="l"/>
            <a:r>
              <a:rPr sz="2900" b="1" dirty="0">
                <a:solidFill>
                  <a:srgbClr val="F5F7FA"/>
                </a:solidFill>
                <a:latin typeface="Space Grotesk"/>
              </a:rPr>
              <a:t>Hands-on lab — Services Part 1</a:t>
            </a:r>
          </a:p>
        </p:txBody>
      </p:sp>
      <p:sp>
        <p:nvSpPr>
          <p:cNvPr id="10" name="TextBox 9"/>
          <p:cNvSpPr txBox="1"/>
          <p:nvPr/>
        </p:nvSpPr>
        <p:spPr>
          <a:xfrm>
            <a:off x="628650" y="805951"/>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Create a ClusterIP Service and reach it by DNS name</a:t>
            </a:r>
          </a:p>
        </p:txBody>
      </p:sp>
      <p:sp>
        <p:nvSpPr>
          <p:cNvPr id="11" name="TextBox 10"/>
          <p:cNvSpPr txBox="1"/>
          <p:nvPr/>
        </p:nvSpPr>
        <p:spPr>
          <a:xfrm>
            <a:off x="628650" y="1178296"/>
            <a:ext cx="10661650" cy="3455305"/>
          </a:xfrm>
          <a:prstGeom prst="rect">
            <a:avLst/>
          </a:prstGeom>
          <a:solidFill>
            <a:srgbClr val="09121F"/>
          </a:solidFill>
          <a:ln>
            <a:solidFill>
              <a:srgbClr val="314963"/>
            </a:solidFill>
          </a:ln>
        </p:spPr>
        <p:txBody>
          <a:bodyPr wrap="square" lIns="152400" tIns="101600" rIns="152400" bIns="101600">
            <a:spAutoFit/>
          </a:bodyPr>
          <a:lstStyle/>
          <a:p>
            <a:pPr algn="l"/>
            <a:r>
              <a:rPr sz="1320" dirty="0">
                <a:solidFill>
                  <a:srgbClr val="F5F7FA"/>
                </a:solidFill>
                <a:latin typeface="Consolas"/>
              </a:rPr>
              <a:t># Deploy the nginx backend
</a:t>
            </a:r>
            <a:r>
              <a:rPr sz="1320" dirty="0" err="1">
                <a:solidFill>
                  <a:srgbClr val="F5F7FA"/>
                </a:solidFill>
                <a:latin typeface="Consolas"/>
              </a:rPr>
              <a:t>kubectl</a:t>
            </a:r>
            <a:r>
              <a:rPr sz="1320" dirty="0">
                <a:solidFill>
                  <a:srgbClr val="F5F7FA"/>
                </a:solidFill>
                <a:latin typeface="Consolas"/>
              </a:rPr>
              <a:t> apply -f deploy-</a:t>
            </a:r>
            <a:r>
              <a:rPr sz="1320" dirty="0" err="1">
                <a:solidFill>
                  <a:srgbClr val="F5F7FA"/>
                </a:solidFill>
                <a:latin typeface="Consolas"/>
              </a:rPr>
              <a:t>app.yaml</a:t>
            </a:r>
            <a:r>
              <a:rPr sz="1320" dirty="0">
                <a:solidFill>
                  <a:srgbClr val="F5F7FA"/>
                </a:solidFill>
                <a:latin typeface="Consolas"/>
              </a:rPr>
              <a:t>
# Create the </a:t>
            </a:r>
            <a:r>
              <a:rPr sz="1320" dirty="0" err="1">
                <a:solidFill>
                  <a:srgbClr val="F5F7FA"/>
                </a:solidFill>
                <a:latin typeface="Consolas"/>
              </a:rPr>
              <a:t>ClusterIP</a:t>
            </a:r>
            <a:r>
              <a:rPr sz="1320" dirty="0">
                <a:solidFill>
                  <a:srgbClr val="F5F7FA"/>
                </a:solidFill>
                <a:latin typeface="Consolas"/>
              </a:rPr>
              <a:t> Service
</a:t>
            </a:r>
            <a:r>
              <a:rPr sz="1320" dirty="0" err="1">
                <a:solidFill>
                  <a:srgbClr val="F5F7FA"/>
                </a:solidFill>
                <a:latin typeface="Consolas"/>
              </a:rPr>
              <a:t>kubectl</a:t>
            </a:r>
            <a:r>
              <a:rPr sz="1320" dirty="0">
                <a:solidFill>
                  <a:srgbClr val="F5F7FA"/>
                </a:solidFill>
                <a:latin typeface="Consolas"/>
              </a:rPr>
              <a:t> apply -f </a:t>
            </a:r>
            <a:r>
              <a:rPr sz="1320" dirty="0" err="1">
                <a:solidFill>
                  <a:srgbClr val="F5F7FA"/>
                </a:solidFill>
                <a:latin typeface="Consolas"/>
              </a:rPr>
              <a:t>clusterip.yaml</a:t>
            </a:r>
            <a:r>
              <a:rPr sz="1320" dirty="0">
                <a:solidFill>
                  <a:srgbClr val="F5F7FA"/>
                </a:solidFill>
                <a:latin typeface="Consolas"/>
              </a:rPr>
              <a:t>
# Create a small test Pod
</a:t>
            </a:r>
            <a:r>
              <a:rPr sz="1320" dirty="0" err="1">
                <a:solidFill>
                  <a:srgbClr val="F5F7FA"/>
                </a:solidFill>
                <a:latin typeface="Consolas"/>
              </a:rPr>
              <a:t>kubectl</a:t>
            </a:r>
            <a:r>
              <a:rPr sz="1320" dirty="0">
                <a:solidFill>
                  <a:srgbClr val="F5F7FA"/>
                </a:solidFill>
                <a:latin typeface="Consolas"/>
              </a:rPr>
              <a:t> run </a:t>
            </a:r>
            <a:r>
              <a:rPr sz="1320" dirty="0" err="1">
                <a:solidFill>
                  <a:srgbClr val="F5F7FA"/>
                </a:solidFill>
                <a:latin typeface="Consolas"/>
              </a:rPr>
              <a:t>nettest</a:t>
            </a:r>
            <a:r>
              <a:rPr sz="1320" dirty="0">
                <a:solidFill>
                  <a:srgbClr val="F5F7FA"/>
                </a:solidFill>
                <a:latin typeface="Consolas"/>
              </a:rPr>
              <a:t> --image=busybox:1.36 --restart=Never -- sleep 3600
# Inspect
</a:t>
            </a:r>
            <a:r>
              <a:rPr sz="1320" dirty="0" err="1">
                <a:solidFill>
                  <a:srgbClr val="F5F7FA"/>
                </a:solidFill>
                <a:latin typeface="Consolas"/>
              </a:rPr>
              <a:t>kubectl</a:t>
            </a:r>
            <a:r>
              <a:rPr sz="1320" dirty="0">
                <a:solidFill>
                  <a:srgbClr val="F5F7FA"/>
                </a:solidFill>
                <a:latin typeface="Consolas"/>
              </a:rPr>
              <a:t> get svc
</a:t>
            </a:r>
            <a:r>
              <a:rPr sz="1320" dirty="0" err="1">
                <a:solidFill>
                  <a:srgbClr val="F5F7FA"/>
                </a:solidFill>
                <a:latin typeface="Consolas"/>
              </a:rPr>
              <a:t>kubectl</a:t>
            </a:r>
            <a:r>
              <a:rPr sz="1320" dirty="0">
                <a:solidFill>
                  <a:srgbClr val="F5F7FA"/>
                </a:solidFill>
                <a:latin typeface="Consolas"/>
              </a:rPr>
              <a:t> get pods --show-labels
</a:t>
            </a:r>
            <a:r>
              <a:rPr sz="1320" dirty="0" err="1">
                <a:solidFill>
                  <a:srgbClr val="F5F7FA"/>
                </a:solidFill>
                <a:latin typeface="Consolas"/>
              </a:rPr>
              <a:t>kubectl</a:t>
            </a:r>
            <a:r>
              <a:rPr sz="1320" dirty="0">
                <a:solidFill>
                  <a:srgbClr val="F5F7FA"/>
                </a:solidFill>
                <a:latin typeface="Consolas"/>
              </a:rPr>
              <a:t> get </a:t>
            </a:r>
            <a:r>
              <a:rPr sz="1320" dirty="0" err="1">
                <a:solidFill>
                  <a:srgbClr val="F5F7FA"/>
                </a:solidFill>
                <a:latin typeface="Consolas"/>
              </a:rPr>
              <a:t>endpointslices</a:t>
            </a:r>
            <a:r>
              <a:rPr sz="1320" dirty="0">
                <a:solidFill>
                  <a:srgbClr val="F5F7FA"/>
                </a:solidFill>
                <a:latin typeface="Consolas"/>
              </a:rPr>
              <a:t>
# Call the Service by DNS name
</a:t>
            </a:r>
            <a:r>
              <a:rPr sz="1320" dirty="0" err="1">
                <a:solidFill>
                  <a:srgbClr val="F5F7FA"/>
                </a:solidFill>
                <a:latin typeface="Consolas"/>
              </a:rPr>
              <a:t>kubectl</a:t>
            </a:r>
            <a:r>
              <a:rPr sz="1320" dirty="0">
                <a:solidFill>
                  <a:srgbClr val="F5F7FA"/>
                </a:solidFill>
                <a:latin typeface="Consolas"/>
              </a:rPr>
              <a:t> exec </a:t>
            </a:r>
            <a:r>
              <a:rPr sz="1320" dirty="0" err="1">
                <a:solidFill>
                  <a:srgbClr val="F5F7FA"/>
                </a:solidFill>
                <a:latin typeface="Consolas"/>
              </a:rPr>
              <a:t>nettest</a:t>
            </a:r>
            <a:r>
              <a:rPr sz="1320" dirty="0">
                <a:solidFill>
                  <a:srgbClr val="F5F7FA"/>
                </a:solidFill>
                <a:latin typeface="Consolas"/>
              </a:rPr>
              <a:t> -- </a:t>
            </a:r>
            <a:r>
              <a:rPr sz="1320" dirty="0" err="1">
                <a:solidFill>
                  <a:srgbClr val="F5F7FA"/>
                </a:solidFill>
                <a:latin typeface="Consolas"/>
              </a:rPr>
              <a:t>wget</a:t>
            </a:r>
            <a:r>
              <a:rPr sz="1320" dirty="0">
                <a:solidFill>
                  <a:srgbClr val="F5F7FA"/>
                </a:solidFill>
                <a:latin typeface="Consolas"/>
              </a:rPr>
              <a:t> -</a:t>
            </a:r>
            <a:r>
              <a:rPr sz="1320" dirty="0" err="1">
                <a:solidFill>
                  <a:srgbClr val="F5F7FA"/>
                </a:solidFill>
                <a:latin typeface="Consolas"/>
              </a:rPr>
              <a:t>qO</a:t>
            </a:r>
            <a:r>
              <a:rPr sz="1320" dirty="0">
                <a:solidFill>
                  <a:srgbClr val="F5F7FA"/>
                </a:solidFill>
                <a:latin typeface="Consolas"/>
              </a:rPr>
              <a:t>- http://svc-example:8080</a:t>
            </a:r>
          </a:p>
        </p:txBody>
      </p:sp>
      <p:sp>
        <p:nvSpPr>
          <p:cNvPr id="12" name="TextBox 11"/>
          <p:cNvSpPr txBox="1"/>
          <p:nvPr/>
        </p:nvSpPr>
        <p:spPr>
          <a:xfrm>
            <a:off x="628650" y="4649701"/>
            <a:ext cx="10001250" cy="276999"/>
          </a:xfrm>
          <a:prstGeom prst="rect">
            <a:avLst/>
          </a:prstGeom>
          <a:noFill/>
        </p:spPr>
        <p:txBody>
          <a:bodyPr wrap="square" lIns="27432" tIns="0" rIns="27432" bIns="0">
            <a:spAutoFit/>
          </a:bodyPr>
          <a:lstStyle/>
          <a:p>
            <a:pPr algn="ctr"/>
            <a:r>
              <a:rPr lang="en-US" b="1" dirty="0">
                <a:solidFill>
                  <a:srgbClr val="51E0FF"/>
                </a:solidFill>
                <a:latin typeface="Space Grotesk"/>
              </a:rPr>
              <a:t>Challenge: delete one backend Pod, wait for its replacement, and call the same Service name again.</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The important lesson is the stable Service DNS name, not memorizing the ClusterIP.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Services Part 2</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Expose a Deployment through NodePort</a:t>
            </a:r>
          </a:p>
        </p:txBody>
      </p:sp>
      <p:sp>
        <p:nvSpPr>
          <p:cNvPr id="11" name="TextBox 10"/>
          <p:cNvSpPr txBox="1"/>
          <p:nvPr/>
        </p:nvSpPr>
        <p:spPr>
          <a:xfrm>
            <a:off x="628649" y="1900000"/>
            <a:ext cx="5410201" cy="2938700"/>
          </a:xfrm>
          <a:prstGeom prst="rect">
            <a:avLst/>
          </a:prstGeom>
          <a:solidFill>
            <a:srgbClr val="09121F"/>
          </a:solidFill>
          <a:ln>
            <a:solidFill>
              <a:srgbClr val="314963"/>
            </a:solidFill>
          </a:ln>
        </p:spPr>
        <p:txBody>
          <a:bodyPr wrap="square" lIns="152400" tIns="101600" rIns="152400" bIns="101600">
            <a:spAutoFit/>
          </a:bodyPr>
          <a:lstStyle/>
          <a:p>
            <a:pPr algn="l"/>
            <a:r>
              <a:rPr sz="1280" dirty="0">
                <a:solidFill>
                  <a:srgbClr val="F5F7FA"/>
                </a:solidFill>
                <a:latin typeface="Consolas"/>
              </a:rPr>
              <a:t># Deploy the application
</a:t>
            </a:r>
            <a:r>
              <a:rPr sz="1280" dirty="0" err="1">
                <a:solidFill>
                  <a:srgbClr val="F5F7FA"/>
                </a:solidFill>
                <a:latin typeface="Consolas"/>
              </a:rPr>
              <a:t>kubectl</a:t>
            </a:r>
            <a:r>
              <a:rPr sz="1280" dirty="0">
                <a:solidFill>
                  <a:srgbClr val="F5F7FA"/>
                </a:solidFill>
                <a:latin typeface="Consolas"/>
              </a:rPr>
              <a:t> apply -f deploy-</a:t>
            </a:r>
            <a:r>
              <a:rPr sz="1280" dirty="0" err="1">
                <a:solidFill>
                  <a:srgbClr val="F5F7FA"/>
                </a:solidFill>
                <a:latin typeface="Consolas"/>
              </a:rPr>
              <a:t>app.yaml</a:t>
            </a:r>
            <a:r>
              <a:rPr sz="1280" dirty="0">
                <a:solidFill>
                  <a:srgbClr val="F5F7FA"/>
                </a:solidFill>
                <a:latin typeface="Consolas"/>
              </a:rPr>
              <a:t>
# Create the </a:t>
            </a:r>
            <a:r>
              <a:rPr sz="1280" dirty="0" err="1">
                <a:solidFill>
                  <a:srgbClr val="F5F7FA"/>
                </a:solidFill>
                <a:latin typeface="Consolas"/>
              </a:rPr>
              <a:t>NodePort</a:t>
            </a:r>
            <a:r>
              <a:rPr sz="1280" dirty="0">
                <a:solidFill>
                  <a:srgbClr val="F5F7FA"/>
                </a:solidFill>
                <a:latin typeface="Consolas"/>
              </a:rPr>
              <a:t> Service
</a:t>
            </a:r>
            <a:r>
              <a:rPr sz="1280" dirty="0" err="1">
                <a:solidFill>
                  <a:srgbClr val="F5F7FA"/>
                </a:solidFill>
                <a:latin typeface="Consolas"/>
              </a:rPr>
              <a:t>kubectl</a:t>
            </a:r>
            <a:r>
              <a:rPr sz="1280" dirty="0">
                <a:solidFill>
                  <a:srgbClr val="F5F7FA"/>
                </a:solidFill>
                <a:latin typeface="Consolas"/>
              </a:rPr>
              <a:t> apply -f </a:t>
            </a:r>
            <a:r>
              <a:rPr sz="1280" dirty="0" err="1">
                <a:solidFill>
                  <a:srgbClr val="F5F7FA"/>
                </a:solidFill>
                <a:latin typeface="Consolas"/>
              </a:rPr>
              <a:t>nodeport.yaml</a:t>
            </a:r>
            <a:r>
              <a:rPr sz="1280" dirty="0">
                <a:solidFill>
                  <a:srgbClr val="F5F7FA"/>
                </a:solidFill>
                <a:latin typeface="Consolas"/>
              </a:rPr>
              <a:t>
# Find the allocated / configured port
</a:t>
            </a:r>
            <a:r>
              <a:rPr sz="1280" dirty="0" err="1">
                <a:solidFill>
                  <a:srgbClr val="F5F7FA"/>
                </a:solidFill>
                <a:latin typeface="Consolas"/>
              </a:rPr>
              <a:t>kubectl</a:t>
            </a:r>
            <a:r>
              <a:rPr sz="1280" dirty="0">
                <a:solidFill>
                  <a:srgbClr val="F5F7FA"/>
                </a:solidFill>
                <a:latin typeface="Consolas"/>
              </a:rPr>
              <a:t> get svc
# Find a Node address
</a:t>
            </a:r>
            <a:r>
              <a:rPr sz="1280" dirty="0" err="1">
                <a:solidFill>
                  <a:srgbClr val="F5F7FA"/>
                </a:solidFill>
                <a:latin typeface="Consolas"/>
              </a:rPr>
              <a:t>kubectl</a:t>
            </a:r>
            <a:r>
              <a:rPr sz="1280" dirty="0">
                <a:solidFill>
                  <a:srgbClr val="F5F7FA"/>
                </a:solidFill>
                <a:latin typeface="Consolas"/>
              </a:rPr>
              <a:t> get nodes -o wide
# Test from outside the Pod network
curl http://&lt;NodeIP&gt;:32410</a:t>
            </a:r>
            <a:endParaRPr sz="1300" dirty="0">
              <a:solidFill>
                <a:srgbClr val="F5F7FA"/>
              </a:solidFill>
              <a:latin typeface="Consolas"/>
            </a:endParaRPr>
          </a:p>
        </p:txBody>
      </p:sp>
      <p:sp>
        <p:nvSpPr>
          <p:cNvPr id="12" name="Rounded Rectangle 11"/>
          <p:cNvSpPr/>
          <p:nvPr/>
        </p:nvSpPr>
        <p:spPr>
          <a:xfrm>
            <a:off x="7463324" y="1885950"/>
            <a:ext cx="3900000"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Expected learning</a:t>
            </a:r>
          </a:p>
          <a:p>
            <a:pPr>
              <a:spcAft>
                <a:spcPts val="400"/>
              </a:spcAft>
              <a:defRPr sz="1600">
                <a:solidFill>
                  <a:srgbClr val="D7DEE8"/>
                </a:solidFill>
                <a:latin typeface="Plus Jakarta Sans"/>
              </a:defRPr>
            </a:pPr>
            <a:r>
              <a:t>NodePort opens the same Service on every Node.</a:t>
            </a:r>
          </a:p>
          <a:p>
            <a:pPr>
              <a:spcAft>
                <a:spcPts val="400"/>
              </a:spcAft>
              <a:defRPr sz="1600">
                <a:solidFill>
                  <a:srgbClr val="D7DEE8"/>
                </a:solidFill>
                <a:latin typeface="Plus Jakarta Sans"/>
              </a:defRPr>
            </a:pPr>
            <a:r>
              <a:t>The Service still has a ClusterIP.</a:t>
            </a:r>
          </a:p>
          <a:p>
            <a:pPr>
              <a:spcAft>
                <a:spcPts val="400"/>
              </a:spcAft>
              <a:defRPr sz="1600">
                <a:solidFill>
                  <a:srgbClr val="D7DEE8"/>
                </a:solidFill>
                <a:latin typeface="Plus Jakarta Sans"/>
              </a:defRPr>
            </a:pPr>
            <a:r>
              <a:t>Reachability also depends on your lab network and firewall.</a:t>
            </a:r>
          </a:p>
          <a:p>
            <a:pPr>
              <a:spcAft>
                <a:spcPts val="400"/>
              </a:spcAft>
              <a:defRPr sz="1600">
                <a:solidFill>
                  <a:srgbClr val="D7DEE8"/>
                </a:solidFill>
                <a:latin typeface="Plus Jakarta Sans"/>
              </a:defRPr>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Services Part 3</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Break the selector, then prove why traffic stops</a:t>
            </a:r>
          </a:p>
        </p:txBody>
      </p:sp>
      <p:sp>
        <p:nvSpPr>
          <p:cNvPr id="11" name="TextBox 10"/>
          <p:cNvSpPr txBox="1"/>
          <p:nvPr/>
        </p:nvSpPr>
        <p:spPr>
          <a:xfrm>
            <a:off x="628649" y="1900000"/>
            <a:ext cx="5856371" cy="2805896"/>
          </a:xfrm>
          <a:prstGeom prst="rect">
            <a:avLst/>
          </a:prstGeom>
          <a:solidFill>
            <a:srgbClr val="09121F"/>
          </a:solidFill>
          <a:ln>
            <a:solidFill>
              <a:srgbClr val="314963"/>
            </a:solidFill>
          </a:ln>
        </p:spPr>
        <p:txBody>
          <a:bodyPr wrap="square" lIns="152400" tIns="101600" rIns="152400" bIns="101600">
            <a:spAutoFit/>
          </a:bodyPr>
          <a:lstStyle/>
          <a:p>
            <a:pPr algn="l"/>
            <a:r>
              <a:rPr sz="1280" dirty="0">
                <a:solidFill>
                  <a:srgbClr val="F5F7FA"/>
                </a:solidFill>
                <a:latin typeface="Consolas"/>
              </a:rPr>
              <a:t># First confirm the Service works
</a:t>
            </a:r>
            <a:r>
              <a:rPr sz="1280" dirty="0" err="1">
                <a:solidFill>
                  <a:srgbClr val="F5F7FA"/>
                </a:solidFill>
                <a:latin typeface="Consolas"/>
              </a:rPr>
              <a:t>kubectl</a:t>
            </a:r>
            <a:r>
              <a:rPr sz="1280" dirty="0">
                <a:solidFill>
                  <a:srgbClr val="F5F7FA"/>
                </a:solidFill>
                <a:latin typeface="Consolas"/>
              </a:rPr>
              <a:t> exec </a:t>
            </a:r>
            <a:r>
              <a:rPr sz="1280" dirty="0" err="1">
                <a:solidFill>
                  <a:srgbClr val="F5F7FA"/>
                </a:solidFill>
                <a:latin typeface="Consolas"/>
              </a:rPr>
              <a:t>nettest</a:t>
            </a:r>
            <a:r>
              <a:rPr sz="1280" dirty="0">
                <a:solidFill>
                  <a:srgbClr val="F5F7FA"/>
                </a:solidFill>
                <a:latin typeface="Consolas"/>
              </a:rPr>
              <a:t> -- </a:t>
            </a:r>
            <a:r>
              <a:rPr sz="1280" dirty="0" err="1">
                <a:solidFill>
                  <a:srgbClr val="F5F7FA"/>
                </a:solidFill>
                <a:latin typeface="Consolas"/>
              </a:rPr>
              <a:t>wget</a:t>
            </a:r>
            <a:r>
              <a:rPr sz="1280" dirty="0">
                <a:solidFill>
                  <a:srgbClr val="F5F7FA"/>
                </a:solidFill>
                <a:latin typeface="Consolas"/>
              </a:rPr>
              <a:t> -</a:t>
            </a:r>
            <a:r>
              <a:rPr sz="1280" dirty="0" err="1">
                <a:solidFill>
                  <a:srgbClr val="F5F7FA"/>
                </a:solidFill>
                <a:latin typeface="Consolas"/>
              </a:rPr>
              <a:t>qO</a:t>
            </a:r>
            <a:r>
              <a:rPr sz="1280" dirty="0">
                <a:solidFill>
                  <a:srgbClr val="F5F7FA"/>
                </a:solidFill>
                <a:latin typeface="Consolas"/>
              </a:rPr>
              <a:t>- http://svc-example:8080
# Edit the Service and intentionally change its selector
</a:t>
            </a:r>
            <a:r>
              <a:rPr sz="1280" dirty="0" err="1">
                <a:solidFill>
                  <a:srgbClr val="F5F7FA"/>
                </a:solidFill>
                <a:latin typeface="Consolas"/>
              </a:rPr>
              <a:t>kubectl</a:t>
            </a:r>
            <a:r>
              <a:rPr sz="1280" dirty="0">
                <a:solidFill>
                  <a:srgbClr val="F5F7FA"/>
                </a:solidFill>
                <a:latin typeface="Consolas"/>
              </a:rPr>
              <a:t> edit svc svc-example
# Example: app: does-not-exist
# Inspect the backend set
</a:t>
            </a:r>
            <a:r>
              <a:rPr sz="1280" dirty="0" err="1">
                <a:solidFill>
                  <a:srgbClr val="F5F7FA"/>
                </a:solidFill>
                <a:latin typeface="Consolas"/>
              </a:rPr>
              <a:t>kubectl</a:t>
            </a:r>
            <a:r>
              <a:rPr sz="1280" dirty="0">
                <a:solidFill>
                  <a:srgbClr val="F5F7FA"/>
                </a:solidFill>
                <a:latin typeface="Consolas"/>
              </a:rPr>
              <a:t> get </a:t>
            </a:r>
            <a:r>
              <a:rPr sz="1280" dirty="0" err="1">
                <a:solidFill>
                  <a:srgbClr val="F5F7FA"/>
                </a:solidFill>
                <a:latin typeface="Consolas"/>
              </a:rPr>
              <a:t>endpointslices</a:t>
            </a:r>
            <a:r>
              <a:rPr sz="1280" dirty="0">
                <a:solidFill>
                  <a:srgbClr val="F5F7FA"/>
                </a:solidFill>
                <a:latin typeface="Consolas"/>
              </a:rPr>
              <a:t> -l kubernetes.io/service-name=svc-example
</a:t>
            </a:r>
            <a:r>
              <a:rPr sz="1280" dirty="0" err="1">
                <a:solidFill>
                  <a:srgbClr val="F5F7FA"/>
                </a:solidFill>
                <a:latin typeface="Consolas"/>
              </a:rPr>
              <a:t>kubectl</a:t>
            </a:r>
            <a:r>
              <a:rPr sz="1280" dirty="0">
                <a:solidFill>
                  <a:srgbClr val="F5F7FA"/>
                </a:solidFill>
                <a:latin typeface="Consolas"/>
              </a:rPr>
              <a:t> describe svc svc-example
# Restore the correct selector and test again</a:t>
            </a:r>
            <a:endParaRPr sz="1300" dirty="0">
              <a:solidFill>
                <a:srgbClr val="F5F7FA"/>
              </a:solidFill>
              <a:latin typeface="Consolas"/>
            </a:endParaRPr>
          </a:p>
        </p:txBody>
      </p:sp>
      <p:sp>
        <p:nvSpPr>
          <p:cNvPr id="12" name="Rounded Rectangle 11"/>
          <p:cNvSpPr/>
          <p:nvPr/>
        </p:nvSpPr>
        <p:spPr>
          <a:xfrm>
            <a:off x="7463324" y="1885950"/>
            <a:ext cx="3900000"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Challenge questions</a:t>
            </a:r>
          </a:p>
          <a:p>
            <a:pPr>
              <a:spcAft>
                <a:spcPts val="400"/>
              </a:spcAft>
              <a:defRPr sz="1600">
                <a:solidFill>
                  <a:srgbClr val="D7DEE8"/>
                </a:solidFill>
                <a:latin typeface="Plus Jakarta Sans"/>
              </a:defRPr>
            </a:pPr>
            <a:r>
              <a:t>Does the Service object still exist?</a:t>
            </a:r>
          </a:p>
          <a:p>
            <a:pPr>
              <a:spcAft>
                <a:spcPts val="400"/>
              </a:spcAft>
              <a:defRPr sz="1600">
                <a:solidFill>
                  <a:srgbClr val="D7DEE8"/>
                </a:solidFill>
                <a:latin typeface="Plus Jakarta Sans"/>
              </a:defRPr>
            </a:pPr>
            <a:r>
              <a:t>Does its DNS name still resolve?</a:t>
            </a:r>
          </a:p>
          <a:p>
            <a:pPr>
              <a:spcAft>
                <a:spcPts val="400"/>
              </a:spcAft>
              <a:defRPr sz="1600">
                <a:solidFill>
                  <a:srgbClr val="D7DEE8"/>
                </a:solidFill>
                <a:latin typeface="Plus Jakarta Sans"/>
              </a:defRPr>
            </a:pPr>
            <a:r>
              <a:t>What happened to the EndpointSlice backends?</a:t>
            </a:r>
          </a:p>
          <a:p>
            <a:pPr>
              <a:spcAft>
                <a:spcPts val="400"/>
              </a:spcAft>
              <a:defRPr sz="1600">
                <a:solidFill>
                  <a:srgbClr val="D7DEE8"/>
                </a:solidFill>
                <a:latin typeface="Plus Jakarta Sans"/>
              </a:defRPr>
            </a:pPr>
            <a:r>
              <a:t>Which labels must match to recover?</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This exercise separates “Service exists” from “Service has healthy backends”. It is one of the most useful beginner troubleshooting patterns.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Knowledge check + mental model</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If these answers are clear, the Services section is doing its job</a:t>
            </a:r>
          </a:p>
        </p:txBody>
      </p:sp>
      <p:sp>
        <p:nvSpPr>
          <p:cNvPr id="11" name="TextBox 10"/>
          <p:cNvSpPr txBox="1"/>
          <p:nvPr/>
        </p:nvSpPr>
        <p:spPr>
          <a:xfrm>
            <a:off x="628650" y="1900000"/>
            <a:ext cx="5600000" cy="3000000"/>
          </a:xfrm>
          <a:prstGeom prst="rect">
            <a:avLst/>
          </a:prstGeom>
          <a:noFill/>
        </p:spPr>
        <p:txBody>
          <a:bodyPr wrap="square" lIns="18288" tIns="0" rIns="18288" bIns="0">
            <a:spAutoFit/>
          </a:bodyPr>
          <a:lstStyle/>
          <a:p>
            <a:pPr>
              <a:spcAft>
                <a:spcPts val="700"/>
              </a:spcAft>
              <a:defRPr sz="1600">
                <a:solidFill>
                  <a:srgbClr val="D7DEE8"/>
                </a:solidFill>
                <a:latin typeface="Plus Jakarta Sans"/>
              </a:defRPr>
            </a:pPr>
            <a:r>
              <a:t>• What problem does a Service solve?</a:t>
            </a:r>
          </a:p>
          <a:p>
            <a:pPr>
              <a:spcAft>
                <a:spcPts val="700"/>
              </a:spcAft>
              <a:defRPr sz="1600">
                <a:solidFill>
                  <a:srgbClr val="D7DEE8"/>
                </a:solidFill>
                <a:latin typeface="Plus Jakarta Sans"/>
              </a:defRPr>
            </a:pPr>
            <a:r>
              <a:t>• What decides which Pods become Service backends?</a:t>
            </a:r>
          </a:p>
          <a:p>
            <a:pPr>
              <a:spcAft>
                <a:spcPts val="700"/>
              </a:spcAft>
              <a:defRPr sz="1600">
                <a:solidFill>
                  <a:srgbClr val="D7DEE8"/>
                </a:solidFill>
                <a:latin typeface="Plus Jakarta Sans"/>
              </a:defRPr>
            </a:pPr>
            <a:r>
              <a:t>• What is the difference between port and targetPort?</a:t>
            </a:r>
          </a:p>
          <a:p>
            <a:pPr>
              <a:spcAft>
                <a:spcPts val="700"/>
              </a:spcAft>
              <a:defRPr sz="1600">
                <a:solidFill>
                  <a:srgbClr val="D7DEE8"/>
                </a:solidFill>
                <a:latin typeface="Plus Jakarta Sans"/>
              </a:defRPr>
            </a:pPr>
            <a:r>
              <a:t>• What is the default Service type?</a:t>
            </a:r>
          </a:p>
          <a:p>
            <a:pPr>
              <a:spcAft>
                <a:spcPts val="700"/>
              </a:spcAft>
              <a:defRPr sz="1600">
                <a:solidFill>
                  <a:srgbClr val="D7DEE8"/>
                </a:solidFill>
                <a:latin typeface="Plus Jakarta Sans"/>
              </a:defRPr>
            </a:pPr>
            <a:r>
              <a:t>• Where can you inspect the current backend addresses?</a:t>
            </a:r>
          </a:p>
          <a:p>
            <a:pPr>
              <a:spcAft>
                <a:spcPts val="700"/>
              </a:spcAft>
              <a:defRPr sz="1600">
                <a:solidFill>
                  <a:srgbClr val="D7DEE8"/>
                </a:solidFill>
                <a:latin typeface="Plus Jakarta Sans"/>
              </a:defRPr>
            </a:pPr>
            <a:r>
              <a:t>• When would you use Ingress / Gateway instead of one Service per public endpoint?</a:t>
            </a:r>
          </a:p>
          <a:p>
            <a:pPr>
              <a:spcAft>
                <a:spcPts val="700"/>
              </a:spcAft>
              <a:defRPr sz="1600">
                <a:solidFill>
                  <a:srgbClr val="D7DEE8"/>
                </a:solidFill>
                <a:latin typeface="Plus Jakarta Sans"/>
              </a:defRPr>
            </a:pPr>
            <a:endParaRPr/>
          </a:p>
        </p:txBody>
      </p:sp>
      <p:sp>
        <p:nvSpPr>
          <p:cNvPr id="12" name="Rounded Rectangle 11"/>
          <p:cNvSpPr/>
          <p:nvPr/>
        </p:nvSpPr>
        <p:spPr>
          <a:xfrm>
            <a:off x="7920810" y="1257200"/>
            <a:ext cx="3155062" cy="36428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Mental model</a:t>
            </a:r>
          </a:p>
          <a:p>
            <a:pPr>
              <a:spcAft>
                <a:spcPts val="400"/>
              </a:spcAft>
              <a:defRPr sz="1600">
                <a:solidFill>
                  <a:srgbClr val="D7DEE8"/>
                </a:solidFill>
                <a:latin typeface="Plus Jakarta Sans"/>
              </a:defRPr>
            </a:pPr>
            <a:r>
              <a:rPr dirty="0"/>
              <a:t>Client</a:t>
            </a:r>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a:t>Service DNS + port</a:t>
            </a:r>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a:t>EndpointSlices</a:t>
            </a:r>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err="1"/>
              <a:t>ready Pods</a:t>
            </a:r>
            <a:endParaRPr dirty="0"/>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selectors connect</a:t>
            </a:r>
          </a:p>
          <a:p>
            <a:pPr>
              <a:spcAft>
                <a:spcPts val="400"/>
              </a:spcAft>
              <a:defRPr sz="1600">
                <a:solidFill>
                  <a:srgbClr val="D7DEE8"/>
                </a:solidFill>
                <a:latin typeface="Plus Jakarta Sans"/>
              </a:defRPr>
            </a:pPr>
            <a:r>
              <a:rPr dirty="0"/>
              <a:t>Service → Pods</a:t>
            </a:r>
          </a:p>
          <a:p>
            <a:pPr>
              <a:spcAft>
                <a:spcPts val="400"/>
              </a:spcAft>
              <a:defRPr sz="1600">
                <a:solidFill>
                  <a:srgbClr val="D7DEE8"/>
                </a:solidFill>
                <a:latin typeface="Plus Jakarta Sans"/>
              </a:defRPr>
            </a:pP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4478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Storage and Persistence</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Keeping data beyond container and Pod lifetimes</a:t>
            </a:r>
          </a:p>
        </p:txBody>
      </p:sp>
      <p:sp>
        <p:nvSpPr>
          <p:cNvPr id="12" name="TextBox 11"/>
          <p:cNvSpPr txBox="1"/>
          <p:nvPr/>
        </p:nvSpPr>
        <p:spPr>
          <a:xfrm>
            <a:off x="1025872" y="5425000"/>
            <a:ext cx="10050000" cy="1154162"/>
          </a:xfrm>
          <a:prstGeom prst="rect">
            <a:avLst/>
          </a:prstGeom>
          <a:noFill/>
        </p:spPr>
        <p:txBody>
          <a:bodyPr wrap="square" lIns="27432" tIns="0" rIns="27432" bIns="0">
            <a:spAutoFit/>
          </a:bodyPr>
          <a:lstStyle/>
          <a:p>
            <a:r>
              <a:rPr lang="en-US" sz="1250" dirty="0">
                <a:solidFill>
                  <a:srgbClr val="99A6B7"/>
                </a:solidFill>
                <a:latin typeface="Plus Jakarta Sans"/>
              </a:rPr>
              <a:t>This section is vital because it explains how Kubernetes handles the "memory" of an application. In a world of temporary containers, Storage and Persistence are what allow databases and file uploads to survive.</a:t>
            </a:r>
          </a:p>
          <a:p>
            <a:pPr algn="l"/>
            <a:endParaRPr lang="en-US" sz="1250" b="0" dirty="0">
              <a:solidFill>
                <a:srgbClr val="99A6B7"/>
              </a:solidFill>
              <a:latin typeface="Plus Jakarta Sans"/>
            </a:endParaRPr>
          </a:p>
          <a:p>
            <a:pPr algn="l"/>
            <a:r>
              <a:rPr lang="en-US" sz="1250" dirty="0">
                <a:solidFill>
                  <a:srgbClr val="99A6B7"/>
                </a:solidFill>
                <a:latin typeface="Plus Jakarta Sans"/>
              </a:rPr>
              <a:t>S</a:t>
            </a:r>
            <a:r>
              <a:rPr lang="en-US" sz="1250" b="0" dirty="0">
                <a:solidFill>
                  <a:srgbClr val="99A6B7"/>
                </a:solidFill>
                <a:latin typeface="Plus Jakarta Sans"/>
              </a:rPr>
              <a:t>eparating container restart from Pod replacement. A Pod volume can survive a container restart, but only persistent storage is designed to survive the Pod itself.</a:t>
            </a:r>
            <a:br>
              <a:rPr lang="en-US" sz="1250" dirty="0">
                <a:solidFill>
                  <a:srgbClr val="99A6B7"/>
                </a:solidFill>
                <a:latin typeface="Plus Jakarta Sans"/>
              </a:rPr>
            </a:br>
            <a:endParaRPr lang="en-US" sz="1250" dirty="0">
              <a:solidFill>
                <a:srgbClr val="99A6B7"/>
              </a:solidFill>
              <a:latin typeface="Plus Jakarta Sans"/>
            </a:endParaRPr>
          </a:p>
        </p:txBody>
      </p:sp>
      <p:sp>
        <p:nvSpPr>
          <p:cNvPr id="6" name="TextBox 5">
            <a:extLst>
              <a:ext uri="{FF2B5EF4-FFF2-40B4-BE49-F238E27FC236}">
                <a16:creationId xmlns:a16="http://schemas.microsoft.com/office/drawing/2014/main" id="{4748AAE4-9ED6-13F9-9FA8-AB4304CEA3E7}"/>
              </a:ext>
            </a:extLst>
          </p:cNvPr>
          <p:cNvSpPr txBox="1"/>
          <p:nvPr/>
        </p:nvSpPr>
        <p:spPr>
          <a:xfrm>
            <a:off x="628650" y="1881137"/>
            <a:ext cx="9144000" cy="1097280"/>
          </a:xfrm>
          <a:prstGeom prst="rect">
            <a:avLst/>
          </a:prstGeom>
          <a:noFill/>
        </p:spPr>
        <p:txBody>
          <a:bodyPr wrap="square" anchor="t">
            <a:spAutoFit/>
          </a:bodyPr>
          <a:lstStyle/>
          <a:p>
            <a:pPr algn="l"/>
            <a:r>
              <a:rPr sz="1900" b="0" dirty="0">
                <a:solidFill>
                  <a:srgbClr val="CCD3DE"/>
                </a:solidFill>
                <a:latin typeface="Plus Jakarta Sans"/>
              </a:rPr>
              <a:t>Containers and Pods are replaceable. Kubernetes volumes provide storage to Pods, while PersistentVolumes and Claims decouple application storage needs from the storage implementation.</a:t>
            </a:r>
          </a:p>
        </p:txBody>
      </p:sp>
      <p:sp>
        <p:nvSpPr>
          <p:cNvPr id="17" name="Rounded Rectangle 11">
            <a:extLst>
              <a:ext uri="{FF2B5EF4-FFF2-40B4-BE49-F238E27FC236}">
                <a16:creationId xmlns:a16="http://schemas.microsoft.com/office/drawing/2014/main" id="{36F07A6E-B68E-BB61-2F63-A4350C0608E9}"/>
              </a:ext>
            </a:extLst>
          </p:cNvPr>
          <p:cNvSpPr/>
          <p:nvPr/>
        </p:nvSpPr>
        <p:spPr>
          <a:xfrm>
            <a:off x="628650" y="2994658"/>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1">
            <a:extLst>
              <a:ext uri="{FF2B5EF4-FFF2-40B4-BE49-F238E27FC236}">
                <a16:creationId xmlns:a16="http://schemas.microsoft.com/office/drawing/2014/main" id="{934C5021-F958-0FB0-0374-AE20F24F07AF}"/>
              </a:ext>
            </a:extLst>
          </p:cNvPr>
          <p:cNvSpPr/>
          <p:nvPr/>
        </p:nvSpPr>
        <p:spPr>
          <a:xfrm>
            <a:off x="3846195" y="3032641"/>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1">
            <a:extLst>
              <a:ext uri="{FF2B5EF4-FFF2-40B4-BE49-F238E27FC236}">
                <a16:creationId xmlns:a16="http://schemas.microsoft.com/office/drawing/2014/main" id="{FD32325E-6720-B29F-00D8-3F791E8F0EDB}"/>
              </a:ext>
            </a:extLst>
          </p:cNvPr>
          <p:cNvSpPr/>
          <p:nvPr/>
        </p:nvSpPr>
        <p:spPr>
          <a:xfrm>
            <a:off x="7071993" y="3032641"/>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E5ACEF36-BAD8-4438-1A5C-D83F7E243AAD}"/>
              </a:ext>
            </a:extLst>
          </p:cNvPr>
          <p:cNvSpPr txBox="1"/>
          <p:nvPr/>
        </p:nvSpPr>
        <p:spPr>
          <a:xfrm>
            <a:off x="850392" y="3053138"/>
            <a:ext cx="2322576" cy="320040"/>
          </a:xfrm>
          <a:prstGeom prst="rect">
            <a:avLst/>
          </a:prstGeom>
          <a:noFill/>
        </p:spPr>
        <p:txBody>
          <a:bodyPr wrap="square" anchor="t">
            <a:spAutoFit/>
          </a:bodyPr>
          <a:lstStyle/>
          <a:p>
            <a:pPr algn="l"/>
            <a:r>
              <a:rPr sz="1500" b="1" dirty="0">
                <a:solidFill>
                  <a:srgbClr val="25C7FF"/>
                </a:solidFill>
                <a:latin typeface="Space Grotesk"/>
              </a:rPr>
              <a:t>1</a:t>
            </a:r>
          </a:p>
        </p:txBody>
      </p:sp>
      <p:sp>
        <p:nvSpPr>
          <p:cNvPr id="25" name="TextBox 24">
            <a:extLst>
              <a:ext uri="{FF2B5EF4-FFF2-40B4-BE49-F238E27FC236}">
                <a16:creationId xmlns:a16="http://schemas.microsoft.com/office/drawing/2014/main" id="{1BD61E48-1B0F-898F-F52A-79D2EE2690DA}"/>
              </a:ext>
            </a:extLst>
          </p:cNvPr>
          <p:cNvSpPr txBox="1"/>
          <p:nvPr/>
        </p:nvSpPr>
        <p:spPr>
          <a:xfrm>
            <a:off x="3950334" y="3053138"/>
            <a:ext cx="2322576" cy="320040"/>
          </a:xfrm>
          <a:prstGeom prst="rect">
            <a:avLst/>
          </a:prstGeom>
          <a:noFill/>
        </p:spPr>
        <p:txBody>
          <a:bodyPr wrap="square" anchor="t">
            <a:spAutoFit/>
          </a:bodyPr>
          <a:lstStyle/>
          <a:p>
            <a:pPr algn="l"/>
            <a:r>
              <a:rPr sz="1500" b="1" dirty="0">
                <a:solidFill>
                  <a:srgbClr val="8CF7D7"/>
                </a:solidFill>
                <a:latin typeface="Space Grotesk"/>
              </a:rPr>
              <a:t>2</a:t>
            </a:r>
          </a:p>
        </p:txBody>
      </p:sp>
      <p:sp>
        <p:nvSpPr>
          <p:cNvPr id="27" name="TextBox 26">
            <a:extLst>
              <a:ext uri="{FF2B5EF4-FFF2-40B4-BE49-F238E27FC236}">
                <a16:creationId xmlns:a16="http://schemas.microsoft.com/office/drawing/2014/main" id="{D9524D72-DE76-3A9D-7FF0-A4B450AFDB29}"/>
              </a:ext>
            </a:extLst>
          </p:cNvPr>
          <p:cNvSpPr txBox="1"/>
          <p:nvPr/>
        </p:nvSpPr>
        <p:spPr>
          <a:xfrm>
            <a:off x="7139304" y="3053138"/>
            <a:ext cx="2322576" cy="320040"/>
          </a:xfrm>
          <a:prstGeom prst="rect">
            <a:avLst/>
          </a:prstGeom>
          <a:noFill/>
        </p:spPr>
        <p:txBody>
          <a:bodyPr wrap="square" anchor="t">
            <a:spAutoFit/>
          </a:bodyPr>
          <a:lstStyle/>
          <a:p>
            <a:pPr algn="l"/>
            <a:r>
              <a:rPr sz="1500" b="1" dirty="0">
                <a:solidFill>
                  <a:srgbClr val="25C7FF"/>
                </a:solidFill>
                <a:latin typeface="Space Grotesk"/>
              </a:rPr>
              <a:t>3</a:t>
            </a:r>
          </a:p>
        </p:txBody>
      </p:sp>
      <p:sp>
        <p:nvSpPr>
          <p:cNvPr id="29" name="TextBox 28">
            <a:extLst>
              <a:ext uri="{FF2B5EF4-FFF2-40B4-BE49-F238E27FC236}">
                <a16:creationId xmlns:a16="http://schemas.microsoft.com/office/drawing/2014/main" id="{DD664B68-803C-A561-4E61-0EA59B4F996F}"/>
              </a:ext>
            </a:extLst>
          </p:cNvPr>
          <p:cNvSpPr txBox="1"/>
          <p:nvPr/>
        </p:nvSpPr>
        <p:spPr>
          <a:xfrm>
            <a:off x="850392" y="3291839"/>
            <a:ext cx="2322576" cy="731519"/>
          </a:xfrm>
          <a:prstGeom prst="rect">
            <a:avLst/>
          </a:prstGeom>
          <a:noFill/>
        </p:spPr>
        <p:txBody>
          <a:bodyPr wrap="square" anchor="t">
            <a:spAutoFit/>
          </a:bodyPr>
          <a:lstStyle/>
          <a:p>
            <a:pPr algn="l"/>
            <a:r>
              <a:rPr sz="1200" b="0" dirty="0">
                <a:solidFill>
                  <a:srgbClr val="CCD3DE"/>
                </a:solidFill>
                <a:latin typeface="Plus Jakarta Sans"/>
              </a:rPr>
              <a:t>Application writes data</a:t>
            </a:r>
          </a:p>
        </p:txBody>
      </p:sp>
      <p:sp>
        <p:nvSpPr>
          <p:cNvPr id="31" name="TextBox 30">
            <a:extLst>
              <a:ext uri="{FF2B5EF4-FFF2-40B4-BE49-F238E27FC236}">
                <a16:creationId xmlns:a16="http://schemas.microsoft.com/office/drawing/2014/main" id="{48A2A40C-33CB-D744-C721-B3F48ECE0A10}"/>
              </a:ext>
            </a:extLst>
          </p:cNvPr>
          <p:cNvSpPr txBox="1"/>
          <p:nvPr/>
        </p:nvSpPr>
        <p:spPr>
          <a:xfrm>
            <a:off x="3969590" y="3291839"/>
            <a:ext cx="2322576" cy="731519"/>
          </a:xfrm>
          <a:prstGeom prst="rect">
            <a:avLst/>
          </a:prstGeom>
          <a:noFill/>
        </p:spPr>
        <p:txBody>
          <a:bodyPr wrap="square" anchor="t">
            <a:spAutoFit/>
          </a:bodyPr>
          <a:lstStyle/>
          <a:p>
            <a:pPr algn="l"/>
            <a:r>
              <a:rPr sz="1200" b="0" dirty="0">
                <a:solidFill>
                  <a:srgbClr val="CCD3DE"/>
                </a:solidFill>
                <a:latin typeface="Plus Jakarta Sans"/>
              </a:rPr>
              <a:t>Pod may disappear</a:t>
            </a:r>
          </a:p>
        </p:txBody>
      </p:sp>
      <p:sp>
        <p:nvSpPr>
          <p:cNvPr id="33" name="TextBox 32">
            <a:extLst>
              <a:ext uri="{FF2B5EF4-FFF2-40B4-BE49-F238E27FC236}">
                <a16:creationId xmlns:a16="http://schemas.microsoft.com/office/drawing/2014/main" id="{25417823-D66A-B6CA-DDF3-B4B527A54DB9}"/>
              </a:ext>
            </a:extLst>
          </p:cNvPr>
          <p:cNvSpPr txBox="1"/>
          <p:nvPr/>
        </p:nvSpPr>
        <p:spPr>
          <a:xfrm>
            <a:off x="7139304" y="3329821"/>
            <a:ext cx="2322576" cy="731519"/>
          </a:xfrm>
          <a:prstGeom prst="rect">
            <a:avLst/>
          </a:prstGeom>
          <a:noFill/>
        </p:spPr>
        <p:txBody>
          <a:bodyPr wrap="square" anchor="t">
            <a:spAutoFit/>
          </a:bodyPr>
          <a:lstStyle/>
          <a:p>
            <a:pPr algn="l"/>
            <a:r>
              <a:rPr sz="1200" b="0" dirty="0">
                <a:solidFill>
                  <a:srgbClr val="CCD3DE"/>
                </a:solidFill>
                <a:latin typeface="Plus Jakarta Sans"/>
              </a:rPr>
              <a:t>Storage can outlive the Pod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446276"/>
          </a:xfrm>
          <a:prstGeom prst="rect">
            <a:avLst/>
          </a:prstGeom>
          <a:noFill/>
        </p:spPr>
        <p:txBody>
          <a:bodyPr wrap="square" lIns="27432" tIns="0" rIns="27432" bIns="0">
            <a:spAutoFit/>
          </a:bodyPr>
          <a:lstStyle/>
          <a:p>
            <a:r>
              <a:rPr sz="2900" b="1" dirty="0">
                <a:solidFill>
                  <a:srgbClr val="F5F7FA"/>
                </a:solidFill>
                <a:latin typeface="Space Grotesk"/>
              </a:rPr>
              <a:t>The storage problem</a:t>
            </a:r>
            <a:r>
              <a:rPr lang="en-US" sz="2900" b="1" dirty="0">
                <a:solidFill>
                  <a:srgbClr val="F5F7FA"/>
                </a:solidFill>
                <a:latin typeface="Space Grotesk"/>
              </a:rPr>
              <a:t>: Ephemeral Data</a:t>
            </a:r>
            <a:endParaRPr sz="2900" b="1" dirty="0">
              <a:solidFill>
                <a:srgbClr val="F5F7FA"/>
              </a:solidFill>
              <a:latin typeface="Space Grotesk"/>
            </a:endParaRP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Not every byte should disappear when compute is replaced</a:t>
            </a:r>
          </a:p>
        </p:txBody>
      </p:sp>
      <p:sp>
        <p:nvSpPr>
          <p:cNvPr id="11" name="TextBox 10"/>
          <p:cNvSpPr txBox="1"/>
          <p:nvPr/>
        </p:nvSpPr>
        <p:spPr>
          <a:xfrm>
            <a:off x="628650" y="1950000"/>
            <a:ext cx="6100000" cy="2350000"/>
          </a:xfrm>
          <a:prstGeom prst="rect">
            <a:avLst/>
          </a:prstGeom>
          <a:noFill/>
        </p:spPr>
        <p:txBody>
          <a:bodyPr wrap="square" lIns="18288" tIns="0" rIns="18288" bIns="0">
            <a:spAutoFit/>
          </a:bodyPr>
          <a:lstStyle/>
          <a:p>
            <a:pPr>
              <a:spcAft>
                <a:spcPts val="700"/>
              </a:spcAft>
              <a:defRPr sz="1800">
                <a:solidFill>
                  <a:srgbClr val="D7DEE8"/>
                </a:solidFill>
                <a:latin typeface="Plus Jakarta Sans"/>
              </a:defRPr>
            </a:pPr>
            <a:r>
              <a:rPr dirty="0"/>
              <a:t>• A container writable layer belongs to that container.</a:t>
            </a:r>
          </a:p>
          <a:p>
            <a:pPr>
              <a:spcAft>
                <a:spcPts val="700"/>
              </a:spcAft>
              <a:defRPr sz="1800">
                <a:solidFill>
                  <a:srgbClr val="D7DEE8"/>
                </a:solidFill>
                <a:latin typeface="Plus Jakarta Sans"/>
              </a:defRPr>
            </a:pPr>
            <a:r>
              <a:rPr dirty="0"/>
              <a:t>• Some Pod volumes are intentionally ephemeral.</a:t>
            </a:r>
          </a:p>
          <a:p>
            <a:pPr>
              <a:spcAft>
                <a:spcPts val="700"/>
              </a:spcAft>
              <a:defRPr sz="1800">
                <a:solidFill>
                  <a:srgbClr val="D7DEE8"/>
                </a:solidFill>
                <a:latin typeface="Plus Jakarta Sans"/>
              </a:defRPr>
            </a:pPr>
            <a:r>
              <a:rPr dirty="0"/>
              <a:t>• Databases, uploads, and durable state need a longer lifecycle.</a:t>
            </a:r>
          </a:p>
          <a:p>
            <a:pPr>
              <a:spcAft>
                <a:spcPts val="700"/>
              </a:spcAft>
              <a:defRPr sz="1800">
                <a:solidFill>
                  <a:srgbClr val="D7DEE8"/>
                </a:solidFill>
                <a:latin typeface="Plus Jakarta Sans"/>
              </a:defRPr>
            </a:pPr>
            <a:r>
              <a:rPr dirty="0"/>
              <a:t>• Storage should not depend on a specific Pod name or Pod IP.</a:t>
            </a:r>
          </a:p>
        </p:txBody>
      </p:sp>
      <p:sp>
        <p:nvSpPr>
          <p:cNvPr id="12" name="Rounded Rectangle 11"/>
          <p:cNvSpPr/>
          <p:nvPr/>
        </p:nvSpPr>
        <p:spPr>
          <a:xfrm>
            <a:off x="7199999" y="1999999"/>
            <a:ext cx="3875873" cy="2143375"/>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Operational goal</a:t>
            </a:r>
          </a:p>
          <a:p>
            <a:pPr>
              <a:spcAft>
                <a:spcPts val="400"/>
              </a:spcAft>
              <a:defRPr sz="1500">
                <a:solidFill>
                  <a:srgbClr val="D7DEE8"/>
                </a:solidFill>
                <a:latin typeface="Plus Jakarta Sans"/>
              </a:defRPr>
            </a:pPr>
            <a:r>
              <a:rPr dirty="0"/>
              <a:t>Keep durable state outside</a:t>
            </a:r>
          </a:p>
          <a:p>
            <a:pPr>
              <a:spcAft>
                <a:spcPts val="400"/>
              </a:spcAft>
              <a:defRPr sz="1500">
                <a:solidFill>
                  <a:srgbClr val="D7DEE8"/>
                </a:solidFill>
                <a:latin typeface="Plus Jakarta Sans"/>
              </a:defRPr>
            </a:pPr>
            <a:r>
              <a:rPr dirty="0"/>
              <a:t>replaceable compute.</a:t>
            </a:r>
          </a:p>
        </p:txBody>
      </p:sp>
      <p:sp>
        <p:nvSpPr>
          <p:cNvPr id="13" name="TextBox 12"/>
          <p:cNvSpPr txBox="1"/>
          <p:nvPr/>
        </p:nvSpPr>
        <p:spPr>
          <a:xfrm>
            <a:off x="1025872" y="5425000"/>
            <a:ext cx="10050000" cy="769441"/>
          </a:xfrm>
          <a:prstGeom prst="rect">
            <a:avLst/>
          </a:prstGeom>
          <a:noFill/>
        </p:spPr>
        <p:txBody>
          <a:bodyPr wrap="square" lIns="27432" tIns="0" rIns="27432" bIns="0">
            <a:spAutoFit/>
          </a:bodyPr>
          <a:lstStyle/>
          <a:p>
            <a:r>
              <a:rPr lang="en-US" sz="1250" dirty="0">
                <a:solidFill>
                  <a:srgbClr val="99A6B7"/>
                </a:solidFill>
                <a:latin typeface="Plus Jakarta Sans"/>
              </a:rPr>
              <a:t>As we’ve seen, containers are temporary. Any data stored inside a container is wiped out the moment the container is destroyed or restarted. To keep data we need to store it outside the container.</a:t>
            </a:r>
          </a:p>
          <a:p>
            <a:endParaRPr lang="en-US" sz="1250" dirty="0">
              <a:solidFill>
                <a:srgbClr val="99A6B7"/>
              </a:solidFill>
              <a:latin typeface="Plus Jakarta Sans"/>
            </a:endParaRPr>
          </a:p>
          <a:p>
            <a:pPr algn="l"/>
            <a:r>
              <a:rPr sz="1250" b="0" dirty="0">
                <a:solidFill>
                  <a:srgbClr val="99A6B7"/>
                </a:solidFill>
                <a:latin typeface="Plus Jakarta Sans"/>
              </a:rPr>
              <a:t>Not all application data needs persistence. </a:t>
            </a:r>
            <a:r>
              <a:rPr sz="1250" b="0" dirty="0" err="1">
                <a:solidFill>
                  <a:srgbClr val="99A6B7"/>
                </a:solidFill>
                <a:latin typeface="Plus Jakarta Sans"/>
              </a:rPr>
              <a:t>Scratch space and caches are often better kept ephemeral; durability should be chosen intentionally.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49225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Volumes: the basic model</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A Pod declares a volume; each container chooses where to mount it</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Pod</a:t>
            </a:r>
          </a:p>
          <a:p>
            <a:pPr>
              <a:spcAft>
                <a:spcPts val="400"/>
              </a:spcAft>
              <a:defRPr sz="1600">
                <a:solidFill>
                  <a:srgbClr val="D7DEE8"/>
                </a:solidFill>
                <a:latin typeface="Plus Jakarta Sans"/>
              </a:defRPr>
            </a:pPr>
            <a:r>
              <a:t>.spec.volumes declares</a:t>
            </a:r>
          </a:p>
          <a:p>
            <a:pPr>
              <a:spcAft>
                <a:spcPts val="400"/>
              </a:spcAft>
              <a:defRPr sz="1600">
                <a:solidFill>
                  <a:srgbClr val="D7DEE8"/>
                </a:solidFill>
                <a:latin typeface="Plus Jakarta Sans"/>
              </a:defRPr>
            </a:pPr>
            <a:r>
              <a:t>the volume source</a:t>
            </a:r>
          </a:p>
          <a:p>
            <a:pPr>
              <a:spcAft>
                <a:spcPts val="400"/>
              </a:spcAft>
              <a:defRPr sz="1600">
                <a:solidFill>
                  <a:srgbClr val="D7DEE8"/>
                </a:solidFill>
                <a:latin typeface="Plus Jakarta Sans"/>
              </a:defRPr>
            </a:pPr>
            <a:r>
              <a:t>and gives it a name</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70EBB1"/>
                </a:solidFill>
                <a:latin typeface="Space Grotesk"/>
              </a:rPr>
              <a:t>Container</a:t>
            </a:r>
          </a:p>
          <a:p>
            <a:pPr>
              <a:spcAft>
                <a:spcPts val="400"/>
              </a:spcAft>
              <a:defRPr sz="1600">
                <a:solidFill>
                  <a:srgbClr val="D7DEE8"/>
                </a:solidFill>
                <a:latin typeface="Plus Jakarta Sans"/>
              </a:defRPr>
            </a:pPr>
            <a:r>
              <a:rPr dirty="0"/>
              <a:t>volumeMounts chooses</a:t>
            </a:r>
          </a:p>
          <a:p>
            <a:pPr>
              <a:spcAft>
                <a:spcPts val="400"/>
              </a:spcAft>
              <a:defRPr sz="1600">
                <a:solidFill>
                  <a:srgbClr val="D7DEE8"/>
                </a:solidFill>
                <a:latin typeface="Plus Jakarta Sans"/>
              </a:defRPr>
            </a:pPr>
            <a:r>
              <a:rPr dirty="0"/>
              <a:t>the path inside that container</a:t>
            </a:r>
          </a:p>
          <a:p>
            <a:pPr>
              <a:spcAft>
                <a:spcPts val="400"/>
              </a:spcAft>
              <a:defRPr sz="1600">
                <a:solidFill>
                  <a:srgbClr val="D7DEE8"/>
                </a:solidFill>
                <a:latin typeface="Plus Jakarta Sans"/>
              </a:defRPr>
            </a:pPr>
            <a:r>
              <a:rPr dirty="0"/>
              <a:t>for the named volume</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1900" b="1">
                <a:solidFill>
                  <a:srgbClr val="F5F7FA"/>
                </a:solidFill>
                <a:latin typeface="Space Grotesk"/>
              </a:rPr>
              <a:t>A volume becomes part of the container filesystem at the mount path. Its lifetime depends on the volume type.</a:t>
            </a:r>
          </a:p>
        </p:txBody>
      </p:sp>
      <p:sp>
        <p:nvSpPr>
          <p:cNvPr id="14" name="TextBox 13"/>
          <p:cNvSpPr txBox="1"/>
          <p:nvPr/>
        </p:nvSpPr>
        <p:spPr>
          <a:xfrm>
            <a:off x="1025872" y="5425000"/>
            <a:ext cx="10050000" cy="961802"/>
          </a:xfrm>
          <a:prstGeom prst="rect">
            <a:avLst/>
          </a:prstGeom>
          <a:noFill/>
        </p:spPr>
        <p:txBody>
          <a:bodyPr wrap="square" lIns="27432" tIns="0" rIns="27432" bIns="0">
            <a:spAutoFit/>
          </a:bodyPr>
          <a:lstStyle/>
          <a:p>
            <a:r>
              <a:rPr lang="en-US" sz="1250" dirty="0">
                <a:solidFill>
                  <a:srgbClr val="99A6B7"/>
                </a:solidFill>
                <a:latin typeface="Plus Jakarta Sans"/>
              </a:rPr>
              <a:t>At its core, a volume is a directory, with or without some data in it, which is accessible to the containers in a pod. How that directory comes to be, the medium that backs it, and the contents of it are determined by the particular volume type used.</a:t>
            </a:r>
          </a:p>
          <a:p>
            <a:endParaRPr lang="en-US" sz="1250" dirty="0">
              <a:solidFill>
                <a:srgbClr val="99A6B7"/>
              </a:solidFill>
              <a:latin typeface="Plus Jakarta Sans"/>
            </a:endParaRPr>
          </a:p>
          <a:p>
            <a:r>
              <a:rPr lang="en-US" sz="1250" dirty="0">
                <a:solidFill>
                  <a:srgbClr val="99A6B7"/>
                </a:solidFill>
                <a:latin typeface="Plus Jakarta Sans"/>
              </a:rPr>
              <a:t>Volumes allow a container to store data in external storage.</a:t>
            </a:r>
          </a:p>
          <a:p>
            <a:pPr algn="l"/>
            <a:r>
              <a:rPr sz="1250" b="0" dirty="0">
                <a:solidFill>
                  <a:srgbClr val="99A6B7"/>
                </a:solidFill>
                <a:latin typeface="Plus Jakarta Sans"/>
              </a:rPr>
              <a:t>Data in a volume survives a container restart within the same Pod. Whether it survives Pod deletion depends on the volume source.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446276"/>
          </a:xfrm>
          <a:prstGeom prst="rect">
            <a:avLst/>
          </a:prstGeom>
          <a:noFill/>
        </p:spPr>
        <p:txBody>
          <a:bodyPr wrap="square" lIns="27432" tIns="0" rIns="27432" bIns="0">
            <a:spAutoFit/>
          </a:bodyPr>
          <a:lstStyle/>
          <a:p>
            <a:pPr algn="l"/>
            <a:r>
              <a:rPr sz="2900" b="1" dirty="0">
                <a:solidFill>
                  <a:srgbClr val="F5F7FA"/>
                </a:solidFill>
                <a:latin typeface="Space Grotesk"/>
              </a:rPr>
              <a:t>Ephemeral vs persistent volumes</a:t>
            </a:r>
            <a:r>
              <a:rPr lang="en-US" sz="2900" b="1" dirty="0">
                <a:solidFill>
                  <a:srgbClr val="F5F7FA"/>
                </a:solidFill>
                <a:latin typeface="Space Grotesk"/>
              </a:rPr>
              <a:t> (PVs)</a:t>
            </a:r>
            <a:endParaRPr sz="2900" b="1" dirty="0">
              <a:solidFill>
                <a:srgbClr val="F5F7FA"/>
              </a:solidFill>
              <a:latin typeface="Space Grotesk"/>
            </a:endParaRP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Different data needs require different lifetimes</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FF7882"/>
                </a:solidFill>
                <a:latin typeface="Space Grotesk"/>
              </a:rPr>
              <a:t>Ephemeral</a:t>
            </a:r>
          </a:p>
          <a:p>
            <a:pPr>
              <a:spcAft>
                <a:spcPts val="400"/>
              </a:spcAft>
              <a:defRPr sz="1700">
                <a:solidFill>
                  <a:srgbClr val="D7DEE8"/>
                </a:solidFill>
                <a:latin typeface="Plus Jakarta Sans"/>
              </a:defRPr>
            </a:pPr>
            <a:r>
              <a:rPr dirty="0"/>
              <a:t>emptyDir for scratch data</a:t>
            </a:r>
          </a:p>
          <a:p>
            <a:pPr>
              <a:spcAft>
                <a:spcPts val="400"/>
              </a:spcAft>
              <a:defRPr sz="1700">
                <a:solidFill>
                  <a:srgbClr val="D7DEE8"/>
                </a:solidFill>
                <a:latin typeface="Plus Jakarta Sans"/>
              </a:defRPr>
            </a:pPr>
            <a:r>
              <a:rPr dirty="0"/>
              <a:t>ConfigMap / Secret projected data</a:t>
            </a:r>
          </a:p>
          <a:p>
            <a:pPr>
              <a:spcAft>
                <a:spcPts val="400"/>
              </a:spcAft>
              <a:defRPr sz="1700">
                <a:solidFill>
                  <a:srgbClr val="D7DEE8"/>
                </a:solidFill>
                <a:latin typeface="Plus Jakarta Sans"/>
              </a:defRPr>
            </a:pPr>
            <a:r>
              <a:rPr dirty="0"/>
              <a:t>Lifetime tied to the Pod</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Persistent</a:t>
            </a:r>
            <a:endParaRPr sz="1800" b="1" dirty="0">
              <a:solidFill>
                <a:srgbClr val="70EBB1"/>
              </a:solidFill>
              <a:latin typeface="Space Grotesk"/>
            </a:endParaRPr>
          </a:p>
          <a:p>
            <a:pPr>
              <a:spcAft>
                <a:spcPts val="400"/>
              </a:spcAft>
              <a:defRPr sz="1700">
                <a:solidFill>
                  <a:srgbClr val="D7DEE8"/>
                </a:solidFill>
                <a:latin typeface="Plus Jakarta Sans"/>
              </a:defRPr>
            </a:pPr>
            <a:r>
              <a:rPr dirty="0"/>
              <a:t>PV-backed storage</a:t>
            </a:r>
          </a:p>
          <a:p>
            <a:pPr>
              <a:spcAft>
                <a:spcPts val="400"/>
              </a:spcAft>
              <a:defRPr sz="1700">
                <a:solidFill>
                  <a:srgbClr val="D7DEE8"/>
                </a:solidFill>
                <a:latin typeface="Plus Jakarta Sans"/>
              </a:defRPr>
            </a:pPr>
            <a:r>
              <a:rPr dirty="0"/>
              <a:t>Lifecycle independent of one Pod</a:t>
            </a:r>
          </a:p>
          <a:p>
            <a:pPr>
              <a:spcAft>
                <a:spcPts val="400"/>
              </a:spcAft>
              <a:defRPr sz="1700">
                <a:solidFill>
                  <a:srgbClr val="D7DEE8"/>
                </a:solidFill>
                <a:latin typeface="Plus Jakarta Sans"/>
              </a:defRPr>
            </a:pPr>
            <a:r>
              <a:rPr dirty="0"/>
              <a:t>Used for durable application state</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2000" b="1">
                <a:solidFill>
                  <a:srgbClr val="51E0FF"/>
                </a:solidFill>
                <a:latin typeface="Space Grotesk"/>
              </a:rPr>
              <a:t>Use ephemeral storage for scratch/cache/config input; use persistent storage when the data must survive Pod replacement.</a:t>
            </a:r>
          </a:p>
        </p:txBody>
      </p:sp>
      <p:sp>
        <p:nvSpPr>
          <p:cNvPr id="14" name="TextBox 13"/>
          <p:cNvSpPr txBox="1"/>
          <p:nvPr/>
        </p:nvSpPr>
        <p:spPr>
          <a:xfrm>
            <a:off x="1025872" y="5425000"/>
            <a:ext cx="10050000" cy="577081"/>
          </a:xfrm>
          <a:prstGeom prst="rect">
            <a:avLst/>
          </a:prstGeom>
          <a:noFill/>
        </p:spPr>
        <p:txBody>
          <a:bodyPr wrap="square" lIns="27432" tIns="0" rIns="27432" bIns="0">
            <a:spAutoFit/>
          </a:bodyPr>
          <a:lstStyle/>
          <a:p>
            <a:pPr algn="l"/>
            <a:r>
              <a:rPr lang="en-US" sz="1250" b="0" dirty="0">
                <a:solidFill>
                  <a:srgbClr val="99A6B7"/>
                </a:solidFill>
                <a:latin typeface="Plus Jakarta Sans"/>
              </a:rPr>
              <a:t>A </a:t>
            </a:r>
            <a:r>
              <a:rPr lang="en-US" sz="1250" b="0" dirty="0" err="1">
                <a:solidFill>
                  <a:srgbClr val="99A6B7"/>
                </a:solidFill>
                <a:latin typeface="Plus Jakarta Sans"/>
              </a:rPr>
              <a:t>PersistentVolume</a:t>
            </a:r>
            <a:r>
              <a:rPr lang="en-US" sz="1250" b="0" dirty="0">
                <a:solidFill>
                  <a:srgbClr val="99A6B7"/>
                </a:solidFill>
                <a:latin typeface="Plus Jakarta Sans"/>
              </a:rPr>
              <a:t> (PV) is a piece of storage in the cluster that has been provisioned by an administrator or dynamically provisioned using Storage Classes. It is a resource in the cluster just like a node is a cluster resource. PVs are volume plugins like Volumes, but have a lifecycle independent of any individual Pod that uses the PV.</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DCC5-87C3-A260-D951-41A67429DD53}"/>
            </a:ext>
          </a:extLst>
        </p:cNvPr>
        <p:cNvGrpSpPr/>
        <p:nvPr/>
      </p:nvGrpSpPr>
      <p:grpSpPr>
        <a:xfrm>
          <a:off x="0" y="0"/>
          <a:ext cx="0" cy="0"/>
          <a:chOff x="0" y="0"/>
          <a:chExt cx="0" cy="0"/>
        </a:xfrm>
      </p:grpSpPr>
      <p:sp>
        <p:nvSpPr>
          <p:cNvPr id="9000" name="Template Background Backing">
            <a:extLst>
              <a:ext uri="{FF2B5EF4-FFF2-40B4-BE49-F238E27FC236}">
                <a16:creationId xmlns:a16="http://schemas.microsoft.com/office/drawing/2014/main" id="{E18BD1D9-0B96-2772-6C91-BD903EA1543D}"/>
              </a:ext>
            </a:extLst>
          </p:cNvPr>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a:extLst>
              <a:ext uri="{FF2B5EF4-FFF2-40B4-BE49-F238E27FC236}">
                <a16:creationId xmlns:a16="http://schemas.microsoft.com/office/drawing/2014/main" id="{CBC035CE-A36C-CA04-A6DC-10924E815603}"/>
              </a:ext>
            </a:extLst>
          </p:cNvPr>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a:extLst>
              <a:ext uri="{FF2B5EF4-FFF2-40B4-BE49-F238E27FC236}">
                <a16:creationId xmlns:a16="http://schemas.microsoft.com/office/drawing/2014/main" id="{DA6E6208-5387-229C-C0AD-6A2985A487CB}"/>
              </a:ext>
            </a:extLst>
          </p:cNvPr>
          <p:cNvPicPr>
            <a:picLocks noChangeAspect="1"/>
          </p:cNvPicPr>
          <p:nvPr/>
        </p:nvPicPr>
        <p:blipFill>
          <a:blip r:embed="rId3"/>
          <a:stretch>
            <a:fillRect/>
          </a:stretch>
        </p:blipFill>
        <p:spPr>
          <a:xfrm>
            <a:off x="628650" y="5067300"/>
            <a:ext cx="10934700" cy="1257300"/>
          </a:xfrm>
          <a:prstGeom prst="rect">
            <a:avLst/>
          </a:prstGeom>
        </p:spPr>
      </p:pic>
      <p:sp>
        <p:nvSpPr>
          <p:cNvPr id="5" name="TextBox 4">
            <a:extLst>
              <a:ext uri="{FF2B5EF4-FFF2-40B4-BE49-F238E27FC236}">
                <a16:creationId xmlns:a16="http://schemas.microsoft.com/office/drawing/2014/main" id="{49BB3F7F-0C60-5594-A319-A7000C79D58B}"/>
              </a:ext>
            </a:extLst>
          </p:cNvPr>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a:extLst>
              <a:ext uri="{FF2B5EF4-FFF2-40B4-BE49-F238E27FC236}">
                <a16:creationId xmlns:a16="http://schemas.microsoft.com/office/drawing/2014/main" id="{6714D561-0363-5634-86B7-1C52BB070E5E}"/>
              </a:ext>
            </a:extLst>
          </p:cNvPr>
          <p:cNvPicPr>
            <a:picLocks noChangeAspect="1"/>
          </p:cNvPicPr>
          <p:nvPr/>
        </p:nvPicPr>
        <p:blipFill>
          <a:blip r:embed="rId4"/>
          <a:stretch>
            <a:fillRect/>
          </a:stretch>
        </p:blipFill>
        <p:spPr>
          <a:xfrm>
            <a:off x="828675" y="5248275"/>
            <a:ext cx="120997" cy="133350"/>
          </a:xfrm>
          <a:prstGeom prst="rect">
            <a:avLst/>
          </a:prstGeom>
        </p:spPr>
      </p:pic>
      <p:sp>
        <p:nvSpPr>
          <p:cNvPr id="9" name="TextBox 8">
            <a:extLst>
              <a:ext uri="{FF2B5EF4-FFF2-40B4-BE49-F238E27FC236}">
                <a16:creationId xmlns:a16="http://schemas.microsoft.com/office/drawing/2014/main" id="{F67413A7-647D-E623-9285-B6E9AB40452A}"/>
              </a:ext>
            </a:extLst>
          </p:cNvPr>
          <p:cNvSpPr txBox="1"/>
          <p:nvPr/>
        </p:nvSpPr>
        <p:spPr>
          <a:xfrm>
            <a:off x="628650" y="533400"/>
            <a:ext cx="11481435" cy="446276"/>
          </a:xfrm>
          <a:prstGeom prst="rect">
            <a:avLst/>
          </a:prstGeom>
          <a:noFill/>
        </p:spPr>
        <p:txBody>
          <a:bodyPr wrap="square" lIns="27432" tIns="0" rIns="27432" bIns="0">
            <a:spAutoFit/>
          </a:bodyPr>
          <a:lstStyle/>
          <a:p>
            <a:pPr algn="l"/>
            <a:r>
              <a:rPr lang="en-US" sz="2900" b="1" dirty="0">
                <a:solidFill>
                  <a:srgbClr val="F5F7FA"/>
                </a:solidFill>
                <a:latin typeface="Space Grotesk"/>
              </a:rPr>
              <a:t>Persistent Volume Claims</a:t>
            </a:r>
            <a:endParaRPr sz="2900" b="1" dirty="0">
              <a:solidFill>
                <a:srgbClr val="F5F7FA"/>
              </a:solidFill>
              <a:latin typeface="Space Grotesk"/>
            </a:endParaRPr>
          </a:p>
        </p:txBody>
      </p:sp>
      <p:sp>
        <p:nvSpPr>
          <p:cNvPr id="10" name="TextBox 9">
            <a:extLst>
              <a:ext uri="{FF2B5EF4-FFF2-40B4-BE49-F238E27FC236}">
                <a16:creationId xmlns:a16="http://schemas.microsoft.com/office/drawing/2014/main" id="{D35F5261-533A-84E7-7099-64A4F28FC27A}"/>
              </a:ext>
            </a:extLst>
          </p:cNvPr>
          <p:cNvSpPr txBox="1"/>
          <p:nvPr/>
        </p:nvSpPr>
        <p:spPr>
          <a:xfrm>
            <a:off x="628650" y="1400175"/>
            <a:ext cx="10001250" cy="246221"/>
          </a:xfrm>
          <a:prstGeom prst="rect">
            <a:avLst/>
          </a:prstGeom>
          <a:noFill/>
        </p:spPr>
        <p:txBody>
          <a:bodyPr wrap="square" lIns="27432" tIns="0" rIns="27432" bIns="0">
            <a:spAutoFit/>
          </a:bodyPr>
          <a:lstStyle/>
          <a:p>
            <a:pPr algn="l"/>
            <a:r>
              <a:rPr lang="en-US" sz="1600" b="0" dirty="0">
                <a:solidFill>
                  <a:srgbClr val="51E0FF"/>
                </a:solidFill>
                <a:latin typeface="Plus Jakarta Sans"/>
              </a:rPr>
              <a:t>A </a:t>
            </a:r>
            <a:r>
              <a:rPr lang="en-US" sz="1600" b="0" dirty="0" err="1">
                <a:solidFill>
                  <a:srgbClr val="51E0FF"/>
                </a:solidFill>
                <a:latin typeface="Plus Jakarta Sans"/>
              </a:rPr>
              <a:t>PersistentVolumeClaim</a:t>
            </a:r>
            <a:r>
              <a:rPr lang="en-US" sz="1600" b="0" dirty="0">
                <a:solidFill>
                  <a:srgbClr val="51E0FF"/>
                </a:solidFill>
                <a:latin typeface="Plus Jakarta Sans"/>
              </a:rPr>
              <a:t> (PVC) is a request for storage by a user</a:t>
            </a:r>
            <a:endParaRPr sz="1600" b="0" dirty="0">
              <a:solidFill>
                <a:srgbClr val="51E0FF"/>
              </a:solidFill>
              <a:latin typeface="Plus Jakarta Sans"/>
            </a:endParaRPr>
          </a:p>
        </p:txBody>
      </p:sp>
      <p:sp>
        <p:nvSpPr>
          <p:cNvPr id="12" name="Rounded Rectangle 11">
            <a:extLst>
              <a:ext uri="{FF2B5EF4-FFF2-40B4-BE49-F238E27FC236}">
                <a16:creationId xmlns:a16="http://schemas.microsoft.com/office/drawing/2014/main" id="{422613F0-FCCA-7515-CFF6-9F43EBBCEB48}"/>
              </a:ext>
            </a:extLst>
          </p:cNvPr>
          <p:cNvSpPr/>
          <p:nvPr/>
        </p:nvSpPr>
        <p:spPr>
          <a:xfrm>
            <a:off x="3116775"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70EBB1"/>
                </a:solidFill>
                <a:latin typeface="Space Grotesk"/>
              </a:rPr>
              <a:t>P</a:t>
            </a:r>
            <a:r>
              <a:rPr lang="en-US" sz="1800" b="1" dirty="0">
                <a:solidFill>
                  <a:srgbClr val="70EBB1"/>
                </a:solidFill>
                <a:latin typeface="Space Grotesk"/>
              </a:rPr>
              <a:t>VCs</a:t>
            </a:r>
            <a:endParaRPr sz="1800" b="1" dirty="0">
              <a:solidFill>
                <a:srgbClr val="70EBB1"/>
              </a:solidFill>
              <a:latin typeface="Space Grotesk"/>
            </a:endParaRPr>
          </a:p>
          <a:p>
            <a:pPr>
              <a:spcAft>
                <a:spcPts val="400"/>
              </a:spcAft>
              <a:defRPr sz="1700">
                <a:solidFill>
                  <a:srgbClr val="D7DEE8"/>
                </a:solidFill>
                <a:latin typeface="Plus Jakarta Sans"/>
              </a:defRPr>
            </a:pPr>
            <a:r>
              <a:rPr lang="en-US" dirty="0"/>
              <a:t>It is like a "voucher." A Pod uses a PVC to look for a matching PV and "claim" it.</a:t>
            </a:r>
          </a:p>
        </p:txBody>
      </p:sp>
      <p:sp>
        <p:nvSpPr>
          <p:cNvPr id="14" name="TextBox 13">
            <a:extLst>
              <a:ext uri="{FF2B5EF4-FFF2-40B4-BE49-F238E27FC236}">
                <a16:creationId xmlns:a16="http://schemas.microsoft.com/office/drawing/2014/main" id="{425C69D6-47C2-4627-4904-A86AA4AED326}"/>
              </a:ext>
            </a:extLst>
          </p:cNvPr>
          <p:cNvSpPr txBox="1"/>
          <p:nvPr/>
        </p:nvSpPr>
        <p:spPr>
          <a:xfrm>
            <a:off x="1025872" y="5425000"/>
            <a:ext cx="10050000" cy="577081"/>
          </a:xfrm>
          <a:prstGeom prst="rect">
            <a:avLst/>
          </a:prstGeom>
          <a:noFill/>
        </p:spPr>
        <p:txBody>
          <a:bodyPr wrap="square" lIns="27432" tIns="0" rIns="27432" bIns="0">
            <a:spAutoFit/>
          </a:bodyPr>
          <a:lstStyle/>
          <a:p>
            <a:pPr algn="l"/>
            <a:r>
              <a:rPr lang="en-US" sz="1250" b="0" dirty="0">
                <a:solidFill>
                  <a:srgbClr val="99A6B7"/>
                </a:solidFill>
                <a:latin typeface="Plus Jakarta Sans"/>
              </a:rPr>
              <a:t>It is similar to a Pod. Pods consume node resources and PVCs consume PV resources. Pods can request specific levels of resources (CPU and Memory). Claims can request specific size (storage) and access modes (e.g., they can be mounted </a:t>
            </a:r>
            <a:r>
              <a:rPr lang="en-US" sz="1250" b="0" dirty="0" err="1">
                <a:solidFill>
                  <a:srgbClr val="99A6B7"/>
                </a:solidFill>
                <a:latin typeface="Plus Jakarta Sans"/>
              </a:rPr>
              <a:t>ReadWriteOnce</a:t>
            </a:r>
            <a:r>
              <a:rPr lang="en-US" sz="1250" b="0" dirty="0">
                <a:solidFill>
                  <a:srgbClr val="99A6B7"/>
                </a:solidFill>
                <a:latin typeface="Plus Jakarta Sans"/>
              </a:rPr>
              <a:t>, </a:t>
            </a:r>
            <a:r>
              <a:rPr lang="en-US" sz="1250" b="0" dirty="0" err="1">
                <a:solidFill>
                  <a:srgbClr val="99A6B7"/>
                </a:solidFill>
                <a:latin typeface="Plus Jakarta Sans"/>
              </a:rPr>
              <a:t>ReadOnlyMany</a:t>
            </a:r>
            <a:r>
              <a:rPr lang="en-US" sz="1250" b="0" dirty="0">
                <a:solidFill>
                  <a:srgbClr val="99A6B7"/>
                </a:solidFill>
                <a:latin typeface="Plus Jakarta Sans"/>
              </a:rPr>
              <a:t>, </a:t>
            </a:r>
            <a:r>
              <a:rPr lang="en-US" sz="1250" b="0" dirty="0" err="1">
                <a:solidFill>
                  <a:srgbClr val="99A6B7"/>
                </a:solidFill>
                <a:latin typeface="Plus Jakarta Sans"/>
              </a:rPr>
              <a:t>ReadWriteMany</a:t>
            </a:r>
            <a:r>
              <a:rPr lang="en-US" sz="1250" b="0" dirty="0">
                <a:solidFill>
                  <a:srgbClr val="99A6B7"/>
                </a:solidFill>
                <a:latin typeface="Plus Jakarta Sans"/>
              </a:rPr>
              <a:t>, or </a:t>
            </a:r>
            <a:r>
              <a:rPr lang="en-US" sz="1250" b="0" dirty="0" err="1">
                <a:solidFill>
                  <a:srgbClr val="99A6B7"/>
                </a:solidFill>
                <a:latin typeface="Plus Jakarta Sans"/>
              </a:rPr>
              <a:t>ReadWriteOncePod</a:t>
            </a:r>
            <a:r>
              <a:rPr lang="en-US" sz="1250" b="0" dirty="0">
                <a:solidFill>
                  <a:srgbClr val="99A6B7"/>
                </a:solidFill>
                <a:latin typeface="Plus Jakarta Sans"/>
              </a:rPr>
              <a:t>)</a:t>
            </a:r>
          </a:p>
        </p:txBody>
      </p:sp>
    </p:spTree>
    <p:extLst>
      <p:ext uri="{BB962C8B-B14F-4D97-AF65-F5344CB8AC3E}">
        <p14:creationId xmlns:p14="http://schemas.microsoft.com/office/powerpoint/2010/main" val="1472005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hostPath: useful lab tool, risky production pattern</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It mounts a path from the Node filesystem directly into the Pod</a:t>
            </a:r>
          </a:p>
        </p:txBody>
      </p:sp>
      <p:sp>
        <p:nvSpPr>
          <p:cNvPr id="11" name="TextBox 10"/>
          <p:cNvSpPr txBox="1"/>
          <p:nvPr/>
        </p:nvSpPr>
        <p:spPr>
          <a:xfrm>
            <a:off x="628650" y="1950000"/>
            <a:ext cx="6100000" cy="2350000"/>
          </a:xfrm>
          <a:prstGeom prst="rect">
            <a:avLst/>
          </a:prstGeom>
          <a:noFill/>
        </p:spPr>
        <p:txBody>
          <a:bodyPr wrap="square" lIns="18288" tIns="0" rIns="18288" bIns="0">
            <a:spAutoFit/>
          </a:bodyPr>
          <a:lstStyle/>
          <a:p>
            <a:pPr>
              <a:spcAft>
                <a:spcPts val="700"/>
              </a:spcAft>
              <a:defRPr sz="1800">
                <a:solidFill>
                  <a:srgbClr val="D7DEE8"/>
                </a:solidFill>
                <a:latin typeface="Plus Jakarta Sans"/>
              </a:defRPr>
            </a:pPr>
            <a:r>
              <a:t>• Data is tied to one Node rather than portable cluster storage.</a:t>
            </a:r>
          </a:p>
          <a:p>
            <a:pPr>
              <a:spcAft>
                <a:spcPts val="700"/>
              </a:spcAft>
              <a:defRPr sz="1800">
                <a:solidFill>
                  <a:srgbClr val="D7DEE8"/>
                </a:solidFill>
                <a:latin typeface="Plus Jakarta Sans"/>
              </a:defRPr>
            </a:pPr>
            <a:r>
              <a:t>• The same Pod can see different data after being scheduled elsewhere.</a:t>
            </a:r>
          </a:p>
          <a:p>
            <a:pPr>
              <a:spcAft>
                <a:spcPts val="700"/>
              </a:spcAft>
              <a:defRPr sz="1800">
                <a:solidFill>
                  <a:srgbClr val="D7DEE8"/>
                </a:solidFill>
                <a:latin typeface="Plus Jakarta Sans"/>
              </a:defRPr>
            </a:pPr>
            <a:r>
              <a:t>• Read-write host access can create serious security risk.</a:t>
            </a:r>
          </a:p>
          <a:p>
            <a:pPr>
              <a:spcAft>
                <a:spcPts val="700"/>
              </a:spcAft>
              <a:defRPr sz="1800">
                <a:solidFill>
                  <a:srgbClr val="D7DEE8"/>
                </a:solidFill>
                <a:latin typeface="Plus Jakarta Sans"/>
              </a:defRPr>
            </a:pPr>
            <a:r>
              <a:t>• It is acceptable for a controlled single-node training lab.</a:t>
            </a:r>
          </a:p>
        </p:txBody>
      </p:sp>
      <p:sp>
        <p:nvSpPr>
          <p:cNvPr id="12" name="Rounded Rectangle 11"/>
          <p:cNvSpPr/>
          <p:nvPr/>
        </p:nvSpPr>
        <p:spPr>
          <a:xfrm>
            <a:off x="7199999" y="1999999"/>
            <a:ext cx="3875873" cy="2143375"/>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Lab use only</a:t>
            </a:r>
          </a:p>
          <a:p>
            <a:pPr>
              <a:spcAft>
                <a:spcPts val="400"/>
              </a:spcAft>
              <a:defRPr sz="1500">
                <a:solidFill>
                  <a:srgbClr val="D7DEE8"/>
                </a:solidFill>
                <a:latin typeface="Plus Jakarta Sans"/>
              </a:defRPr>
            </a:pPr>
            <a:r>
              <a:rPr dirty="0"/>
              <a:t>Good for demonstrating PV/PVC</a:t>
            </a:r>
          </a:p>
          <a:p>
            <a:pPr>
              <a:spcAft>
                <a:spcPts val="400"/>
              </a:spcAft>
              <a:defRPr sz="1500">
                <a:solidFill>
                  <a:srgbClr val="D7DEE8"/>
                </a:solidFill>
                <a:latin typeface="Plus Jakarta Sans"/>
              </a:defRPr>
            </a:pPr>
            <a:r>
              <a:rPr dirty="0"/>
              <a:t>on a local single-node cluster.</a:t>
            </a:r>
          </a:p>
        </p:txBody>
      </p:sp>
      <p:sp>
        <p:nvSpPr>
          <p:cNvPr id="13" name="TextBox 12"/>
          <p:cNvSpPr txBox="1"/>
          <p:nvPr/>
        </p:nvSpPr>
        <p:spPr>
          <a:xfrm>
            <a:off x="1025872" y="5425000"/>
            <a:ext cx="10050000" cy="577081"/>
          </a:xfrm>
          <a:prstGeom prst="rect">
            <a:avLst/>
          </a:prstGeom>
          <a:noFill/>
        </p:spPr>
        <p:txBody>
          <a:bodyPr wrap="square" lIns="27432" tIns="0" rIns="27432" bIns="0">
            <a:spAutoFit/>
          </a:bodyPr>
          <a:lstStyle/>
          <a:p>
            <a:r>
              <a:rPr lang="en-US" sz="1250" dirty="0" err="1">
                <a:solidFill>
                  <a:srgbClr val="99A6B7"/>
                </a:solidFill>
                <a:latin typeface="Plus Jakarta Sans"/>
              </a:rPr>
              <a:t>hostPath</a:t>
            </a:r>
            <a:r>
              <a:rPr lang="en-US" sz="1250" dirty="0">
                <a:solidFill>
                  <a:srgbClr val="99A6B7"/>
                </a:solidFill>
                <a:latin typeface="Plus Jakarta Sans"/>
              </a:rPr>
              <a:t> is a special volume plugin that mounts a file or directory from the host node's filesystem into your Pod.</a:t>
            </a:r>
          </a:p>
          <a:p>
            <a:endParaRPr lang="en-US" sz="1250" dirty="0">
              <a:solidFill>
                <a:srgbClr val="99A6B7"/>
              </a:solidFill>
              <a:latin typeface="Plus Jakarta Sans"/>
            </a:endParaRPr>
          </a:p>
          <a:p>
            <a:r>
              <a:rPr lang="en-US" sz="1250" dirty="0">
                <a:solidFill>
                  <a:srgbClr val="99A6B7"/>
                </a:solidFill>
                <a:latin typeface="Plus Jakarta Sans"/>
              </a:rPr>
              <a:t>Warning: This is only for local testing. It will not work in a multi-node cluster because if your Pod moves to Node B, it won't find the data left on Node A.</a:t>
            </a:r>
            <a:endParaRPr sz="1250" b="0" dirty="0">
              <a:solidFill>
                <a:srgbClr val="99A6B7"/>
              </a:solidFill>
              <a:latin typeface="Plus Jakarta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635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Persistent storage mental model</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 application asks for storage without needing to know the backend details</a:t>
            </a:r>
          </a:p>
        </p:txBody>
      </p:sp>
      <p:sp>
        <p:nvSpPr>
          <p:cNvPr id="11" name="Rounded Rectangle 10"/>
          <p:cNvSpPr/>
          <p:nvPr/>
        </p:nvSpPr>
        <p:spPr>
          <a:xfrm>
            <a:off x="628650" y="1950000"/>
            <a:ext cx="3000000"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Pod</a:t>
            </a:r>
          </a:p>
          <a:p>
            <a:pPr>
              <a:spcAft>
                <a:spcPts val="400"/>
              </a:spcAft>
              <a:defRPr sz="1600">
                <a:solidFill>
                  <a:srgbClr val="D7DEE8"/>
                </a:solidFill>
                <a:latin typeface="Plus Jakarta Sans"/>
              </a:defRPr>
            </a:pPr>
            <a:r>
              <a:rPr dirty="0"/>
              <a:t>Mounts a claim</a:t>
            </a:r>
          </a:p>
          <a:p>
            <a:pPr>
              <a:spcAft>
                <a:spcPts val="400"/>
              </a:spcAft>
              <a:defRPr sz="1600">
                <a:solidFill>
                  <a:srgbClr val="D7DEE8"/>
                </a:solidFill>
                <a:latin typeface="Plus Jakarta Sans"/>
              </a:defRPr>
            </a:pPr>
            <a:r>
              <a:rPr dirty="0"/>
              <a:t>for example at /data</a:t>
            </a:r>
          </a:p>
        </p:txBody>
      </p:sp>
      <p:sp>
        <p:nvSpPr>
          <p:cNvPr id="12" name="TextBox 11"/>
          <p:cNvSpPr txBox="1"/>
          <p:nvPr/>
        </p:nvSpPr>
        <p:spPr>
          <a:xfrm>
            <a:off x="3700000" y="2480000"/>
            <a:ext cx="900000" cy="50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13" name="Rounded Rectangle 12"/>
          <p:cNvSpPr/>
          <p:nvPr/>
        </p:nvSpPr>
        <p:spPr>
          <a:xfrm>
            <a:off x="4550000" y="1950000"/>
            <a:ext cx="2933872"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3B4FF"/>
                </a:solidFill>
                <a:latin typeface="Space Grotesk"/>
              </a:rPr>
              <a:t>PVC</a:t>
            </a:r>
            <a:endParaRPr sz="1800" b="1" dirty="0">
              <a:solidFill>
                <a:srgbClr val="73B4FF"/>
              </a:solidFill>
              <a:latin typeface="Space Grotesk"/>
            </a:endParaRPr>
          </a:p>
          <a:p>
            <a:pPr>
              <a:spcAft>
                <a:spcPts val="400"/>
              </a:spcAft>
              <a:defRPr sz="1600">
                <a:solidFill>
                  <a:srgbClr val="D7DEE8"/>
                </a:solidFill>
                <a:latin typeface="Plus Jakarta Sans"/>
              </a:defRPr>
            </a:pPr>
            <a:r>
              <a:rPr dirty="0"/>
              <a:t>User request</a:t>
            </a:r>
          </a:p>
          <a:p>
            <a:pPr>
              <a:spcAft>
                <a:spcPts val="400"/>
              </a:spcAft>
              <a:defRPr sz="1600">
                <a:solidFill>
                  <a:srgbClr val="D7DEE8"/>
                </a:solidFill>
                <a:latin typeface="Plus Jakarta Sans"/>
              </a:defRPr>
            </a:pPr>
            <a:r>
              <a:rPr dirty="0"/>
              <a:t>size + access mode + class</a:t>
            </a:r>
          </a:p>
        </p:txBody>
      </p:sp>
      <p:sp>
        <p:nvSpPr>
          <p:cNvPr id="14" name="TextBox 13"/>
          <p:cNvSpPr txBox="1"/>
          <p:nvPr/>
        </p:nvSpPr>
        <p:spPr>
          <a:xfrm>
            <a:off x="7800000" y="2480000"/>
            <a:ext cx="700000" cy="50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15" name="Rounded Rectangle 14"/>
          <p:cNvSpPr/>
          <p:nvPr/>
        </p:nvSpPr>
        <p:spPr>
          <a:xfrm>
            <a:off x="8600000" y="1950000"/>
            <a:ext cx="2823650" cy="18704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70EBB1"/>
                </a:solidFill>
                <a:latin typeface="Space Grotesk"/>
              </a:rPr>
              <a:t>PV</a:t>
            </a:r>
          </a:p>
          <a:p>
            <a:pPr>
              <a:spcAft>
                <a:spcPts val="400"/>
              </a:spcAft>
              <a:defRPr sz="1600">
                <a:solidFill>
                  <a:srgbClr val="D7DEE8"/>
                </a:solidFill>
                <a:latin typeface="Plus Jakarta Sans"/>
              </a:defRPr>
            </a:pPr>
            <a:r>
              <a:rPr dirty="0"/>
              <a:t>Cluster storage resource</a:t>
            </a:r>
          </a:p>
          <a:p>
            <a:pPr>
              <a:spcAft>
                <a:spcPts val="400"/>
              </a:spcAft>
              <a:defRPr sz="1600">
                <a:solidFill>
                  <a:srgbClr val="D7DEE8"/>
                </a:solidFill>
                <a:latin typeface="Plus Jakarta Sans"/>
              </a:defRPr>
            </a:pPr>
            <a:r>
              <a:rPr dirty="0"/>
              <a:t>backed by real storage</a:t>
            </a:r>
          </a:p>
        </p:txBody>
      </p:sp>
      <p:sp>
        <p:nvSpPr>
          <p:cNvPr id="16" name="TextBox 15"/>
          <p:cNvSpPr txBox="1"/>
          <p:nvPr/>
        </p:nvSpPr>
        <p:spPr>
          <a:xfrm>
            <a:off x="628650" y="4100000"/>
            <a:ext cx="10001250" cy="500000"/>
          </a:xfrm>
          <a:prstGeom prst="rect">
            <a:avLst/>
          </a:prstGeom>
          <a:noFill/>
        </p:spPr>
        <p:txBody>
          <a:bodyPr wrap="square" lIns="27432" tIns="0" rIns="27432" bIns="0">
            <a:spAutoFit/>
          </a:bodyPr>
          <a:lstStyle/>
          <a:p>
            <a:pPr algn="ctr"/>
            <a:r>
              <a:rPr sz="2100" b="1">
                <a:solidFill>
                  <a:srgbClr val="F5F7FA"/>
                </a:solidFill>
                <a:latin typeface="Space Grotesk"/>
              </a:rPr>
              <a:t>Think: Pod → PVC → PV → storage system.</a:t>
            </a:r>
          </a:p>
        </p:txBody>
      </p:sp>
      <p:sp>
        <p:nvSpPr>
          <p:cNvPr id="17" name="TextBox 16"/>
          <p:cNvSpPr txBox="1"/>
          <p:nvPr/>
        </p:nvSpPr>
        <p:spPr>
          <a:xfrm>
            <a:off x="1025872" y="5425000"/>
            <a:ext cx="10050000" cy="384721"/>
          </a:xfrm>
          <a:prstGeom prst="rect">
            <a:avLst/>
          </a:prstGeom>
          <a:noFill/>
        </p:spPr>
        <p:txBody>
          <a:bodyPr wrap="square" lIns="27432" tIns="0" rIns="27432" bIns="0">
            <a:spAutoFit/>
          </a:bodyPr>
          <a:lstStyle/>
          <a:p>
            <a:pPr algn="l"/>
            <a:r>
              <a:rPr sz="1250" b="0" dirty="0">
                <a:solidFill>
                  <a:srgbClr val="99A6B7"/>
                </a:solidFill>
                <a:latin typeface="Plus Jakarta Sans"/>
              </a:rPr>
              <a:t>PVCs are namespaced; PVs are cluster-scoped. A PV has a lifecycle independent of the individual Pod that consumes it.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Static vs dynamic provisioning</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 Pod uses a PVC either way; what changes is how the PV appears</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FF7882"/>
                </a:solidFill>
                <a:latin typeface="Space Grotesk"/>
              </a:rPr>
              <a:t>Static</a:t>
            </a:r>
          </a:p>
          <a:p>
            <a:pPr>
              <a:spcAft>
                <a:spcPts val="400"/>
              </a:spcAft>
              <a:defRPr sz="1700">
                <a:solidFill>
                  <a:srgbClr val="D7DEE8"/>
                </a:solidFill>
                <a:latin typeface="Plus Jakarta Sans"/>
              </a:defRPr>
            </a:pPr>
            <a:r>
              <a:rPr dirty="0"/>
              <a:t>Administrator creates PV first</a:t>
            </a:r>
          </a:p>
          <a:p>
            <a:pPr>
              <a:spcAft>
                <a:spcPts val="400"/>
              </a:spcAft>
              <a:defRPr sz="1700">
                <a:solidFill>
                  <a:srgbClr val="D7DEE8"/>
                </a:solidFill>
                <a:latin typeface="Plus Jakarta Sans"/>
              </a:defRPr>
            </a:pPr>
            <a:r>
              <a:rPr dirty="0"/>
              <a:t>PVC binds to a suitable PV</a:t>
            </a:r>
          </a:p>
          <a:p>
            <a:pPr>
              <a:spcAft>
                <a:spcPts val="400"/>
              </a:spcAft>
              <a:defRPr sz="1700">
                <a:solidFill>
                  <a:srgbClr val="D7DEE8"/>
                </a:solidFill>
                <a:latin typeface="Plus Jakarta Sans"/>
              </a:defRPr>
            </a:pPr>
            <a:r>
              <a:rPr dirty="0"/>
              <a:t>Simple to visualize and useful in labs</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Dynamic</a:t>
            </a:r>
            <a:endParaRPr sz="1800" b="1" dirty="0">
              <a:solidFill>
                <a:srgbClr val="70EBB1"/>
              </a:solidFill>
              <a:latin typeface="Space Grotesk"/>
            </a:endParaRPr>
          </a:p>
          <a:p>
            <a:pPr>
              <a:spcAft>
                <a:spcPts val="400"/>
              </a:spcAft>
              <a:defRPr sz="1700">
                <a:solidFill>
                  <a:srgbClr val="D7DEE8"/>
                </a:solidFill>
                <a:latin typeface="Plus Jakarta Sans"/>
              </a:defRPr>
            </a:pPr>
            <a:r>
              <a:rPr dirty="0"/>
              <a:t>PVC requests a StorageClass</a:t>
            </a:r>
          </a:p>
          <a:p>
            <a:pPr>
              <a:spcAft>
                <a:spcPts val="400"/>
              </a:spcAft>
              <a:defRPr sz="1700">
                <a:solidFill>
                  <a:srgbClr val="D7DEE8"/>
                </a:solidFill>
                <a:latin typeface="Plus Jakarta Sans"/>
              </a:defRPr>
            </a:pPr>
            <a:r>
              <a:rPr dirty="0"/>
              <a:t>Provisioner creates a volume on demand</a:t>
            </a:r>
          </a:p>
          <a:p>
            <a:pPr>
              <a:spcAft>
                <a:spcPts val="400"/>
              </a:spcAft>
              <a:defRPr sz="1700">
                <a:solidFill>
                  <a:srgbClr val="D7DEE8"/>
                </a:solidFill>
                <a:latin typeface="Plus Jakarta Sans"/>
              </a:defRPr>
            </a:pPr>
            <a:r>
              <a:rPr dirty="0"/>
              <a:t>Common production workflow</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2000" b="1">
                <a:solidFill>
                  <a:srgbClr val="51E0FF"/>
                </a:solidFill>
                <a:latin typeface="Space Grotesk"/>
              </a:rPr>
              <a:t>The consumer stays simple: the Pod references the PVC. Storage provisioning can evolve underneath it.</a:t>
            </a:r>
          </a:p>
        </p:txBody>
      </p:sp>
      <p:sp>
        <p:nvSpPr>
          <p:cNvPr id="14" name="TextBox 13"/>
          <p:cNvSpPr txBox="1"/>
          <p:nvPr/>
        </p:nvSpPr>
        <p:spPr>
          <a:xfrm>
            <a:off x="1025872" y="5425000"/>
            <a:ext cx="10050000" cy="769441"/>
          </a:xfrm>
          <a:prstGeom prst="rect">
            <a:avLst/>
          </a:prstGeom>
          <a:noFill/>
        </p:spPr>
        <p:txBody>
          <a:bodyPr wrap="square" lIns="27432" tIns="0" rIns="27432" bIns="0">
            <a:spAutoFit/>
          </a:bodyPr>
          <a:lstStyle/>
          <a:p>
            <a:pPr algn="l"/>
            <a:r>
              <a:rPr lang="en-US" sz="1250" b="0" dirty="0">
                <a:solidFill>
                  <a:srgbClr val="99A6B7"/>
                </a:solidFill>
                <a:latin typeface="Plus Jakarta Sans"/>
              </a:rPr>
              <a:t>A bound PV is claimed as a unit. If a large static PV satisfies a much smaller claim, the unused capacity is not automatically shared with another claim.</a:t>
            </a:r>
          </a:p>
          <a:p>
            <a:pPr algn="l"/>
            <a:endParaRPr lang="en-US" sz="1250" dirty="0">
              <a:solidFill>
                <a:srgbClr val="99A6B7"/>
              </a:solidFill>
              <a:latin typeface="Plus Jakarta Sans"/>
            </a:endParaRPr>
          </a:p>
          <a:p>
            <a:pPr algn="l"/>
            <a:r>
              <a:rPr lang="en-US" sz="1250" b="0" dirty="0">
                <a:solidFill>
                  <a:srgbClr val="99A6B7"/>
                </a:solidFill>
                <a:latin typeface="Plus Jakarta Sans"/>
              </a:rPr>
              <a:t>A cluster administrator creates a number of PVs. They carry the details of the real storage, which is available for use by cluster users. They exist in the Kubernetes API and are available for consumption.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783879" y="4693644"/>
            <a:ext cx="10934700" cy="2061768"/>
          </a:xfrm>
          <a:prstGeom prst="rect">
            <a:avLst/>
          </a:prstGeom>
        </p:spPr>
      </p:pic>
      <p:sp>
        <p:nvSpPr>
          <p:cNvPr id="5" name="TextBox 4"/>
          <p:cNvSpPr txBox="1"/>
          <p:nvPr/>
        </p:nvSpPr>
        <p:spPr>
          <a:xfrm>
            <a:off x="1070669" y="4806400"/>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904876" y="4796162"/>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StorageClass and dynamic provisioning</a:t>
            </a:r>
          </a:p>
        </p:txBody>
      </p:sp>
      <p:sp>
        <p:nvSpPr>
          <p:cNvPr id="10" name="TextBox 9"/>
          <p:cNvSpPr txBox="1"/>
          <p:nvPr/>
        </p:nvSpPr>
        <p:spPr>
          <a:xfrm>
            <a:off x="628650" y="1133475"/>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A PVC can request a storage profile instead of a pre-created volume</a:t>
            </a:r>
          </a:p>
        </p:txBody>
      </p:sp>
      <p:sp>
        <p:nvSpPr>
          <p:cNvPr id="11" name="TextBox 10"/>
          <p:cNvSpPr txBox="1"/>
          <p:nvPr/>
        </p:nvSpPr>
        <p:spPr>
          <a:xfrm>
            <a:off x="609249" y="2149597"/>
            <a:ext cx="5760118" cy="1436291"/>
          </a:xfrm>
          <a:prstGeom prst="rect">
            <a:avLst/>
          </a:prstGeom>
          <a:solidFill>
            <a:srgbClr val="09121F"/>
          </a:solidFill>
          <a:ln>
            <a:solidFill>
              <a:srgbClr val="314963"/>
            </a:solidFill>
          </a:ln>
        </p:spPr>
        <p:txBody>
          <a:bodyPr wrap="square" lIns="152400" tIns="101600" rIns="152400" bIns="101600">
            <a:spAutoFit/>
          </a:bodyPr>
          <a:lstStyle/>
          <a:p>
            <a:pPr algn="l"/>
            <a:r>
              <a:rPr sz="1250">
                <a:solidFill>
                  <a:srgbClr val="F5F7FA"/>
                </a:solidFill>
                <a:latin typeface="Consolas"/>
              </a:rPr>
              <a:t>spec:
  accessModes:
  - ReadWriteOnce
  storageClassName: fast
  resources:
    requests:
      storage: 5Gi</a:t>
            </a:r>
            <a:endParaRPr sz="1600" dirty="0">
              <a:solidFill>
                <a:srgbClr val="F5F7FA"/>
              </a:solidFill>
              <a:latin typeface="Consolas"/>
            </a:endParaRPr>
          </a:p>
        </p:txBody>
      </p:sp>
      <p:sp>
        <p:nvSpPr>
          <p:cNvPr id="12" name="Rounded Rectangle 11"/>
          <p:cNvSpPr/>
          <p:nvPr/>
        </p:nvSpPr>
        <p:spPr>
          <a:xfrm>
            <a:off x="6657592" y="1830499"/>
            <a:ext cx="5265584" cy="23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Dynamic flow</a:t>
            </a:r>
          </a:p>
          <a:p>
            <a:pPr>
              <a:spcAft>
                <a:spcPts val="400"/>
              </a:spcAft>
              <a:defRPr sz="1600">
                <a:solidFill>
                  <a:srgbClr val="D7DEE8"/>
                </a:solidFill>
                <a:latin typeface="Plus Jakarta Sans"/>
              </a:defRPr>
            </a:pPr>
            <a:r>
              <a:rPr dirty="0"/>
              <a:t>PVC requests class + capacity.</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Provisioner creates storage + PV.</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PVC binds; Pod mounts the claim.</a:t>
            </a:r>
          </a:p>
        </p:txBody>
      </p:sp>
      <p:sp>
        <p:nvSpPr>
          <p:cNvPr id="13" name="TextBox 12"/>
          <p:cNvSpPr txBox="1"/>
          <p:nvPr/>
        </p:nvSpPr>
        <p:spPr>
          <a:xfrm>
            <a:off x="1214726" y="4952481"/>
            <a:ext cx="10050000" cy="1731243"/>
          </a:xfrm>
          <a:prstGeom prst="rect">
            <a:avLst/>
          </a:prstGeom>
          <a:noFill/>
        </p:spPr>
        <p:txBody>
          <a:bodyPr wrap="square" lIns="27432" tIns="0" rIns="27432" bIns="0">
            <a:spAutoFit/>
          </a:bodyPr>
          <a:lstStyle/>
          <a:p>
            <a:r>
              <a:rPr lang="en-US" sz="1250" dirty="0">
                <a:solidFill>
                  <a:srgbClr val="99A6B7"/>
                </a:solidFill>
                <a:latin typeface="Plus Jakarta Sans"/>
              </a:rPr>
              <a:t>A </a:t>
            </a:r>
            <a:r>
              <a:rPr lang="en-US" sz="1250" dirty="0" err="1">
                <a:solidFill>
                  <a:srgbClr val="99A6B7"/>
                </a:solidFill>
                <a:latin typeface="Plus Jakarta Sans"/>
              </a:rPr>
              <a:t>StorageClass</a:t>
            </a:r>
            <a:r>
              <a:rPr lang="en-US" sz="1250" dirty="0">
                <a:solidFill>
                  <a:srgbClr val="99A6B7"/>
                </a:solidFill>
                <a:latin typeface="Plus Jakarta Sans"/>
              </a:rPr>
              <a:t> (SC) is a cluster-wide resource that acts as a "blueprint" or a "profile" for storage. Instead of an administrator manually creating individual disks (Persistent Volumes), they create a </a:t>
            </a:r>
            <a:r>
              <a:rPr lang="en-US" sz="1250" dirty="0" err="1">
                <a:solidFill>
                  <a:srgbClr val="99A6B7"/>
                </a:solidFill>
                <a:latin typeface="Plus Jakarta Sans"/>
              </a:rPr>
              <a:t>StorageClass</a:t>
            </a:r>
            <a:r>
              <a:rPr lang="en-US" sz="1250" dirty="0">
                <a:solidFill>
                  <a:srgbClr val="99A6B7"/>
                </a:solidFill>
                <a:latin typeface="Plus Jakarta Sans"/>
              </a:rPr>
              <a:t>.</a:t>
            </a:r>
          </a:p>
          <a:p>
            <a:endParaRPr lang="en-US" sz="1250" dirty="0">
              <a:solidFill>
                <a:srgbClr val="99A6B7"/>
              </a:solidFill>
              <a:latin typeface="Plus Jakarta Sans"/>
            </a:endParaRPr>
          </a:p>
          <a:p>
            <a:r>
              <a:rPr lang="en-US" sz="1250" dirty="0">
                <a:solidFill>
                  <a:srgbClr val="99A6B7"/>
                </a:solidFill>
                <a:latin typeface="Plus Jakarta Sans"/>
              </a:rPr>
              <a:t>On-Demand Provisioning: When a user asks for storage via a PVC, the </a:t>
            </a:r>
            <a:r>
              <a:rPr lang="en-US" sz="1250" dirty="0" err="1">
                <a:solidFill>
                  <a:srgbClr val="99A6B7"/>
                </a:solidFill>
                <a:latin typeface="Plus Jakarta Sans"/>
              </a:rPr>
              <a:t>StorageClass</a:t>
            </a:r>
            <a:r>
              <a:rPr lang="en-US" sz="1250" dirty="0">
                <a:solidFill>
                  <a:srgbClr val="99A6B7"/>
                </a:solidFill>
                <a:latin typeface="Plus Jakarta Sans"/>
              </a:rPr>
              <a:t> automatically talks to the Cloud Provider (AWS, GCP, Azure) and creates the disk instantly.</a:t>
            </a:r>
          </a:p>
          <a:p>
            <a:endParaRPr lang="en-US" sz="1250" dirty="0">
              <a:solidFill>
                <a:srgbClr val="99A6B7"/>
              </a:solidFill>
              <a:latin typeface="Plus Jakarta Sans"/>
            </a:endParaRPr>
          </a:p>
          <a:p>
            <a:r>
              <a:rPr lang="en-US" sz="1250" dirty="0">
                <a:solidFill>
                  <a:srgbClr val="99A6B7"/>
                </a:solidFill>
                <a:latin typeface="Plus Jakarta Sans"/>
              </a:rPr>
              <a:t>No Wasted Capacity: Unlike the static way—where a 1GB claim could "lock" a 100GB volume - a </a:t>
            </a:r>
            <a:r>
              <a:rPr lang="en-US" sz="1250" dirty="0" err="1">
                <a:solidFill>
                  <a:srgbClr val="99A6B7"/>
                </a:solidFill>
                <a:latin typeface="Plus Jakarta Sans"/>
              </a:rPr>
              <a:t>StorageClass</a:t>
            </a:r>
            <a:r>
              <a:rPr lang="en-US" sz="1250" dirty="0">
                <a:solidFill>
                  <a:srgbClr val="99A6B7"/>
                </a:solidFill>
                <a:latin typeface="Plus Jakarta Sans"/>
              </a:rPr>
              <a:t> creates a volume of the exact size requested.</a:t>
            </a:r>
          </a:p>
          <a:p>
            <a:endParaRPr lang="en-US" sz="1250" dirty="0">
              <a:solidFill>
                <a:srgbClr val="99A6B7"/>
              </a:solidFill>
              <a:latin typeface="Plus Jakarta Sans"/>
            </a:endParaRPr>
          </a:p>
          <a:p>
            <a:r>
              <a:rPr lang="en-US" sz="1250" dirty="0">
                <a:solidFill>
                  <a:srgbClr val="99A6B7"/>
                </a:solidFill>
                <a:latin typeface="Plus Jakarta Sans"/>
              </a:rPr>
              <a:t>Scalability: One </a:t>
            </a:r>
            <a:r>
              <a:rPr lang="en-US" sz="1250" dirty="0" err="1">
                <a:solidFill>
                  <a:srgbClr val="99A6B7"/>
                </a:solidFill>
                <a:latin typeface="Plus Jakarta Sans"/>
              </a:rPr>
              <a:t>StorageClass</a:t>
            </a:r>
            <a:r>
              <a:rPr lang="en-US" sz="1250" dirty="0">
                <a:solidFill>
                  <a:srgbClr val="99A6B7"/>
                </a:solidFill>
                <a:latin typeface="Plus Jakarta Sans"/>
              </a:rPr>
              <a:t> can support hundreds of different Persistent Volume Claims (PVCs).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Access modes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What kind of mounting does the storage backend support?</a:t>
            </a:r>
          </a:p>
        </p:txBody>
      </p:sp>
      <p:sp>
        <p:nvSpPr>
          <p:cNvPr id="11" name="Rounded Rectangle 10"/>
          <p:cNvSpPr/>
          <p:nvPr/>
        </p:nvSpPr>
        <p:spPr>
          <a:xfrm>
            <a:off x="800000" y="2050000"/>
            <a:ext cx="301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RWO</a:t>
            </a:r>
          </a:p>
          <a:p>
            <a:pPr>
              <a:spcAft>
                <a:spcPts val="400"/>
              </a:spcAft>
              <a:defRPr sz="1800">
                <a:solidFill>
                  <a:srgbClr val="D7DEE8"/>
                </a:solidFill>
                <a:latin typeface="Plus Jakarta Sans"/>
              </a:defRPr>
            </a:pPr>
            <a:r>
              <a:rPr dirty="0"/>
              <a:t>ReadWriteOnce</a:t>
            </a:r>
          </a:p>
          <a:p>
            <a:pPr>
              <a:spcAft>
                <a:spcPts val="400"/>
              </a:spcAft>
              <a:defRPr sz="1800">
                <a:solidFill>
                  <a:srgbClr val="D7DEE8"/>
                </a:solidFill>
                <a:latin typeface="Plus Jakarta Sans"/>
              </a:defRPr>
            </a:pPr>
            <a:r>
              <a:rPr dirty="0"/>
              <a:t>read-write from one Node</a:t>
            </a:r>
          </a:p>
        </p:txBody>
      </p:sp>
      <p:sp>
        <p:nvSpPr>
          <p:cNvPr id="12" name="Rounded Rectangle 11"/>
          <p:cNvSpPr/>
          <p:nvPr/>
        </p:nvSpPr>
        <p:spPr>
          <a:xfrm>
            <a:off x="4300000" y="2050000"/>
            <a:ext cx="31295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ROX</a:t>
            </a:r>
          </a:p>
          <a:p>
            <a:pPr>
              <a:spcAft>
                <a:spcPts val="400"/>
              </a:spcAft>
              <a:defRPr sz="1800">
                <a:solidFill>
                  <a:srgbClr val="D7DEE8"/>
                </a:solidFill>
                <a:latin typeface="Plus Jakarta Sans"/>
              </a:defRPr>
            </a:pPr>
            <a:r>
              <a:rPr dirty="0"/>
              <a:t>ReadOnlyMany</a:t>
            </a:r>
          </a:p>
          <a:p>
            <a:pPr>
              <a:spcAft>
                <a:spcPts val="400"/>
              </a:spcAft>
              <a:defRPr sz="1800">
                <a:solidFill>
                  <a:srgbClr val="D7DEE8"/>
                </a:solidFill>
                <a:latin typeface="Plus Jakarta Sans"/>
              </a:defRPr>
            </a:pPr>
            <a:r>
              <a:rPr dirty="0"/>
              <a:t>read-only from many Nodes</a:t>
            </a:r>
          </a:p>
        </p:txBody>
      </p:sp>
      <p:sp>
        <p:nvSpPr>
          <p:cNvPr id="13" name="Rounded Rectangle 12"/>
          <p:cNvSpPr/>
          <p:nvPr/>
        </p:nvSpPr>
        <p:spPr>
          <a:xfrm>
            <a:off x="7800000" y="2050000"/>
            <a:ext cx="3275872"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FFB866"/>
                </a:solidFill>
                <a:latin typeface="Space Grotesk"/>
              </a:rPr>
              <a:t>RWX</a:t>
            </a:r>
          </a:p>
          <a:p>
            <a:pPr>
              <a:spcAft>
                <a:spcPts val="400"/>
              </a:spcAft>
              <a:defRPr sz="1800">
                <a:solidFill>
                  <a:srgbClr val="D7DEE8"/>
                </a:solidFill>
                <a:latin typeface="Plus Jakarta Sans"/>
              </a:defRPr>
            </a:pPr>
            <a:r>
              <a:rPr dirty="0"/>
              <a:t>ReadWriteMany</a:t>
            </a:r>
          </a:p>
          <a:p>
            <a:pPr>
              <a:spcAft>
                <a:spcPts val="400"/>
              </a:spcAft>
              <a:defRPr sz="1800">
                <a:solidFill>
                  <a:srgbClr val="D7DEE8"/>
                </a:solidFill>
                <a:latin typeface="Plus Jakarta Sans"/>
              </a:defRPr>
            </a:pPr>
            <a:r>
              <a:rPr dirty="0"/>
              <a:t>read-write from many Nodes</a:t>
            </a:r>
          </a:p>
        </p:txBody>
      </p:sp>
      <p:sp>
        <p:nvSpPr>
          <p:cNvPr id="14" name="TextBox 13"/>
          <p:cNvSpPr txBox="1"/>
          <p:nvPr/>
        </p:nvSpPr>
        <p:spPr>
          <a:xfrm>
            <a:off x="628650" y="4200000"/>
            <a:ext cx="10001250" cy="650000"/>
          </a:xfrm>
          <a:prstGeom prst="rect">
            <a:avLst/>
          </a:prstGeom>
          <a:noFill/>
        </p:spPr>
        <p:txBody>
          <a:bodyPr wrap="square" lIns="27432" tIns="0" rIns="27432" bIns="0">
            <a:spAutoFit/>
          </a:bodyPr>
          <a:lstStyle/>
          <a:p>
            <a:pPr algn="ctr"/>
            <a:r>
              <a:rPr sz="1900" b="1">
                <a:solidFill>
                  <a:srgbClr val="F5F7FA"/>
                </a:solidFill>
                <a:latin typeface="Space Grotesk"/>
              </a:rPr>
              <a:t>RWOP (ReadWriteOncePod) is the mode for exactly one Pod read-write across the cluster; it is supported for CSI volumes.</a:t>
            </a:r>
          </a:p>
        </p:txBody>
      </p:sp>
      <p:sp>
        <p:nvSpPr>
          <p:cNvPr id="15" name="TextBox 14"/>
          <p:cNvSpPr txBox="1"/>
          <p:nvPr/>
        </p:nvSpPr>
        <p:spPr>
          <a:xfrm>
            <a:off x="1025872" y="5425000"/>
            <a:ext cx="10050000" cy="769441"/>
          </a:xfrm>
          <a:prstGeom prst="rect">
            <a:avLst/>
          </a:prstGeom>
          <a:noFill/>
        </p:spPr>
        <p:txBody>
          <a:bodyPr wrap="square" lIns="27432" tIns="0" rIns="27432" bIns="0">
            <a:spAutoFit/>
          </a:bodyPr>
          <a:lstStyle/>
          <a:p>
            <a:pPr algn="l"/>
            <a:r>
              <a:rPr lang="en-US" sz="1250" b="0" dirty="0">
                <a:solidFill>
                  <a:srgbClr val="99A6B7"/>
                </a:solidFill>
                <a:latin typeface="Plus Jakarta Sans"/>
              </a:rPr>
              <a:t>PVC access modes define how a Kubernetes volume may be mounted and used by pods. Think of the </a:t>
            </a:r>
            <a:r>
              <a:rPr lang="en-US" sz="1250" b="0" dirty="0" err="1">
                <a:solidFill>
                  <a:srgbClr val="99A6B7"/>
                </a:solidFill>
                <a:latin typeface="Plus Jakarta Sans"/>
              </a:rPr>
              <a:t>PersistentVolume</a:t>
            </a:r>
            <a:r>
              <a:rPr lang="en-US" sz="1250" b="0" dirty="0">
                <a:solidFill>
                  <a:srgbClr val="99A6B7"/>
                </a:solidFill>
                <a:latin typeface="Plus Jakarta Sans"/>
              </a:rPr>
              <a:t> as a disk and the access mode as the rule describing who can attach and write to that disk.</a:t>
            </a:r>
          </a:p>
          <a:p>
            <a:pPr algn="l"/>
            <a:endParaRPr lang="en-US" sz="1250" dirty="0">
              <a:solidFill>
                <a:srgbClr val="99A6B7"/>
              </a:solidFill>
              <a:latin typeface="Plus Jakarta Sans"/>
            </a:endParaRPr>
          </a:p>
          <a:p>
            <a:pPr algn="l"/>
            <a:r>
              <a:rPr lang="en-US" sz="1250" b="0" dirty="0">
                <a:solidFill>
                  <a:srgbClr val="99A6B7"/>
                </a:solidFill>
                <a:latin typeface="Plus Jakarta Sans"/>
              </a:rPr>
              <a:t>RWOP can be useful for a database where you must guarantee that two pods never write to the same storage simultaneously.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Reclaim policy</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What happens to storage after the PVC is deleted?</a:t>
            </a:r>
          </a:p>
        </p:txBody>
      </p:sp>
      <p:sp>
        <p:nvSpPr>
          <p:cNvPr id="11" name="Rounded Rectangle 10"/>
          <p:cNvSpPr/>
          <p:nvPr/>
        </p:nvSpPr>
        <p:spPr>
          <a:xfrm>
            <a:off x="628650" y="1950000"/>
            <a:ext cx="476885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Retain</a:t>
            </a:r>
          </a:p>
          <a:p>
            <a:pPr>
              <a:spcAft>
                <a:spcPts val="400"/>
              </a:spcAft>
              <a:defRPr sz="1600">
                <a:solidFill>
                  <a:srgbClr val="D7DEE8"/>
                </a:solidFill>
                <a:latin typeface="Plus Jakarta Sans"/>
              </a:defRPr>
            </a:pPr>
            <a:r>
              <a:t>PV / backing data is kept</a:t>
            </a:r>
          </a:p>
          <a:p>
            <a:pPr>
              <a:spcAft>
                <a:spcPts val="400"/>
              </a:spcAft>
              <a:defRPr sz="1600">
                <a:solidFill>
                  <a:srgbClr val="D7DEE8"/>
                </a:solidFill>
                <a:latin typeface="Plus Jakarta Sans"/>
              </a:defRPr>
            </a:pPr>
            <a:r>
              <a:t>Manual cleanup or recovery</a:t>
            </a:r>
          </a:p>
          <a:p>
            <a:pPr>
              <a:spcAft>
                <a:spcPts val="400"/>
              </a:spcAft>
              <a:defRPr sz="1600">
                <a:solidFill>
                  <a:srgbClr val="D7DEE8"/>
                </a:solidFill>
                <a:latin typeface="Plus Jakarta Sans"/>
              </a:defRPr>
            </a:pPr>
            <a:r>
              <a:t>Safer when data must not disappear automatically</a:t>
            </a:r>
          </a:p>
        </p:txBody>
      </p:sp>
      <p:sp>
        <p:nvSpPr>
          <p:cNvPr id="12" name="Rounded Rectangle 11"/>
          <p:cNvSpPr/>
          <p:nvPr/>
        </p:nvSpPr>
        <p:spPr>
          <a:xfrm>
            <a:off x="5968350" y="1950000"/>
            <a:ext cx="46044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70EBB1"/>
                </a:solidFill>
                <a:latin typeface="Space Grotesk"/>
              </a:rPr>
              <a:t>Delete</a:t>
            </a:r>
          </a:p>
          <a:p>
            <a:pPr>
              <a:spcAft>
                <a:spcPts val="400"/>
              </a:spcAft>
              <a:defRPr sz="1600">
                <a:solidFill>
                  <a:srgbClr val="D7DEE8"/>
                </a:solidFill>
                <a:latin typeface="Plus Jakarta Sans"/>
              </a:defRPr>
            </a:pPr>
            <a:r>
              <a:rPr dirty="0"/>
              <a:t>PV and backing storage are deleted</a:t>
            </a:r>
          </a:p>
          <a:p>
            <a:pPr>
              <a:spcAft>
                <a:spcPts val="400"/>
              </a:spcAft>
              <a:defRPr sz="1600">
                <a:solidFill>
                  <a:srgbClr val="D7DEE8"/>
                </a:solidFill>
                <a:latin typeface="Plus Jakarta Sans"/>
              </a:defRPr>
            </a:pPr>
            <a:r>
              <a:rPr dirty="0"/>
              <a:t>Common for dynamically provisioned volumes</a:t>
            </a:r>
          </a:p>
          <a:p>
            <a:pPr>
              <a:spcAft>
                <a:spcPts val="400"/>
              </a:spcAft>
              <a:defRPr sz="1600">
                <a:solidFill>
                  <a:srgbClr val="D7DEE8"/>
                </a:solidFill>
                <a:latin typeface="Plus Jakarta Sans"/>
              </a:defRPr>
            </a:pPr>
            <a:r>
              <a:rPr dirty="0"/>
              <a:t>StorageClass default if not specified</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1900" b="1">
                <a:solidFill>
                  <a:srgbClr val="F5F7FA"/>
                </a:solidFill>
                <a:latin typeface="Space Grotesk"/>
              </a:rPr>
              <a:t>Reclaim policy matters when the claim is released — not when an application Pod simply restarts.</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Always inspect the actual PV and StorageClass. Dynamic StorageClasses default reclaimPolicy to Delete, while manually managed PVs can be configured differently.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When a PVC stays Pending</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A claim cannot be mounted until Kubernetes can satisfy it</a:t>
            </a:r>
          </a:p>
        </p:txBody>
      </p:sp>
      <p:sp>
        <p:nvSpPr>
          <p:cNvPr id="11" name="Rounded Rectangle 10"/>
          <p:cNvSpPr/>
          <p:nvPr/>
        </p:nvSpPr>
        <p:spPr>
          <a:xfrm>
            <a:off x="628650" y="1950000"/>
            <a:ext cx="40000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FF7882"/>
                </a:solidFill>
                <a:latin typeface="Space Grotesk"/>
              </a:rPr>
              <a:t>Typical causes</a:t>
            </a:r>
          </a:p>
          <a:p>
            <a:pPr>
              <a:spcAft>
                <a:spcPts val="400"/>
              </a:spcAft>
              <a:defRPr sz="1600">
                <a:solidFill>
                  <a:srgbClr val="D7DEE8"/>
                </a:solidFill>
                <a:latin typeface="Plus Jakarta Sans"/>
              </a:defRPr>
            </a:pPr>
            <a:r>
              <a:rPr dirty="0"/>
              <a:t>No matching PV for static provisioning</a:t>
            </a:r>
          </a:p>
          <a:p>
            <a:pPr>
              <a:spcAft>
                <a:spcPts val="400"/>
              </a:spcAft>
              <a:defRPr sz="1600">
                <a:solidFill>
                  <a:srgbClr val="D7DEE8"/>
                </a:solidFill>
                <a:latin typeface="Plus Jakarta Sans"/>
              </a:defRPr>
            </a:pPr>
            <a:r>
              <a:rPr dirty="0"/>
              <a:t>Requested </a:t>
            </a:r>
            <a:r>
              <a:rPr dirty="0" err="1"/>
              <a:t>StorageClass</a:t>
            </a:r>
            <a:r>
              <a:rPr dirty="0"/>
              <a:t> does not exist</a:t>
            </a:r>
          </a:p>
          <a:p>
            <a:pPr>
              <a:spcAft>
                <a:spcPts val="400"/>
              </a:spcAft>
              <a:defRPr sz="1600">
                <a:solidFill>
                  <a:srgbClr val="D7DEE8"/>
                </a:solidFill>
                <a:latin typeface="Plus Jakarta Sans"/>
              </a:defRPr>
            </a:pPr>
            <a:r>
              <a:rPr dirty="0"/>
              <a:t>No default </a:t>
            </a:r>
            <a:r>
              <a:rPr dirty="0" err="1"/>
              <a:t>StorageClass</a:t>
            </a:r>
            <a:r>
              <a:rPr dirty="0"/>
              <a:t> / no provisioner</a:t>
            </a:r>
          </a:p>
          <a:p>
            <a:pPr>
              <a:spcAft>
                <a:spcPts val="400"/>
              </a:spcAft>
              <a:defRPr sz="1600">
                <a:solidFill>
                  <a:srgbClr val="D7DEE8"/>
                </a:solidFill>
                <a:latin typeface="Plus Jakarta Sans"/>
              </a:defRPr>
            </a:pPr>
            <a:r>
              <a:rPr dirty="0"/>
              <a:t>Unsupported access mode or topology</a:t>
            </a:r>
          </a:p>
          <a:p>
            <a:pPr>
              <a:spcAft>
                <a:spcPts val="400"/>
              </a:spcAft>
              <a:defRPr sz="1600">
                <a:solidFill>
                  <a:srgbClr val="D7DEE8"/>
                </a:solidFill>
                <a:latin typeface="Plus Jakarta Sans"/>
              </a:defRPr>
            </a:pPr>
            <a:endParaRPr dirty="0"/>
          </a:p>
        </p:txBody>
      </p:sp>
      <p:sp>
        <p:nvSpPr>
          <p:cNvPr id="12" name="Rounded Rectangle 11"/>
          <p:cNvSpPr/>
          <p:nvPr/>
        </p:nvSpPr>
        <p:spPr>
          <a:xfrm>
            <a:off x="5629275" y="1950000"/>
            <a:ext cx="46000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First checks</a:t>
            </a:r>
          </a:p>
          <a:p>
            <a:pPr>
              <a:spcAft>
                <a:spcPts val="400"/>
              </a:spcAft>
              <a:defRPr sz="1500">
                <a:solidFill>
                  <a:srgbClr val="D7DEE8"/>
                </a:solidFill>
                <a:latin typeface="Plus Jakarta Sans"/>
              </a:defRPr>
            </a:pPr>
            <a:r>
              <a:rPr dirty="0" err="1"/>
              <a:t>kubectl get pv,pvc,sc</a:t>
            </a:r>
          </a:p>
          <a:p>
            <a:pPr>
              <a:spcAft>
                <a:spcPts val="400"/>
              </a:spcAft>
              <a:defRPr sz="1500">
                <a:solidFill>
                  <a:srgbClr val="D7DEE8"/>
                </a:solidFill>
                <a:latin typeface="Plus Jakarta Sans"/>
              </a:defRPr>
            </a:pPr>
            <a:r>
              <a:rPr dirty="0" err="1"/>
              <a:t>kubectl describe pvc &lt;name&gt;</a:t>
            </a:r>
          </a:p>
          <a:p>
            <a:pPr>
              <a:spcAft>
                <a:spcPts val="400"/>
              </a:spcAft>
              <a:defRPr sz="1500">
                <a:solidFill>
                  <a:srgbClr val="D7DEE8"/>
                </a:solidFill>
                <a:latin typeface="Plus Jakarta Sans"/>
              </a:defRPr>
            </a:pPr>
            <a:r>
              <a:rPr dirty="0" err="1"/>
              <a:t>kubectl get events --sort-by=.lastTimestamp</a:t>
            </a:r>
          </a:p>
          <a:p>
            <a:pPr>
              <a:spcAft>
                <a:spcPts val="400"/>
              </a:spcAft>
              <a:defRPr sz="1500">
                <a:solidFill>
                  <a:srgbClr val="D7DEE8"/>
                </a:solidFill>
                <a:latin typeface="Plus Jakarta Sans"/>
              </a:defRPr>
            </a:pPr>
            <a:r>
              <a:rPr dirty="0" err="1"/>
              <a:t>Inspect the StorageClass / provisioner</a:t>
            </a:r>
            <a:endParaRPr dirty="0"/>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PVC Events usually explain why binding or provisioning did not happen. </a:t>
            </a:r>
            <a:r>
              <a:rPr lang="en-US" sz="1250" dirty="0">
                <a:solidFill>
                  <a:srgbClr val="99A6B7"/>
                </a:solidFill>
                <a:latin typeface="Plus Jakarta Sans"/>
              </a:rPr>
              <a:t>I</a:t>
            </a:r>
            <a:r>
              <a:rPr sz="1250" b="0" dirty="0">
                <a:solidFill>
                  <a:srgbClr val="99A6B7"/>
                </a:solidFill>
                <a:latin typeface="Plus Jakarta Sans"/>
              </a:rPr>
              <a:t>nspect the claim before debugging the application</a:t>
            </a:r>
            <a:r>
              <a:rPr lang="en-US" sz="1250" b="0" dirty="0">
                <a:solidFill>
                  <a:srgbClr val="99A6B7"/>
                </a:solidFill>
                <a:latin typeface="Plus Jakarta Sans"/>
              </a:rPr>
              <a:t>.</a:t>
            </a:r>
            <a:endParaRPr sz="1250" b="0" dirty="0">
              <a:solidFill>
                <a:srgbClr val="99A6B7"/>
              </a:solidFill>
              <a:latin typeface="Plus Jakarta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CSI: the storage integration layer</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Kubernetes stays generic while storage vendors implement the backend operations</a:t>
            </a:r>
          </a:p>
        </p:txBody>
      </p:sp>
      <p:sp>
        <p:nvSpPr>
          <p:cNvPr id="11" name="TextBox 10"/>
          <p:cNvSpPr txBox="1"/>
          <p:nvPr/>
        </p:nvSpPr>
        <p:spPr>
          <a:xfrm>
            <a:off x="495301" y="2348985"/>
            <a:ext cx="6985000" cy="1377300"/>
          </a:xfrm>
          <a:prstGeom prst="rect">
            <a:avLst/>
          </a:prstGeom>
          <a:noFill/>
        </p:spPr>
        <p:txBody>
          <a:bodyPr wrap="square" lIns="18288" tIns="0" rIns="18288" bIns="0">
            <a:spAutoFit/>
          </a:bodyPr>
          <a:lstStyle/>
          <a:p>
            <a:pPr>
              <a:spcAft>
                <a:spcPts val="700"/>
              </a:spcAft>
              <a:defRPr sz="1800">
                <a:solidFill>
                  <a:srgbClr val="D7DEE8"/>
                </a:solidFill>
                <a:latin typeface="Plus Jakarta Sans"/>
              </a:defRPr>
            </a:pPr>
            <a:r>
              <a:rPr dirty="0"/>
              <a:t>• CSI = Container Storage Interface.</a:t>
            </a:r>
          </a:p>
          <a:p>
            <a:pPr>
              <a:spcAft>
                <a:spcPts val="700"/>
              </a:spcAft>
              <a:defRPr sz="1800">
                <a:solidFill>
                  <a:srgbClr val="D7DEE8"/>
                </a:solidFill>
                <a:latin typeface="Plus Jakarta Sans"/>
              </a:defRPr>
            </a:pPr>
            <a:r>
              <a:rPr dirty="0"/>
              <a:t>• Cloud and storage vendors ship CSI drivers.</a:t>
            </a:r>
          </a:p>
          <a:p>
            <a:pPr>
              <a:spcAft>
                <a:spcPts val="700"/>
              </a:spcAft>
              <a:defRPr sz="1800">
                <a:solidFill>
                  <a:srgbClr val="D7DEE8"/>
                </a:solidFill>
                <a:latin typeface="Plus Jakarta Sans"/>
              </a:defRPr>
            </a:pPr>
            <a:r>
              <a:rPr dirty="0"/>
              <a:t>• Drivers handle provisioning, attaching, and mounting where supported.</a:t>
            </a:r>
          </a:p>
          <a:p>
            <a:pPr>
              <a:spcAft>
                <a:spcPts val="700"/>
              </a:spcAft>
              <a:defRPr sz="1800">
                <a:solidFill>
                  <a:srgbClr val="D7DEE8"/>
                </a:solidFill>
                <a:latin typeface="Plus Jakarta Sans"/>
              </a:defRPr>
            </a:pPr>
            <a:r>
              <a:rPr dirty="0"/>
              <a:t>• Applications still work with PVCs and </a:t>
            </a:r>
            <a:r>
              <a:rPr dirty="0" err="1"/>
              <a:t>StorageClasses</a:t>
            </a:r>
            <a:r>
              <a:rPr dirty="0"/>
              <a:t>.</a:t>
            </a:r>
          </a:p>
        </p:txBody>
      </p:sp>
      <p:sp>
        <p:nvSpPr>
          <p:cNvPr id="12" name="Rounded Rectangle 11"/>
          <p:cNvSpPr/>
          <p:nvPr/>
        </p:nvSpPr>
        <p:spPr>
          <a:xfrm>
            <a:off x="7378701" y="2084546"/>
            <a:ext cx="4603752" cy="2143375"/>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lang="en-US" b="1" dirty="0">
                <a:solidFill>
                  <a:srgbClr val="51E0FF"/>
                </a:solidFill>
                <a:latin typeface="Space Grotesk"/>
              </a:rPr>
              <a:t>M</a:t>
            </a:r>
            <a:r>
              <a:rPr sz="1800" b="1" dirty="0">
                <a:solidFill>
                  <a:srgbClr val="51E0FF"/>
                </a:solidFill>
                <a:latin typeface="Space Grotesk"/>
              </a:rPr>
              <a:t>ental model</a:t>
            </a:r>
          </a:p>
          <a:p>
            <a:pPr>
              <a:spcAft>
                <a:spcPts val="400"/>
              </a:spcAft>
              <a:defRPr sz="1500">
                <a:solidFill>
                  <a:srgbClr val="D7DEE8"/>
                </a:solidFill>
                <a:latin typeface="Plus Jakarta Sans"/>
              </a:defRPr>
            </a:pPr>
            <a:r>
              <a:rPr dirty="0"/>
              <a:t>Kubernetes asks through CSI;</a:t>
            </a:r>
          </a:p>
          <a:p>
            <a:pPr>
              <a:spcAft>
                <a:spcPts val="400"/>
              </a:spcAft>
              <a:defRPr sz="1500">
                <a:solidFill>
                  <a:srgbClr val="D7DEE8"/>
                </a:solidFill>
                <a:latin typeface="Plus Jakarta Sans"/>
              </a:defRPr>
            </a:pPr>
            <a:r>
              <a:rPr lang="en-US" dirty="0"/>
              <a:t>T</a:t>
            </a:r>
            <a:r>
              <a:rPr dirty="0"/>
              <a:t>he storage system does the backend-specific work.</a:t>
            </a:r>
          </a:p>
        </p:txBody>
      </p:sp>
      <p:sp>
        <p:nvSpPr>
          <p:cNvPr id="13" name="TextBox 12"/>
          <p:cNvSpPr txBox="1"/>
          <p:nvPr/>
        </p:nvSpPr>
        <p:spPr>
          <a:xfrm>
            <a:off x="1025872" y="5425000"/>
            <a:ext cx="10050000" cy="769441"/>
          </a:xfrm>
          <a:prstGeom prst="rect">
            <a:avLst/>
          </a:prstGeom>
          <a:noFill/>
        </p:spPr>
        <p:txBody>
          <a:bodyPr wrap="square" lIns="27432" tIns="0" rIns="27432" bIns="0">
            <a:spAutoFit/>
          </a:bodyPr>
          <a:lstStyle/>
          <a:p>
            <a:r>
              <a:rPr lang="en-US" sz="1250" dirty="0">
                <a:solidFill>
                  <a:srgbClr val="99A6B7"/>
                </a:solidFill>
                <a:latin typeface="Plus Jakarta Sans"/>
              </a:rPr>
              <a:t>This is a standard that allows storage providers (AWS, Google, Azure, NetApp, etc.) to create plugins so their storage systems work seamlessly with Kubernetes.</a:t>
            </a:r>
          </a:p>
          <a:p>
            <a:endParaRPr lang="en-US" sz="1250" b="0" dirty="0">
              <a:solidFill>
                <a:srgbClr val="99A6B7"/>
              </a:solidFill>
              <a:latin typeface="Plus Jakarta Sans"/>
            </a:endParaRPr>
          </a:p>
          <a:p>
            <a:r>
              <a:rPr sz="1250" b="0" dirty="0">
                <a:solidFill>
                  <a:srgbClr val="99A6B7"/>
                </a:solidFill>
                <a:latin typeface="Plus Jakarta Sans"/>
              </a:rPr>
              <a:t>The key reason to mention CSI is to connect Kubernetes objects to real storage without legacy plugin details.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188110"/>
            <a:ext cx="11481435" cy="581025"/>
          </a:xfrm>
          <a:prstGeom prst="rect">
            <a:avLst/>
          </a:prstGeom>
          <a:noFill/>
        </p:spPr>
        <p:txBody>
          <a:bodyPr wrap="square" lIns="27432" tIns="0" rIns="27432" bIns="0">
            <a:spAutoFit/>
          </a:bodyPr>
          <a:lstStyle/>
          <a:p>
            <a:pPr algn="l"/>
            <a:r>
              <a:rPr sz="2900" b="1" dirty="0">
                <a:solidFill>
                  <a:srgbClr val="F5F7FA"/>
                </a:solidFill>
                <a:latin typeface="Space Grotesk"/>
              </a:rPr>
              <a:t>Hands-on lab — Storage Part 1</a:t>
            </a:r>
          </a:p>
        </p:txBody>
      </p:sp>
      <p:sp>
        <p:nvSpPr>
          <p:cNvPr id="10" name="TextBox 9"/>
          <p:cNvSpPr txBox="1"/>
          <p:nvPr/>
        </p:nvSpPr>
        <p:spPr>
          <a:xfrm>
            <a:off x="628650" y="736886"/>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Create a static PV, bind a PVC, and mount it into a Pod</a:t>
            </a:r>
          </a:p>
        </p:txBody>
      </p:sp>
      <p:sp>
        <p:nvSpPr>
          <p:cNvPr id="11" name="TextBox 10"/>
          <p:cNvSpPr txBox="1"/>
          <p:nvPr/>
        </p:nvSpPr>
        <p:spPr>
          <a:xfrm>
            <a:off x="628650" y="1063911"/>
            <a:ext cx="10734674" cy="3455305"/>
          </a:xfrm>
          <a:prstGeom prst="rect">
            <a:avLst/>
          </a:prstGeom>
          <a:solidFill>
            <a:srgbClr val="09121F"/>
          </a:solidFill>
          <a:ln>
            <a:solidFill>
              <a:srgbClr val="314963"/>
            </a:solidFill>
          </a:ln>
        </p:spPr>
        <p:txBody>
          <a:bodyPr wrap="square" lIns="152400" tIns="101600" rIns="152400" bIns="101600">
            <a:spAutoFit/>
          </a:bodyPr>
          <a:lstStyle/>
          <a:p>
            <a:pPr algn="l"/>
            <a:r>
              <a:rPr sz="1320" dirty="0">
                <a:solidFill>
                  <a:srgbClr val="F5F7FA"/>
                </a:solidFill>
                <a:latin typeface="Consolas"/>
              </a:rPr>
              <a:t># Create the </a:t>
            </a:r>
            <a:r>
              <a:rPr sz="1320" dirty="0" err="1">
                <a:solidFill>
                  <a:srgbClr val="F5F7FA"/>
                </a:solidFill>
                <a:latin typeface="Consolas"/>
              </a:rPr>
              <a:t>PersistentVolume</a:t>
            </a:r>
            <a:r>
              <a:rPr sz="1320" dirty="0">
                <a:solidFill>
                  <a:srgbClr val="F5F7FA"/>
                </a:solidFill>
                <a:latin typeface="Consolas"/>
              </a:rPr>
              <a:t>
</a:t>
            </a:r>
            <a:r>
              <a:rPr sz="1320" dirty="0" err="1">
                <a:solidFill>
                  <a:srgbClr val="F5F7FA"/>
                </a:solidFill>
                <a:latin typeface="Consolas"/>
              </a:rPr>
              <a:t>kubectl</a:t>
            </a:r>
            <a:r>
              <a:rPr sz="1320" dirty="0">
                <a:solidFill>
                  <a:srgbClr val="F5F7FA"/>
                </a:solidFill>
                <a:latin typeface="Consolas"/>
              </a:rPr>
              <a:t> apply -f </a:t>
            </a:r>
            <a:r>
              <a:rPr sz="1320" dirty="0" err="1">
                <a:solidFill>
                  <a:srgbClr val="F5F7FA"/>
                </a:solidFill>
                <a:latin typeface="Consolas"/>
              </a:rPr>
              <a:t>pv.yaml</a:t>
            </a:r>
            <a:r>
              <a:rPr sz="1320" dirty="0">
                <a:solidFill>
                  <a:srgbClr val="F5F7FA"/>
                </a:solidFill>
                <a:latin typeface="Consolas"/>
              </a:rPr>
              <a:t>
# Inspect availability
</a:t>
            </a:r>
            <a:r>
              <a:rPr sz="1320" dirty="0" err="1">
                <a:solidFill>
                  <a:srgbClr val="F5F7FA"/>
                </a:solidFill>
                <a:latin typeface="Consolas"/>
              </a:rPr>
              <a:t>kubectl</a:t>
            </a:r>
            <a:r>
              <a:rPr sz="1320" dirty="0">
                <a:solidFill>
                  <a:srgbClr val="F5F7FA"/>
                </a:solidFill>
                <a:latin typeface="Consolas"/>
              </a:rPr>
              <a:t> get </a:t>
            </a:r>
            <a:r>
              <a:rPr sz="1320" dirty="0" err="1">
                <a:solidFill>
                  <a:srgbClr val="F5F7FA"/>
                </a:solidFill>
                <a:latin typeface="Consolas"/>
              </a:rPr>
              <a:t>pv</a:t>
            </a:r>
            <a:r>
              <a:rPr sz="1320" dirty="0">
                <a:solidFill>
                  <a:srgbClr val="F5F7FA"/>
                </a:solidFill>
                <a:latin typeface="Consolas"/>
              </a:rPr>
              <a:t>
# Create the claim
</a:t>
            </a:r>
            <a:r>
              <a:rPr sz="1320" dirty="0" err="1">
                <a:solidFill>
                  <a:srgbClr val="F5F7FA"/>
                </a:solidFill>
                <a:latin typeface="Consolas"/>
              </a:rPr>
              <a:t>kubectl</a:t>
            </a:r>
            <a:r>
              <a:rPr sz="1320" dirty="0">
                <a:solidFill>
                  <a:srgbClr val="F5F7FA"/>
                </a:solidFill>
                <a:latin typeface="Consolas"/>
              </a:rPr>
              <a:t> apply -f </a:t>
            </a:r>
            <a:r>
              <a:rPr sz="1320" dirty="0" err="1">
                <a:solidFill>
                  <a:srgbClr val="F5F7FA"/>
                </a:solidFill>
                <a:latin typeface="Consolas"/>
              </a:rPr>
              <a:t>pvc.yaml</a:t>
            </a:r>
            <a:r>
              <a:rPr sz="1320" dirty="0">
                <a:solidFill>
                  <a:srgbClr val="F5F7FA"/>
                </a:solidFill>
                <a:latin typeface="Consolas"/>
              </a:rPr>
              <a:t>
</a:t>
            </a:r>
            <a:r>
              <a:rPr sz="1320" dirty="0" err="1">
                <a:solidFill>
                  <a:srgbClr val="F5F7FA"/>
                </a:solidFill>
                <a:latin typeface="Consolas"/>
              </a:rPr>
              <a:t>kubectl</a:t>
            </a:r>
            <a:r>
              <a:rPr sz="1320" dirty="0">
                <a:solidFill>
                  <a:srgbClr val="F5F7FA"/>
                </a:solidFill>
                <a:latin typeface="Consolas"/>
              </a:rPr>
              <a:t> get </a:t>
            </a:r>
            <a:r>
              <a:rPr sz="1320" dirty="0" err="1">
                <a:solidFill>
                  <a:srgbClr val="F5F7FA"/>
                </a:solidFill>
                <a:latin typeface="Consolas"/>
              </a:rPr>
              <a:t>pvc</a:t>
            </a:r>
            <a:r>
              <a:rPr sz="1320" dirty="0">
                <a:solidFill>
                  <a:srgbClr val="F5F7FA"/>
                </a:solidFill>
                <a:latin typeface="Consolas"/>
              </a:rPr>
              <a:t>
# Confirm the binding
</a:t>
            </a:r>
            <a:r>
              <a:rPr sz="1320" dirty="0" err="1">
                <a:solidFill>
                  <a:srgbClr val="F5F7FA"/>
                </a:solidFill>
                <a:latin typeface="Consolas"/>
              </a:rPr>
              <a:t>kubectl</a:t>
            </a:r>
            <a:r>
              <a:rPr sz="1320" dirty="0">
                <a:solidFill>
                  <a:srgbClr val="F5F7FA"/>
                </a:solidFill>
                <a:latin typeface="Consolas"/>
              </a:rPr>
              <a:t> get </a:t>
            </a:r>
            <a:r>
              <a:rPr sz="1320" dirty="0" err="1">
                <a:solidFill>
                  <a:srgbClr val="F5F7FA"/>
                </a:solidFill>
                <a:latin typeface="Consolas"/>
              </a:rPr>
              <a:t>pv,pvc</a:t>
            </a:r>
            <a:r>
              <a:rPr sz="1320" dirty="0">
                <a:solidFill>
                  <a:srgbClr val="F5F7FA"/>
                </a:solidFill>
                <a:latin typeface="Consolas"/>
              </a:rPr>
              <a:t>
# Create the </a:t>
            </a:r>
            <a:r>
              <a:rPr sz="1320" dirty="0" err="1">
                <a:solidFill>
                  <a:srgbClr val="F5F7FA"/>
                </a:solidFill>
                <a:latin typeface="Consolas"/>
              </a:rPr>
              <a:t>BusyBox</a:t>
            </a:r>
            <a:r>
              <a:rPr sz="1320" dirty="0">
                <a:solidFill>
                  <a:srgbClr val="F5F7FA"/>
                </a:solidFill>
                <a:latin typeface="Consolas"/>
              </a:rPr>
              <a:t> Pod that mounts the claim
</a:t>
            </a:r>
            <a:r>
              <a:rPr sz="1320" dirty="0" err="1">
                <a:solidFill>
                  <a:srgbClr val="F5F7FA"/>
                </a:solidFill>
                <a:latin typeface="Consolas"/>
              </a:rPr>
              <a:t>kubectl</a:t>
            </a:r>
            <a:r>
              <a:rPr sz="1320" dirty="0">
                <a:solidFill>
                  <a:srgbClr val="F5F7FA"/>
                </a:solidFill>
                <a:latin typeface="Consolas"/>
              </a:rPr>
              <a:t> apply -f </a:t>
            </a:r>
            <a:r>
              <a:rPr sz="1320" dirty="0" err="1">
                <a:solidFill>
                  <a:srgbClr val="F5F7FA"/>
                </a:solidFill>
                <a:latin typeface="Consolas"/>
              </a:rPr>
              <a:t>pod.yaml</a:t>
            </a:r>
            <a:r>
              <a:rPr sz="1320" dirty="0">
                <a:solidFill>
                  <a:srgbClr val="F5F7FA"/>
                </a:solidFill>
                <a:latin typeface="Consolas"/>
              </a:rPr>
              <a:t>
</a:t>
            </a:r>
            <a:r>
              <a:rPr sz="1320" dirty="0" err="1">
                <a:solidFill>
                  <a:srgbClr val="F5F7FA"/>
                </a:solidFill>
                <a:latin typeface="Consolas"/>
              </a:rPr>
              <a:t>kubectl</a:t>
            </a:r>
            <a:r>
              <a:rPr sz="1320" dirty="0">
                <a:solidFill>
                  <a:srgbClr val="F5F7FA"/>
                </a:solidFill>
                <a:latin typeface="Consolas"/>
              </a:rPr>
              <a:t> get pod </a:t>
            </a:r>
            <a:r>
              <a:rPr sz="1320" dirty="0" err="1">
                <a:solidFill>
                  <a:srgbClr val="F5F7FA"/>
                </a:solidFill>
                <a:latin typeface="Consolas"/>
              </a:rPr>
              <a:t>mybox</a:t>
            </a:r>
            <a:endParaRPr sz="1320" dirty="0">
              <a:solidFill>
                <a:srgbClr val="F5F7FA"/>
              </a:solidFill>
              <a:latin typeface="Consolas"/>
            </a:endParaRPr>
          </a:p>
        </p:txBody>
      </p:sp>
      <p:sp>
        <p:nvSpPr>
          <p:cNvPr id="12" name="TextBox 11"/>
          <p:cNvSpPr txBox="1"/>
          <p:nvPr/>
        </p:nvSpPr>
        <p:spPr>
          <a:xfrm>
            <a:off x="628650" y="4550000"/>
            <a:ext cx="10001250" cy="276999"/>
          </a:xfrm>
          <a:prstGeom prst="rect">
            <a:avLst/>
          </a:prstGeom>
          <a:noFill/>
        </p:spPr>
        <p:txBody>
          <a:bodyPr wrap="square" lIns="27432" tIns="0" rIns="27432" bIns="0">
            <a:spAutoFit/>
          </a:bodyPr>
          <a:lstStyle/>
          <a:p>
            <a:pPr algn="ctr"/>
            <a:r>
              <a:rPr lang="en-US" b="1" dirty="0">
                <a:solidFill>
                  <a:srgbClr val="51E0FF"/>
                </a:solidFill>
                <a:latin typeface="Space Grotesk"/>
              </a:rPr>
              <a:t>Challenge: before creating the PVC, predict which PV phase you expect. After binding, identify the claim name on the PV.</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Storage Part 2</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Delete the Pod, recreate it, and verify that the data survived</a:t>
            </a:r>
          </a:p>
        </p:txBody>
      </p:sp>
      <p:sp>
        <p:nvSpPr>
          <p:cNvPr id="11" name="TextBox 10"/>
          <p:cNvSpPr txBox="1"/>
          <p:nvPr/>
        </p:nvSpPr>
        <p:spPr>
          <a:xfrm>
            <a:off x="628649" y="1900000"/>
            <a:ext cx="5856371" cy="2805896"/>
          </a:xfrm>
          <a:prstGeom prst="rect">
            <a:avLst/>
          </a:prstGeom>
          <a:solidFill>
            <a:srgbClr val="09121F"/>
          </a:solidFill>
          <a:ln>
            <a:solidFill>
              <a:srgbClr val="314963"/>
            </a:solidFill>
          </a:ln>
        </p:spPr>
        <p:txBody>
          <a:bodyPr wrap="square" lIns="152400" tIns="101600" rIns="152400" bIns="101600">
            <a:spAutoFit/>
          </a:bodyPr>
          <a:lstStyle/>
          <a:p>
            <a:pPr algn="l"/>
            <a:r>
              <a:rPr sz="1280" dirty="0">
                <a:solidFill>
                  <a:srgbClr val="F5F7FA"/>
                </a:solidFill>
                <a:latin typeface="Consolas"/>
              </a:rPr>
              <a:t># Write data through the mounted PVC
</a:t>
            </a:r>
            <a:r>
              <a:rPr sz="1280" dirty="0" err="1">
                <a:solidFill>
                  <a:srgbClr val="F5F7FA"/>
                </a:solidFill>
                <a:latin typeface="Consolas"/>
              </a:rPr>
              <a:t>kubectl</a:t>
            </a:r>
            <a:r>
              <a:rPr sz="1280" dirty="0">
                <a:solidFill>
                  <a:srgbClr val="F5F7FA"/>
                </a:solidFill>
                <a:latin typeface="Consolas"/>
              </a:rPr>
              <a:t> exec </a:t>
            </a:r>
            <a:r>
              <a:rPr sz="1280" dirty="0" err="1">
                <a:solidFill>
                  <a:srgbClr val="F5F7FA"/>
                </a:solidFill>
                <a:latin typeface="Consolas"/>
              </a:rPr>
              <a:t>mybox</a:t>
            </a:r>
            <a:r>
              <a:rPr sz="1280" dirty="0">
                <a:solidFill>
                  <a:srgbClr val="F5F7FA"/>
                </a:solidFill>
                <a:latin typeface="Consolas"/>
              </a:rPr>
              <a:t> -it -- /bin/</a:t>
            </a:r>
            <a:r>
              <a:rPr sz="1280" dirty="0" err="1">
                <a:solidFill>
                  <a:srgbClr val="F5F7FA"/>
                </a:solidFill>
                <a:latin typeface="Consolas"/>
              </a:rPr>
              <a:t>sh</a:t>
            </a:r>
            <a:r>
              <a:rPr sz="1280" dirty="0">
                <a:solidFill>
                  <a:srgbClr val="F5F7FA"/>
                </a:solidFill>
                <a:latin typeface="Consolas"/>
              </a:rPr>
              <a:t>
cd /demo
echo "Hello World" &gt; hello.txt
exit
# Delete only the Pod
</a:t>
            </a:r>
            <a:r>
              <a:rPr sz="1280" dirty="0" err="1">
                <a:solidFill>
                  <a:srgbClr val="F5F7FA"/>
                </a:solidFill>
                <a:latin typeface="Consolas"/>
              </a:rPr>
              <a:t>kubectl</a:t>
            </a:r>
            <a:r>
              <a:rPr sz="1280" dirty="0">
                <a:solidFill>
                  <a:srgbClr val="F5F7FA"/>
                </a:solidFill>
                <a:latin typeface="Consolas"/>
              </a:rPr>
              <a:t> delete -f </a:t>
            </a:r>
            <a:r>
              <a:rPr sz="1280" dirty="0" err="1">
                <a:solidFill>
                  <a:srgbClr val="F5F7FA"/>
                </a:solidFill>
                <a:latin typeface="Consolas"/>
              </a:rPr>
              <a:t>pod.yaml</a:t>
            </a:r>
            <a:r>
              <a:rPr sz="1280" dirty="0">
                <a:solidFill>
                  <a:srgbClr val="F5F7FA"/>
                </a:solidFill>
                <a:latin typeface="Consolas"/>
              </a:rPr>
              <a:t> --force --grace-period=0
# Recreate it with the same claim
</a:t>
            </a:r>
            <a:r>
              <a:rPr sz="1280" dirty="0" err="1">
                <a:solidFill>
                  <a:srgbClr val="F5F7FA"/>
                </a:solidFill>
                <a:latin typeface="Consolas"/>
              </a:rPr>
              <a:t>kubectl</a:t>
            </a:r>
            <a:r>
              <a:rPr sz="1280" dirty="0">
                <a:solidFill>
                  <a:srgbClr val="F5F7FA"/>
                </a:solidFill>
                <a:latin typeface="Consolas"/>
              </a:rPr>
              <a:t> apply -f </a:t>
            </a:r>
            <a:r>
              <a:rPr sz="1280" dirty="0" err="1">
                <a:solidFill>
                  <a:srgbClr val="F5F7FA"/>
                </a:solidFill>
                <a:latin typeface="Consolas"/>
              </a:rPr>
              <a:t>pod.yaml</a:t>
            </a:r>
            <a:r>
              <a:rPr sz="1280" dirty="0">
                <a:solidFill>
                  <a:srgbClr val="F5F7FA"/>
                </a:solidFill>
                <a:latin typeface="Consolas"/>
              </a:rPr>
              <a:t>
# Verify persistence
</a:t>
            </a:r>
            <a:r>
              <a:rPr sz="1280" dirty="0" err="1">
                <a:solidFill>
                  <a:srgbClr val="F5F7FA"/>
                </a:solidFill>
                <a:latin typeface="Consolas"/>
              </a:rPr>
              <a:t>kubectl</a:t>
            </a:r>
            <a:r>
              <a:rPr sz="1280" dirty="0">
                <a:solidFill>
                  <a:srgbClr val="F5F7FA"/>
                </a:solidFill>
                <a:latin typeface="Consolas"/>
              </a:rPr>
              <a:t> exec </a:t>
            </a:r>
            <a:r>
              <a:rPr sz="1280" dirty="0" err="1">
                <a:solidFill>
                  <a:srgbClr val="F5F7FA"/>
                </a:solidFill>
                <a:latin typeface="Consolas"/>
              </a:rPr>
              <a:t>mybox</a:t>
            </a:r>
            <a:r>
              <a:rPr sz="1280" dirty="0">
                <a:solidFill>
                  <a:srgbClr val="F5F7FA"/>
                </a:solidFill>
                <a:latin typeface="Consolas"/>
              </a:rPr>
              <a:t> -- cat /demo/hello.txt</a:t>
            </a:r>
            <a:endParaRPr sz="1300" dirty="0">
              <a:solidFill>
                <a:srgbClr val="F5F7FA"/>
              </a:solidFill>
              <a:latin typeface="Consolas"/>
            </a:endParaRPr>
          </a:p>
        </p:txBody>
      </p:sp>
      <p:sp>
        <p:nvSpPr>
          <p:cNvPr id="12" name="Rounded Rectangle 11"/>
          <p:cNvSpPr/>
          <p:nvPr/>
        </p:nvSpPr>
        <p:spPr>
          <a:xfrm>
            <a:off x="6991350" y="1885950"/>
            <a:ext cx="4371974"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Expected learning</a:t>
            </a:r>
          </a:p>
          <a:p>
            <a:pPr>
              <a:spcAft>
                <a:spcPts val="400"/>
              </a:spcAft>
              <a:defRPr sz="1600">
                <a:solidFill>
                  <a:srgbClr val="D7DEE8"/>
                </a:solidFill>
                <a:latin typeface="Plus Jakarta Sans"/>
              </a:defRPr>
            </a:pPr>
            <a:r>
              <a:t>The original Pod is gone.</a:t>
            </a:r>
          </a:p>
          <a:p>
            <a:pPr>
              <a:spcAft>
                <a:spcPts val="400"/>
              </a:spcAft>
              <a:defRPr sz="1600">
                <a:solidFill>
                  <a:srgbClr val="D7DEE8"/>
                </a:solidFill>
                <a:latin typeface="Plus Jakarta Sans"/>
              </a:defRPr>
            </a:pPr>
            <a:r>
              <a:t>The PVC remains bound to the PV.</a:t>
            </a:r>
          </a:p>
          <a:p>
            <a:pPr>
              <a:spcAft>
                <a:spcPts val="400"/>
              </a:spcAft>
              <a:defRPr sz="1600">
                <a:solidFill>
                  <a:srgbClr val="D7DEE8"/>
                </a:solidFill>
                <a:latin typeface="Plus Jakarta Sans"/>
              </a:defRPr>
            </a:pPr>
            <a:r>
              <a:t>The recreated Pod mounts the same storage.</a:t>
            </a:r>
          </a:p>
          <a:p>
            <a:pPr>
              <a:spcAft>
                <a:spcPts val="400"/>
              </a:spcAft>
              <a:defRPr sz="1600">
                <a:solidFill>
                  <a:srgbClr val="D7DEE8"/>
                </a:solidFill>
                <a:latin typeface="Plus Jakarta Sans"/>
              </a:defRPr>
            </a:pPr>
            <a:r>
              <a:t>hello.txt is still present.</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This is the key storage moment: compute was destroyed and recreated, but the persistent volume lifecycle was independent of that Pod.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Storage Part 3</a:t>
            </a:r>
          </a:p>
        </p:txBody>
      </p:sp>
      <p:sp>
        <p:nvSpPr>
          <p:cNvPr id="10" name="TextBox 9"/>
          <p:cNvSpPr txBox="1"/>
          <p:nvPr/>
        </p:nvSpPr>
        <p:spPr>
          <a:xfrm>
            <a:off x="628649" y="1159500"/>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Inspect dynamic provisioning on the training cluster</a:t>
            </a:r>
          </a:p>
        </p:txBody>
      </p:sp>
      <p:sp>
        <p:nvSpPr>
          <p:cNvPr id="11" name="TextBox 10"/>
          <p:cNvSpPr txBox="1"/>
          <p:nvPr/>
        </p:nvSpPr>
        <p:spPr>
          <a:xfrm>
            <a:off x="628649" y="1595774"/>
            <a:ext cx="6005999" cy="3159839"/>
          </a:xfrm>
          <a:prstGeom prst="rect">
            <a:avLst/>
          </a:prstGeom>
          <a:solidFill>
            <a:srgbClr val="09121F"/>
          </a:solidFill>
          <a:ln>
            <a:solidFill>
              <a:srgbClr val="314963"/>
            </a:solidFill>
          </a:ln>
        </p:spPr>
        <p:txBody>
          <a:bodyPr wrap="square" lIns="152400" tIns="101600" rIns="152400" bIns="101600">
            <a:spAutoFit/>
          </a:bodyPr>
          <a:lstStyle/>
          <a:p>
            <a:pPr algn="l"/>
            <a:r>
              <a:rPr sz="1280" dirty="0">
                <a:solidFill>
                  <a:srgbClr val="F5F7FA"/>
                </a:solidFill>
                <a:latin typeface="Consolas"/>
              </a:rPr>
              <a:t># See which </a:t>
            </a:r>
            <a:r>
              <a:rPr sz="1280" dirty="0" err="1">
                <a:solidFill>
                  <a:srgbClr val="F5F7FA"/>
                </a:solidFill>
                <a:latin typeface="Consolas"/>
              </a:rPr>
              <a:t>StorageClasses</a:t>
            </a:r>
            <a:r>
              <a:rPr sz="1280" dirty="0">
                <a:solidFill>
                  <a:srgbClr val="F5F7FA"/>
                </a:solidFill>
                <a:latin typeface="Consolas"/>
              </a:rPr>
              <a:t> exist
</a:t>
            </a:r>
            <a:r>
              <a:rPr sz="1280" dirty="0" err="1">
                <a:solidFill>
                  <a:srgbClr val="F5F7FA"/>
                </a:solidFill>
                <a:latin typeface="Consolas"/>
              </a:rPr>
              <a:t>kubectl</a:t>
            </a:r>
            <a:r>
              <a:rPr sz="1280" dirty="0">
                <a:solidFill>
                  <a:srgbClr val="F5F7FA"/>
                </a:solidFill>
                <a:latin typeface="Consolas"/>
              </a:rPr>
              <a:t> get </a:t>
            </a:r>
            <a:r>
              <a:rPr sz="1280" dirty="0" err="1">
                <a:solidFill>
                  <a:srgbClr val="F5F7FA"/>
                </a:solidFill>
                <a:latin typeface="Consolas"/>
              </a:rPr>
              <a:t>storageclass</a:t>
            </a:r>
            <a:r>
              <a:rPr sz="1280" dirty="0">
                <a:solidFill>
                  <a:srgbClr val="F5F7FA"/>
                </a:solidFill>
                <a:latin typeface="Consolas"/>
              </a:rPr>
              <a:t>
# Identify the default class, if one exists
</a:t>
            </a:r>
            <a:r>
              <a:rPr sz="1280" dirty="0" err="1">
                <a:solidFill>
                  <a:srgbClr val="F5F7FA"/>
                </a:solidFill>
                <a:latin typeface="Consolas"/>
              </a:rPr>
              <a:t>kubectl</a:t>
            </a:r>
            <a:r>
              <a:rPr sz="1280" dirty="0">
                <a:solidFill>
                  <a:srgbClr val="F5F7FA"/>
                </a:solidFill>
                <a:latin typeface="Consolas"/>
              </a:rPr>
              <a:t> describe </a:t>
            </a:r>
            <a:r>
              <a:rPr sz="1280" dirty="0" err="1">
                <a:solidFill>
                  <a:srgbClr val="F5F7FA"/>
                </a:solidFill>
                <a:latin typeface="Consolas"/>
              </a:rPr>
              <a:t>storageclass</a:t>
            </a:r>
            <a:r>
              <a:rPr sz="1280" dirty="0">
                <a:solidFill>
                  <a:srgbClr val="F5F7FA"/>
                </a:solidFill>
                <a:latin typeface="Consolas"/>
              </a:rPr>
              <a:t> &lt;name&gt;
# Create a PVC that uses the default or a chosen class
</a:t>
            </a:r>
            <a:r>
              <a:rPr sz="1280" dirty="0" err="1">
                <a:solidFill>
                  <a:srgbClr val="F5F7FA"/>
                </a:solidFill>
                <a:latin typeface="Consolas"/>
              </a:rPr>
              <a:t>kubectl</a:t>
            </a:r>
            <a:r>
              <a:rPr sz="1280" dirty="0">
                <a:solidFill>
                  <a:srgbClr val="F5F7FA"/>
                </a:solidFill>
                <a:latin typeface="Consolas"/>
              </a:rPr>
              <a:t> apply -f dynamic-</a:t>
            </a:r>
            <a:r>
              <a:rPr sz="1280" dirty="0" err="1">
                <a:solidFill>
                  <a:srgbClr val="F5F7FA"/>
                </a:solidFill>
                <a:latin typeface="Consolas"/>
              </a:rPr>
              <a:t>pvc.yaml</a:t>
            </a:r>
            <a:r>
              <a:rPr sz="1280" dirty="0">
                <a:solidFill>
                  <a:srgbClr val="F5F7FA"/>
                </a:solidFill>
                <a:latin typeface="Consolas"/>
              </a:rPr>
              <a:t>
# Watch Kubernetes create / bind storage
</a:t>
            </a:r>
            <a:r>
              <a:rPr sz="1280" dirty="0" err="1">
                <a:solidFill>
                  <a:srgbClr val="F5F7FA"/>
                </a:solidFill>
                <a:latin typeface="Consolas"/>
              </a:rPr>
              <a:t>kubectl</a:t>
            </a:r>
            <a:r>
              <a:rPr sz="1280" dirty="0">
                <a:solidFill>
                  <a:srgbClr val="F5F7FA"/>
                </a:solidFill>
                <a:latin typeface="Consolas"/>
              </a:rPr>
              <a:t> get </a:t>
            </a:r>
            <a:r>
              <a:rPr sz="1280" dirty="0" err="1">
                <a:solidFill>
                  <a:srgbClr val="F5F7FA"/>
                </a:solidFill>
                <a:latin typeface="Consolas"/>
              </a:rPr>
              <a:t>pvc</a:t>
            </a:r>
            <a:r>
              <a:rPr sz="1280" dirty="0">
                <a:solidFill>
                  <a:srgbClr val="F5F7FA"/>
                </a:solidFill>
                <a:latin typeface="Consolas"/>
              </a:rPr>
              <a:t> -w
</a:t>
            </a:r>
            <a:r>
              <a:rPr sz="1280" dirty="0" err="1">
                <a:solidFill>
                  <a:srgbClr val="F5F7FA"/>
                </a:solidFill>
                <a:latin typeface="Consolas"/>
              </a:rPr>
              <a:t>kubectl</a:t>
            </a:r>
            <a:r>
              <a:rPr sz="1280" dirty="0">
                <a:solidFill>
                  <a:srgbClr val="F5F7FA"/>
                </a:solidFill>
                <a:latin typeface="Consolas"/>
              </a:rPr>
              <a:t> get </a:t>
            </a:r>
            <a:r>
              <a:rPr sz="1280" dirty="0" err="1">
                <a:solidFill>
                  <a:srgbClr val="F5F7FA"/>
                </a:solidFill>
                <a:latin typeface="Consolas"/>
              </a:rPr>
              <a:t>pv</a:t>
            </a:r>
            <a:r>
              <a:rPr sz="1280" dirty="0">
                <a:solidFill>
                  <a:srgbClr val="F5F7FA"/>
                </a:solidFill>
                <a:latin typeface="Consolas"/>
              </a:rPr>
              <a:t>
# Inspect the result
</a:t>
            </a:r>
            <a:r>
              <a:rPr sz="1280" dirty="0" err="1">
                <a:solidFill>
                  <a:srgbClr val="F5F7FA"/>
                </a:solidFill>
                <a:latin typeface="Consolas"/>
              </a:rPr>
              <a:t>kubectl</a:t>
            </a:r>
            <a:r>
              <a:rPr sz="1280" dirty="0">
                <a:solidFill>
                  <a:srgbClr val="F5F7FA"/>
                </a:solidFill>
                <a:latin typeface="Consolas"/>
              </a:rPr>
              <a:t> describe </a:t>
            </a:r>
            <a:r>
              <a:rPr sz="1280" dirty="0" err="1">
                <a:solidFill>
                  <a:srgbClr val="F5F7FA"/>
                </a:solidFill>
                <a:latin typeface="Consolas"/>
              </a:rPr>
              <a:t>pvc</a:t>
            </a:r>
            <a:r>
              <a:rPr sz="1280" dirty="0">
                <a:solidFill>
                  <a:srgbClr val="F5F7FA"/>
                </a:solidFill>
                <a:latin typeface="Consolas"/>
              </a:rPr>
              <a:t> dynamic-</a:t>
            </a:r>
            <a:r>
              <a:rPr sz="1280" dirty="0" err="1">
                <a:solidFill>
                  <a:srgbClr val="F5F7FA"/>
                </a:solidFill>
                <a:latin typeface="Consolas"/>
              </a:rPr>
              <a:t>pvc</a:t>
            </a:r>
            <a:endParaRPr sz="1300" dirty="0">
              <a:solidFill>
                <a:srgbClr val="F5F7FA"/>
              </a:solidFill>
              <a:latin typeface="Consolas"/>
            </a:endParaRPr>
          </a:p>
        </p:txBody>
      </p:sp>
      <p:sp>
        <p:nvSpPr>
          <p:cNvPr id="12" name="Rounded Rectangle 11"/>
          <p:cNvSpPr/>
          <p:nvPr/>
        </p:nvSpPr>
        <p:spPr>
          <a:xfrm>
            <a:off x="7463324" y="1885950"/>
            <a:ext cx="3900000"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Challenge questions</a:t>
            </a:r>
          </a:p>
          <a:p>
            <a:pPr>
              <a:spcAft>
                <a:spcPts val="400"/>
              </a:spcAft>
              <a:defRPr sz="1600">
                <a:solidFill>
                  <a:srgbClr val="D7DEE8"/>
                </a:solidFill>
                <a:latin typeface="Plus Jakarta Sans"/>
              </a:defRPr>
            </a:pPr>
            <a:r>
              <a:t>Was a PV created automatically?</a:t>
            </a:r>
          </a:p>
          <a:p>
            <a:pPr>
              <a:spcAft>
                <a:spcPts val="400"/>
              </a:spcAft>
              <a:defRPr sz="1600">
                <a:solidFill>
                  <a:srgbClr val="D7DEE8"/>
                </a:solidFill>
                <a:latin typeface="Plus Jakarta Sans"/>
              </a:defRPr>
            </a:pPr>
            <a:r>
              <a:t>Which StorageClass was used?</a:t>
            </a:r>
          </a:p>
          <a:p>
            <a:pPr>
              <a:spcAft>
                <a:spcPts val="400"/>
              </a:spcAft>
              <a:defRPr sz="1600">
                <a:solidFill>
                  <a:srgbClr val="D7DEE8"/>
                </a:solidFill>
                <a:latin typeface="Plus Jakarta Sans"/>
              </a:defRPr>
            </a:pPr>
            <a:r>
              <a:t>What reclaim policy did the new PV inherit?</a:t>
            </a:r>
          </a:p>
          <a:p>
            <a:pPr>
              <a:spcAft>
                <a:spcPts val="400"/>
              </a:spcAft>
              <a:defRPr sz="1600">
                <a:solidFill>
                  <a:srgbClr val="D7DEE8"/>
                </a:solidFill>
                <a:latin typeface="Plus Jakarta Sans"/>
              </a:defRPr>
            </a:pPr>
            <a:r>
              <a:t>What happens if the cluster has no dynamic provisioner?</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Knowledge check + mental model</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If these answers are clear, the Storage section is doing its job</a:t>
            </a:r>
          </a:p>
        </p:txBody>
      </p:sp>
      <p:sp>
        <p:nvSpPr>
          <p:cNvPr id="11" name="TextBox 10"/>
          <p:cNvSpPr txBox="1"/>
          <p:nvPr/>
        </p:nvSpPr>
        <p:spPr>
          <a:xfrm>
            <a:off x="628650" y="1900000"/>
            <a:ext cx="5600000" cy="3000000"/>
          </a:xfrm>
          <a:prstGeom prst="rect">
            <a:avLst/>
          </a:prstGeom>
          <a:noFill/>
        </p:spPr>
        <p:txBody>
          <a:bodyPr wrap="square" lIns="18288" tIns="0" rIns="18288" bIns="0">
            <a:spAutoFit/>
          </a:bodyPr>
          <a:lstStyle/>
          <a:p>
            <a:pPr>
              <a:spcAft>
                <a:spcPts val="700"/>
              </a:spcAft>
              <a:defRPr sz="1600">
                <a:solidFill>
                  <a:srgbClr val="D7DEE8"/>
                </a:solidFill>
                <a:latin typeface="Plus Jakarta Sans"/>
              </a:defRPr>
            </a:pPr>
            <a:r>
              <a:t>• What is the difference between a Pod volume and the container writable layer?</a:t>
            </a:r>
          </a:p>
          <a:p>
            <a:pPr>
              <a:spcAft>
                <a:spcPts val="700"/>
              </a:spcAft>
              <a:defRPr sz="1600">
                <a:solidFill>
                  <a:srgbClr val="D7DEE8"/>
                </a:solidFill>
                <a:latin typeface="Plus Jakarta Sans"/>
              </a:defRPr>
            </a:pPr>
            <a:r>
              <a:t>• What is the role of a PVC?</a:t>
            </a:r>
          </a:p>
          <a:p>
            <a:pPr>
              <a:spcAft>
                <a:spcPts val="700"/>
              </a:spcAft>
              <a:defRPr sz="1600">
                <a:solidFill>
                  <a:srgbClr val="D7DEE8"/>
                </a:solidFill>
                <a:latin typeface="Plus Jakarta Sans"/>
              </a:defRPr>
            </a:pPr>
            <a:r>
              <a:t>• What changes between static and dynamic provisioning?</a:t>
            </a:r>
          </a:p>
          <a:p>
            <a:pPr>
              <a:spcAft>
                <a:spcPts val="700"/>
              </a:spcAft>
              <a:defRPr sz="1600">
                <a:solidFill>
                  <a:srgbClr val="D7DEE8"/>
                </a:solidFill>
                <a:latin typeface="Plus Jakarta Sans"/>
              </a:defRPr>
            </a:pPr>
            <a:r>
              <a:t>• Does RWO mean “only one Pod”?</a:t>
            </a:r>
          </a:p>
          <a:p>
            <a:pPr>
              <a:spcAft>
                <a:spcPts val="700"/>
              </a:spcAft>
              <a:defRPr sz="1600">
                <a:solidFill>
                  <a:srgbClr val="D7DEE8"/>
                </a:solidFill>
                <a:latin typeface="Plus Jakarta Sans"/>
              </a:defRPr>
            </a:pPr>
            <a:r>
              <a:t>• What is the difference between Delete and Retain?</a:t>
            </a:r>
          </a:p>
          <a:p>
            <a:pPr>
              <a:spcAft>
                <a:spcPts val="700"/>
              </a:spcAft>
              <a:defRPr sz="1600">
                <a:solidFill>
                  <a:srgbClr val="D7DEE8"/>
                </a:solidFill>
                <a:latin typeface="Plus Jakarta Sans"/>
              </a:defRPr>
            </a:pPr>
            <a:r>
              <a:t>• A PVC is Pending — what should you inspect first?</a:t>
            </a:r>
          </a:p>
          <a:p>
            <a:pPr>
              <a:spcAft>
                <a:spcPts val="700"/>
              </a:spcAft>
              <a:defRPr sz="1600">
                <a:solidFill>
                  <a:srgbClr val="D7DEE8"/>
                </a:solidFill>
                <a:latin typeface="Plus Jakarta Sans"/>
              </a:defRPr>
            </a:pPr>
            <a:endParaRPr/>
          </a:p>
        </p:txBody>
      </p:sp>
      <p:sp>
        <p:nvSpPr>
          <p:cNvPr id="12" name="Rounded Rectangle 11"/>
          <p:cNvSpPr/>
          <p:nvPr/>
        </p:nvSpPr>
        <p:spPr>
          <a:xfrm>
            <a:off x="7920810" y="1257200"/>
            <a:ext cx="3155062" cy="36428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Mental model</a:t>
            </a:r>
          </a:p>
          <a:p>
            <a:pPr>
              <a:spcAft>
                <a:spcPts val="400"/>
              </a:spcAft>
              <a:defRPr sz="1600">
                <a:solidFill>
                  <a:srgbClr val="D7DEE8"/>
                </a:solidFill>
                <a:latin typeface="Plus Jakarta Sans"/>
              </a:defRPr>
            </a:pPr>
            <a:r>
              <a:rPr dirty="0"/>
              <a:t>Pod</a:t>
            </a:r>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a:t>PVC</a:t>
            </a:r>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a:t>PV</a:t>
            </a:r>
          </a:p>
          <a:p>
            <a:pPr>
              <a:spcAft>
                <a:spcPts val="400"/>
              </a:spcAft>
              <a:defRPr sz="1600">
                <a:solidFill>
                  <a:srgbClr val="D7DEE8"/>
                </a:solidFill>
                <a:latin typeface="Plus Jakarta Sans"/>
              </a:defRPr>
            </a:pPr>
            <a:r>
              <a:t>↓</a:t>
            </a:r>
            <a:endParaRPr dirty="0"/>
          </a:p>
          <a:p>
            <a:pPr>
              <a:spcAft>
                <a:spcPts val="400"/>
              </a:spcAft>
              <a:defRPr sz="1600">
                <a:solidFill>
                  <a:srgbClr val="D7DEE8"/>
                </a:solidFill>
                <a:latin typeface="Plus Jakarta Sans"/>
              </a:defRPr>
            </a:pPr>
            <a:r>
              <a:rPr dirty="0" err="1"/>
              <a:t>Storage / CSI</a:t>
            </a:r>
            <a:endParaRPr dirty="0"/>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t>StorageClass</a:t>
            </a:r>
            <a:endParaRPr dirty="0"/>
          </a:p>
          <a:p>
            <a:pPr>
              <a:spcAft>
                <a:spcPts val="400"/>
              </a:spcAft>
              <a:defRPr sz="1600">
                <a:solidFill>
                  <a:srgbClr val="D7DEE8"/>
                </a:solidFill>
                <a:latin typeface="Plus Jakarta Sans"/>
              </a:defRPr>
            </a:pPr>
            <a:r>
              <a:rPr dirty="0"/>
              <a:t>controls dynamic provisioning</a:t>
            </a:r>
          </a:p>
          <a:p>
            <a:pPr>
              <a:spcAft>
                <a:spcPts val="400"/>
              </a:spcAft>
              <a:defRPr sz="1600">
                <a:solidFill>
                  <a:srgbClr val="D7DEE8"/>
                </a:solidFill>
                <a:latin typeface="Plus Jakarta Sans"/>
              </a:defRPr>
            </a:pP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147885"/>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ConfigMaps</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Separate non-confidential configuration from the container image</a:t>
            </a:r>
          </a:p>
        </p:txBody>
      </p:sp>
      <p:sp>
        <p:nvSpPr>
          <p:cNvPr id="12" name="TextBox 11"/>
          <p:cNvSpPr txBox="1"/>
          <p:nvPr/>
        </p:nvSpPr>
        <p:spPr>
          <a:xfrm>
            <a:off x="1025872" y="5425000"/>
            <a:ext cx="10050000" cy="769441"/>
          </a:xfrm>
          <a:prstGeom prst="rect">
            <a:avLst/>
          </a:prstGeom>
          <a:noFill/>
        </p:spPr>
        <p:txBody>
          <a:bodyPr wrap="square" lIns="27432" tIns="0" rIns="27432" bIns="0">
            <a:spAutoFit/>
          </a:bodyPr>
          <a:lstStyle/>
          <a:p>
            <a:pPr algn="l"/>
            <a:r>
              <a:rPr lang="en-US" sz="1250" b="0" dirty="0">
                <a:solidFill>
                  <a:srgbClr val="99A6B7"/>
                </a:solidFill>
                <a:latin typeface="Plus Jakarta Sans"/>
              </a:rPr>
              <a:t>The core idea is separation of code and configuration. A ConfigMap is for non-confidential data; Secrets are for sensitive data (the next topic</a:t>
            </a:r>
            <a:r>
              <a:rPr lang="en-US" sz="1250" dirty="0">
                <a:solidFill>
                  <a:srgbClr val="99A6B7"/>
                </a:solidFill>
                <a:latin typeface="Plus Jakarta Sans"/>
              </a:rPr>
              <a:t>)</a:t>
            </a:r>
            <a:r>
              <a:rPr lang="en-US" sz="1250" b="0" dirty="0">
                <a:solidFill>
                  <a:srgbClr val="99A6B7"/>
                </a:solidFill>
                <a:latin typeface="Plus Jakarta Sans"/>
              </a:rPr>
              <a:t>.</a:t>
            </a:r>
          </a:p>
          <a:p>
            <a:pPr algn="l"/>
            <a:endParaRPr lang="en-US" sz="1250" b="0" dirty="0">
              <a:solidFill>
                <a:srgbClr val="99A6B7"/>
              </a:solidFill>
              <a:latin typeface="Plus Jakarta Sans"/>
            </a:endParaRPr>
          </a:p>
          <a:p>
            <a:r>
              <a:rPr lang="en-US" sz="1250" dirty="0">
                <a:solidFill>
                  <a:srgbClr val="99A6B7"/>
                </a:solidFill>
                <a:latin typeface="Plus Jakarta Sans"/>
              </a:rPr>
              <a:t>These key-value pairs are typically injected into containers as Environment Variables or mounted as Configuration Files.</a:t>
            </a:r>
            <a:br>
              <a:rPr lang="en-US" sz="1250" dirty="0">
                <a:solidFill>
                  <a:srgbClr val="99A6B7"/>
                </a:solidFill>
                <a:latin typeface="Plus Jakarta Sans"/>
              </a:rPr>
            </a:br>
            <a:endParaRPr lang="en-US" sz="1250" dirty="0">
              <a:solidFill>
                <a:srgbClr val="99A6B7"/>
              </a:solidFill>
              <a:latin typeface="Plus Jakarta Sans"/>
            </a:endParaRPr>
          </a:p>
        </p:txBody>
      </p:sp>
      <p:sp>
        <p:nvSpPr>
          <p:cNvPr id="6" name="TextBox 5">
            <a:extLst>
              <a:ext uri="{FF2B5EF4-FFF2-40B4-BE49-F238E27FC236}">
                <a16:creationId xmlns:a16="http://schemas.microsoft.com/office/drawing/2014/main" id="{4748AAE4-9ED6-13F9-9FA8-AB4304CEA3E7}"/>
              </a:ext>
            </a:extLst>
          </p:cNvPr>
          <p:cNvSpPr txBox="1"/>
          <p:nvPr/>
        </p:nvSpPr>
        <p:spPr>
          <a:xfrm>
            <a:off x="628650" y="1881137"/>
            <a:ext cx="9144000" cy="1097280"/>
          </a:xfrm>
          <a:prstGeom prst="rect">
            <a:avLst/>
          </a:prstGeom>
          <a:noFill/>
        </p:spPr>
        <p:txBody>
          <a:bodyPr wrap="square" anchor="t">
            <a:spAutoFit/>
          </a:bodyPr>
          <a:lstStyle/>
          <a:p>
            <a:pPr algn="l"/>
            <a:r>
              <a:rPr sz="1900" b="0" dirty="0">
                <a:solidFill>
                  <a:srgbClr val="CCD3DE"/>
                </a:solidFill>
                <a:latin typeface="Plus Jakarta Sans"/>
              </a:rPr>
              <a:t>A ConfigMap stores configuration data as key-value pairs so the same container image can run with different settings in development, staging, and production.</a:t>
            </a:r>
          </a:p>
        </p:txBody>
      </p:sp>
      <p:sp>
        <p:nvSpPr>
          <p:cNvPr id="17" name="Rounded Rectangle 11">
            <a:extLst>
              <a:ext uri="{FF2B5EF4-FFF2-40B4-BE49-F238E27FC236}">
                <a16:creationId xmlns:a16="http://schemas.microsoft.com/office/drawing/2014/main" id="{36F07A6E-B68E-BB61-2F63-A4350C0608E9}"/>
              </a:ext>
            </a:extLst>
          </p:cNvPr>
          <p:cNvSpPr/>
          <p:nvPr/>
        </p:nvSpPr>
        <p:spPr>
          <a:xfrm>
            <a:off x="68580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1">
            <a:extLst>
              <a:ext uri="{FF2B5EF4-FFF2-40B4-BE49-F238E27FC236}">
                <a16:creationId xmlns:a16="http://schemas.microsoft.com/office/drawing/2014/main" id="{934C5021-F958-0FB0-0374-AE20F24F07AF}"/>
              </a:ext>
            </a:extLst>
          </p:cNvPr>
          <p:cNvSpPr/>
          <p:nvPr/>
        </p:nvSpPr>
        <p:spPr>
          <a:xfrm>
            <a:off x="387477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1">
            <a:extLst>
              <a:ext uri="{FF2B5EF4-FFF2-40B4-BE49-F238E27FC236}">
                <a16:creationId xmlns:a16="http://schemas.microsoft.com/office/drawing/2014/main" id="{FD32325E-6720-B29F-00D8-3F791E8F0EDB}"/>
              </a:ext>
            </a:extLst>
          </p:cNvPr>
          <p:cNvSpPr/>
          <p:nvPr/>
        </p:nvSpPr>
        <p:spPr>
          <a:xfrm>
            <a:off x="706374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E5ACEF36-BAD8-4438-1A5C-D83F7E243AAD}"/>
              </a:ext>
            </a:extLst>
          </p:cNvPr>
          <p:cNvSpPr txBox="1"/>
          <p:nvPr/>
        </p:nvSpPr>
        <p:spPr>
          <a:xfrm>
            <a:off x="828675" y="2916936"/>
            <a:ext cx="2322576" cy="320040"/>
          </a:xfrm>
          <a:prstGeom prst="rect">
            <a:avLst/>
          </a:prstGeom>
          <a:noFill/>
        </p:spPr>
        <p:txBody>
          <a:bodyPr wrap="square" anchor="t">
            <a:spAutoFit/>
          </a:bodyPr>
          <a:lstStyle/>
          <a:p>
            <a:pPr algn="l"/>
            <a:r>
              <a:rPr sz="1500" b="1" dirty="0">
                <a:solidFill>
                  <a:srgbClr val="25C7FF"/>
                </a:solidFill>
                <a:latin typeface="Space Grotesk"/>
              </a:rPr>
              <a:t>1</a:t>
            </a:r>
          </a:p>
        </p:txBody>
      </p:sp>
      <p:sp>
        <p:nvSpPr>
          <p:cNvPr id="25" name="TextBox 24">
            <a:extLst>
              <a:ext uri="{FF2B5EF4-FFF2-40B4-BE49-F238E27FC236}">
                <a16:creationId xmlns:a16="http://schemas.microsoft.com/office/drawing/2014/main" id="{1BD61E48-1B0F-898F-F52A-79D2EE2690DA}"/>
              </a:ext>
            </a:extLst>
          </p:cNvPr>
          <p:cNvSpPr txBox="1"/>
          <p:nvPr/>
        </p:nvSpPr>
        <p:spPr>
          <a:xfrm>
            <a:off x="3950334" y="2916936"/>
            <a:ext cx="2322576" cy="320040"/>
          </a:xfrm>
          <a:prstGeom prst="rect">
            <a:avLst/>
          </a:prstGeom>
          <a:noFill/>
        </p:spPr>
        <p:txBody>
          <a:bodyPr wrap="square" anchor="t">
            <a:spAutoFit/>
          </a:bodyPr>
          <a:lstStyle/>
          <a:p>
            <a:pPr algn="l"/>
            <a:r>
              <a:rPr sz="1500" b="1" dirty="0">
                <a:solidFill>
                  <a:srgbClr val="8CF7D7"/>
                </a:solidFill>
                <a:latin typeface="Space Grotesk"/>
              </a:rPr>
              <a:t>2</a:t>
            </a:r>
          </a:p>
        </p:txBody>
      </p:sp>
      <p:sp>
        <p:nvSpPr>
          <p:cNvPr id="27" name="TextBox 26">
            <a:extLst>
              <a:ext uri="{FF2B5EF4-FFF2-40B4-BE49-F238E27FC236}">
                <a16:creationId xmlns:a16="http://schemas.microsoft.com/office/drawing/2014/main" id="{D9524D72-DE76-3A9D-7FF0-A4B450AFDB29}"/>
              </a:ext>
            </a:extLst>
          </p:cNvPr>
          <p:cNvSpPr txBox="1"/>
          <p:nvPr/>
        </p:nvSpPr>
        <p:spPr>
          <a:xfrm>
            <a:off x="7139304" y="2916936"/>
            <a:ext cx="2322576" cy="320040"/>
          </a:xfrm>
          <a:prstGeom prst="rect">
            <a:avLst/>
          </a:prstGeom>
          <a:noFill/>
        </p:spPr>
        <p:txBody>
          <a:bodyPr wrap="square" anchor="t">
            <a:spAutoFit/>
          </a:bodyPr>
          <a:lstStyle/>
          <a:p>
            <a:pPr algn="l"/>
            <a:r>
              <a:rPr sz="1500" b="1" dirty="0">
                <a:solidFill>
                  <a:srgbClr val="25C7FF"/>
                </a:solidFill>
                <a:latin typeface="Space Grotesk"/>
              </a:rPr>
              <a:t>3</a:t>
            </a:r>
          </a:p>
        </p:txBody>
      </p:sp>
      <p:sp>
        <p:nvSpPr>
          <p:cNvPr id="29" name="TextBox 28">
            <a:extLst>
              <a:ext uri="{FF2B5EF4-FFF2-40B4-BE49-F238E27FC236}">
                <a16:creationId xmlns:a16="http://schemas.microsoft.com/office/drawing/2014/main" id="{DD664B68-803C-A561-4E61-0EA59B4F996F}"/>
              </a:ext>
            </a:extLst>
          </p:cNvPr>
          <p:cNvSpPr txBox="1"/>
          <p:nvPr/>
        </p:nvSpPr>
        <p:spPr>
          <a:xfrm>
            <a:off x="850392" y="3291839"/>
            <a:ext cx="2322576" cy="731519"/>
          </a:xfrm>
          <a:prstGeom prst="rect">
            <a:avLst/>
          </a:prstGeom>
          <a:noFill/>
        </p:spPr>
        <p:txBody>
          <a:bodyPr wrap="square" anchor="t">
            <a:spAutoFit/>
          </a:bodyPr>
          <a:lstStyle/>
          <a:p>
            <a:pPr algn="l"/>
            <a:r>
              <a:rPr sz="1200" b="0" dirty="0">
                <a:solidFill>
                  <a:srgbClr val="CCD3DE"/>
                </a:solidFill>
                <a:latin typeface="Plus Jakarta Sans"/>
              </a:rPr>
              <a:t>Use the same image</a:t>
            </a:r>
          </a:p>
        </p:txBody>
      </p:sp>
      <p:sp>
        <p:nvSpPr>
          <p:cNvPr id="31" name="TextBox 30">
            <a:extLst>
              <a:ext uri="{FF2B5EF4-FFF2-40B4-BE49-F238E27FC236}">
                <a16:creationId xmlns:a16="http://schemas.microsoft.com/office/drawing/2014/main" id="{48A2A40C-33CB-D744-C721-B3F48ECE0A10}"/>
              </a:ext>
            </a:extLst>
          </p:cNvPr>
          <p:cNvSpPr txBox="1"/>
          <p:nvPr/>
        </p:nvSpPr>
        <p:spPr>
          <a:xfrm>
            <a:off x="3969590" y="3291839"/>
            <a:ext cx="2322576" cy="731519"/>
          </a:xfrm>
          <a:prstGeom prst="rect">
            <a:avLst/>
          </a:prstGeom>
          <a:noFill/>
        </p:spPr>
        <p:txBody>
          <a:bodyPr wrap="square" anchor="t">
            <a:spAutoFit/>
          </a:bodyPr>
          <a:lstStyle/>
          <a:p>
            <a:pPr algn="l"/>
            <a:r>
              <a:rPr sz="1200" b="0" dirty="0">
                <a:solidFill>
                  <a:srgbClr val="CCD3DE"/>
                </a:solidFill>
                <a:latin typeface="Plus Jakarta Sans"/>
              </a:rPr>
              <a:t>Provide environment config</a:t>
            </a:r>
          </a:p>
        </p:txBody>
      </p:sp>
      <p:sp>
        <p:nvSpPr>
          <p:cNvPr id="33" name="TextBox 32">
            <a:extLst>
              <a:ext uri="{FF2B5EF4-FFF2-40B4-BE49-F238E27FC236}">
                <a16:creationId xmlns:a16="http://schemas.microsoft.com/office/drawing/2014/main" id="{25417823-D66A-B6CA-DDF3-B4B527A54DB9}"/>
              </a:ext>
            </a:extLst>
          </p:cNvPr>
          <p:cNvSpPr txBox="1"/>
          <p:nvPr/>
        </p:nvSpPr>
        <p:spPr>
          <a:xfrm>
            <a:off x="7063740" y="3291839"/>
            <a:ext cx="2322576" cy="731519"/>
          </a:xfrm>
          <a:prstGeom prst="rect">
            <a:avLst/>
          </a:prstGeom>
          <a:noFill/>
        </p:spPr>
        <p:txBody>
          <a:bodyPr wrap="square" anchor="t">
            <a:spAutoFit/>
          </a:bodyPr>
          <a:lstStyle/>
          <a:p>
            <a:pPr algn="l"/>
            <a:r>
              <a:rPr sz="1200" b="0" dirty="0">
                <a:solidFill>
                  <a:srgbClr val="CCD3DE"/>
                </a:solidFill>
                <a:latin typeface="Plus Jakarta Sans"/>
              </a:rPr>
              <a:t>Pod consumes the ConfigMap</a:t>
            </a:r>
          </a:p>
        </p:txBody>
      </p:sp>
      <p:sp>
        <p:nvSpPr>
          <p:cNvPr id="7" name="TextBox 6">
            <a:extLst>
              <a:ext uri="{FF2B5EF4-FFF2-40B4-BE49-F238E27FC236}">
                <a16:creationId xmlns:a16="http://schemas.microsoft.com/office/drawing/2014/main" id="{0DF80BD6-C579-8B26-5249-DF4B4540C98E}"/>
              </a:ext>
            </a:extLst>
          </p:cNvPr>
          <p:cNvSpPr txBox="1"/>
          <p:nvPr/>
        </p:nvSpPr>
        <p:spPr>
          <a:xfrm>
            <a:off x="628650" y="4150000"/>
            <a:ext cx="10001250" cy="923330"/>
          </a:xfrm>
          <a:prstGeom prst="rect">
            <a:avLst/>
          </a:prstGeom>
          <a:noFill/>
        </p:spPr>
        <p:txBody>
          <a:bodyPr wrap="square" lIns="27432" tIns="0" rIns="27432" bIns="0">
            <a:spAutoFit/>
          </a:bodyPr>
          <a:lstStyle/>
          <a:p>
            <a:pPr algn="ctr"/>
            <a:r>
              <a:rPr lang="en-US" sz="2000" b="1" dirty="0">
                <a:solidFill>
                  <a:srgbClr val="51E0FF"/>
                </a:solidFill>
                <a:latin typeface="Space Grotesk"/>
              </a:rPr>
              <a:t>Think:</a:t>
            </a:r>
          </a:p>
          <a:p>
            <a:pPr algn="ctr"/>
            <a:r>
              <a:rPr lang="fr-FR" sz="2000" b="1" dirty="0">
                <a:solidFill>
                  <a:srgbClr val="51E0FF"/>
                </a:solidFill>
                <a:latin typeface="Space Grotesk"/>
              </a:rPr>
              <a:t>Container image = application</a:t>
            </a:r>
          </a:p>
          <a:p>
            <a:pPr algn="ctr"/>
            <a:r>
              <a:rPr lang="fr-FR" sz="2000" b="1" dirty="0" err="1">
                <a:solidFill>
                  <a:srgbClr val="51E0FF"/>
                </a:solidFill>
                <a:latin typeface="Space Grotesk"/>
              </a:rPr>
              <a:t>ConfigMap</a:t>
            </a:r>
            <a:r>
              <a:rPr lang="fr-FR" sz="2000" b="1" dirty="0">
                <a:solidFill>
                  <a:srgbClr val="51E0FF"/>
                </a:solidFill>
                <a:latin typeface="Space Grotesk"/>
              </a:rPr>
              <a:t> = application settings</a:t>
            </a:r>
            <a:endParaRPr sz="2000" b="1" dirty="0">
              <a:solidFill>
                <a:srgbClr val="51E0FF"/>
              </a:solidFill>
              <a:latin typeface="Space Grotesk"/>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Why use a ConfigMap?</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Environment-specific settings should not require rebuilding the image</a:t>
            </a:r>
          </a:p>
        </p:txBody>
      </p:sp>
      <p:sp>
        <p:nvSpPr>
          <p:cNvPr id="11" name="TextBox 10"/>
          <p:cNvSpPr txBox="1"/>
          <p:nvPr/>
        </p:nvSpPr>
        <p:spPr>
          <a:xfrm>
            <a:off x="628650" y="2383036"/>
            <a:ext cx="6483350" cy="1377300"/>
          </a:xfrm>
          <a:prstGeom prst="rect">
            <a:avLst/>
          </a:prstGeom>
          <a:noFill/>
        </p:spPr>
        <p:txBody>
          <a:bodyPr wrap="square" lIns="18288" tIns="0" rIns="18288" bIns="0">
            <a:spAutoFit/>
          </a:bodyPr>
          <a:lstStyle/>
          <a:p>
            <a:pPr>
              <a:spcAft>
                <a:spcPts val="700"/>
              </a:spcAft>
              <a:defRPr sz="1800">
                <a:solidFill>
                  <a:srgbClr val="D7DEE8"/>
                </a:solidFill>
                <a:latin typeface="Plus Jakarta Sans"/>
              </a:defRPr>
            </a:pPr>
            <a:r>
              <a:rPr dirty="0"/>
              <a:t>• </a:t>
            </a:r>
            <a:r>
              <a:rPr lang="en-US" dirty="0"/>
              <a:t>Writing</a:t>
            </a:r>
            <a:r>
              <a:rPr dirty="0"/>
              <a:t> configuration into an image couples code and environment.</a:t>
            </a:r>
          </a:p>
          <a:p>
            <a:pPr>
              <a:spcAft>
                <a:spcPts val="700"/>
              </a:spcAft>
              <a:defRPr sz="1800">
                <a:solidFill>
                  <a:srgbClr val="D7DEE8"/>
                </a:solidFill>
                <a:latin typeface="Plus Jakarta Sans"/>
              </a:defRPr>
            </a:pPr>
            <a:r>
              <a:rPr dirty="0"/>
              <a:t>• URLs, feature flags, and app settings often differ per environment.</a:t>
            </a:r>
          </a:p>
          <a:p>
            <a:pPr>
              <a:spcAft>
                <a:spcPts val="700"/>
              </a:spcAft>
              <a:defRPr sz="1800">
                <a:solidFill>
                  <a:srgbClr val="D7DEE8"/>
                </a:solidFill>
                <a:latin typeface="Plus Jakarta Sans"/>
              </a:defRPr>
            </a:pPr>
            <a:r>
              <a:rPr dirty="0"/>
              <a:t>• A </a:t>
            </a:r>
            <a:r>
              <a:rPr dirty="0" err="1"/>
              <a:t>ConfigMap</a:t>
            </a:r>
            <a:r>
              <a:rPr dirty="0"/>
              <a:t> is a </a:t>
            </a:r>
            <a:r>
              <a:rPr dirty="0" err="1"/>
              <a:t>namespaced</a:t>
            </a:r>
            <a:r>
              <a:rPr dirty="0"/>
              <a:t> API object with data / </a:t>
            </a:r>
            <a:r>
              <a:rPr dirty="0" err="1"/>
              <a:t>binaryData</a:t>
            </a:r>
            <a:r>
              <a:rPr dirty="0"/>
              <a:t>.</a:t>
            </a:r>
          </a:p>
          <a:p>
            <a:pPr>
              <a:spcAft>
                <a:spcPts val="700"/>
              </a:spcAft>
              <a:defRPr sz="1800">
                <a:solidFill>
                  <a:srgbClr val="D7DEE8"/>
                </a:solidFill>
                <a:latin typeface="Plus Jakarta Sans"/>
              </a:defRPr>
            </a:pPr>
            <a:r>
              <a:rPr dirty="0"/>
              <a:t>• Pods can consume it as environment values or mounted files.</a:t>
            </a:r>
          </a:p>
        </p:txBody>
      </p:sp>
      <p:sp>
        <p:nvSpPr>
          <p:cNvPr id="12" name="Rounded Rectangle 11"/>
          <p:cNvSpPr/>
          <p:nvPr/>
        </p:nvSpPr>
        <p:spPr>
          <a:xfrm>
            <a:off x="7199999" y="1999999"/>
            <a:ext cx="3683901" cy="2143375"/>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Operational goal</a:t>
            </a:r>
          </a:p>
          <a:p>
            <a:pPr>
              <a:spcAft>
                <a:spcPts val="400"/>
              </a:spcAft>
              <a:defRPr sz="1500">
                <a:solidFill>
                  <a:srgbClr val="D7DEE8"/>
                </a:solidFill>
                <a:latin typeface="Plus Jakarta Sans"/>
              </a:defRPr>
            </a:pPr>
            <a:r>
              <a:rPr dirty="0"/>
              <a:t>Same image</a:t>
            </a:r>
            <a:r>
              <a:rPr lang="en-US" dirty="0"/>
              <a:t> - </a:t>
            </a:r>
            <a:r>
              <a:rPr dirty="0"/>
              <a:t>different configuration.</a:t>
            </a:r>
          </a:p>
        </p:txBody>
      </p:sp>
      <p:sp>
        <p:nvSpPr>
          <p:cNvPr id="13" name="TextBox 12"/>
          <p:cNvSpPr txBox="1"/>
          <p:nvPr/>
        </p:nvSpPr>
        <p:spPr>
          <a:xfrm>
            <a:off x="1025872" y="5425000"/>
            <a:ext cx="10050000" cy="577081"/>
          </a:xfrm>
          <a:prstGeom prst="rect">
            <a:avLst/>
          </a:prstGeom>
          <a:noFill/>
        </p:spPr>
        <p:txBody>
          <a:bodyPr wrap="square" lIns="27432" tIns="0" rIns="27432" bIns="0">
            <a:spAutoFit/>
          </a:bodyPr>
          <a:lstStyle/>
          <a:p>
            <a:pPr algn="l"/>
            <a:r>
              <a:rPr lang="en-US" sz="1250" b="0" dirty="0">
                <a:solidFill>
                  <a:srgbClr val="99A6B7"/>
                </a:solidFill>
                <a:latin typeface="Plus Jakarta Sans"/>
              </a:rPr>
              <a:t>A </a:t>
            </a:r>
            <a:r>
              <a:rPr lang="en-US" sz="1250" b="0" dirty="0" err="1">
                <a:solidFill>
                  <a:srgbClr val="99A6B7"/>
                </a:solidFill>
                <a:latin typeface="Plus Jakarta Sans"/>
              </a:rPr>
              <a:t>ConfigMap</a:t>
            </a:r>
            <a:r>
              <a:rPr lang="en-US" sz="1250" b="0" dirty="0">
                <a:solidFill>
                  <a:srgbClr val="99A6B7"/>
                </a:solidFill>
                <a:latin typeface="Plus Jakarta Sans"/>
              </a:rPr>
              <a:t> allows you to decouple environment-specific configuration from your container images, so that your applications are easily portable.</a:t>
            </a:r>
          </a:p>
          <a:p>
            <a:pPr algn="l"/>
            <a:endParaRPr lang="en-US" sz="1250" b="0" dirty="0">
              <a:solidFill>
                <a:srgbClr val="99A6B7"/>
              </a:solidFill>
              <a:latin typeface="Plus Jakarta Sans"/>
            </a:endParaRPr>
          </a:p>
          <a:p>
            <a:pPr algn="l"/>
            <a:r>
              <a:rPr sz="1250" b="0" dirty="0" err="1">
                <a:solidFill>
                  <a:srgbClr val="99A6B7"/>
                </a:solidFill>
                <a:latin typeface="Plus Jakarta Sans"/>
              </a:rPr>
              <a:t>ConfigMaps</a:t>
            </a:r>
            <a:r>
              <a:rPr sz="1250" b="0" dirty="0">
                <a:solidFill>
                  <a:srgbClr val="99A6B7"/>
                </a:solidFill>
                <a:latin typeface="Plus Jakarta Sans"/>
              </a:rPr>
              <a:t> are intentionally small configuration objects. </a:t>
            </a:r>
            <a:r>
              <a:rPr sz="1250" b="0" dirty="0" err="1">
                <a:solidFill>
                  <a:srgbClr val="99A6B7"/>
                </a:solidFill>
                <a:latin typeface="Plus Jakarta Sans"/>
              </a:rPr>
              <a:t>Current Kubernetes documentation limits a ConfigMap to 1 MiB of data.</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Creating and inspecting ConfigMaps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Use YAML for declarative config or create them from literals / files</a:t>
            </a:r>
          </a:p>
        </p:txBody>
      </p:sp>
      <p:sp>
        <p:nvSpPr>
          <p:cNvPr id="11" name="TextBox 10"/>
          <p:cNvSpPr txBox="1"/>
          <p:nvPr/>
        </p:nvSpPr>
        <p:spPr>
          <a:xfrm>
            <a:off x="628650" y="1950000"/>
            <a:ext cx="5829300" cy="1891750"/>
          </a:xfrm>
          <a:prstGeom prst="rect">
            <a:avLst/>
          </a:prstGeom>
          <a:solidFill>
            <a:srgbClr val="09121F"/>
          </a:solidFill>
          <a:ln>
            <a:solidFill>
              <a:srgbClr val="314963"/>
            </a:solidFill>
          </a:ln>
        </p:spPr>
        <p:txBody>
          <a:bodyPr wrap="square" lIns="152400" tIns="101600" rIns="152400" bIns="101600">
            <a:spAutoFit/>
          </a:bodyPr>
          <a:lstStyle/>
          <a:p>
            <a:pPr algn="l"/>
            <a:r>
              <a:rPr sz="1180">
                <a:solidFill>
                  <a:srgbClr val="F5F7FA"/>
                </a:solidFill>
                <a:latin typeface="Consolas"/>
              </a:rPr>
              <a:t>apiVersion: v1
kind: ConfigMap
metadata:
  name: cm-example
data:
  city: "Ann Arbor"
  app.conf: |
    logLevel=info
    featureX=true</a:t>
            </a:r>
            <a:endParaRPr sz="1600" dirty="0">
              <a:solidFill>
                <a:srgbClr val="F5F7FA"/>
              </a:solidFill>
              <a:latin typeface="Consolas"/>
            </a:endParaRPr>
          </a:p>
        </p:txBody>
      </p:sp>
      <p:sp>
        <p:nvSpPr>
          <p:cNvPr id="12" name="Rounded Rectangle 11"/>
          <p:cNvSpPr/>
          <p:nvPr/>
        </p:nvSpPr>
        <p:spPr>
          <a:xfrm>
            <a:off x="6657592" y="1941746"/>
            <a:ext cx="5265584" cy="23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Common commands</a:t>
            </a:r>
          </a:p>
          <a:p>
            <a:pPr>
              <a:spcAft>
                <a:spcPts val="400"/>
              </a:spcAft>
              <a:defRPr sz="1600">
                <a:solidFill>
                  <a:srgbClr val="D7DEE8"/>
                </a:solidFill>
                <a:latin typeface="Plus Jakarta Sans"/>
              </a:defRPr>
            </a:pPr>
            <a:r>
              <a:rPr dirty="0"/>
              <a:t>kubectl apply -f cm.yaml</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kubectl create cm demo --from-literal=KEY=value</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kubectl get cm cm-example -o yaml</a:t>
            </a:r>
          </a:p>
        </p:txBody>
      </p:sp>
      <p:sp>
        <p:nvSpPr>
          <p:cNvPr id="13" name="TextBox 12"/>
          <p:cNvSpPr txBox="1"/>
          <p:nvPr/>
        </p:nvSpPr>
        <p:spPr>
          <a:xfrm>
            <a:off x="1025872" y="5425000"/>
            <a:ext cx="10050000" cy="577081"/>
          </a:xfrm>
          <a:prstGeom prst="rect">
            <a:avLst/>
          </a:prstGeom>
          <a:noFill/>
        </p:spPr>
        <p:txBody>
          <a:bodyPr wrap="square" lIns="27432" tIns="0" rIns="27432" bIns="0">
            <a:spAutoFit/>
          </a:bodyPr>
          <a:lstStyle/>
          <a:p>
            <a:r>
              <a:rPr lang="en-US" sz="1250" dirty="0" err="1">
                <a:solidFill>
                  <a:srgbClr val="99A6B7"/>
                </a:solidFill>
                <a:latin typeface="Plus Jakarta Sans"/>
              </a:rPr>
              <a:t>ConfigMaps</a:t>
            </a:r>
            <a:r>
              <a:rPr lang="en-US" sz="1250" dirty="0">
                <a:solidFill>
                  <a:srgbClr val="99A6B7"/>
                </a:solidFill>
                <a:latin typeface="Plus Jakarta Sans"/>
              </a:rPr>
              <a:t> can be created from YAML files, individual text files, or entire directories.</a:t>
            </a:r>
          </a:p>
          <a:p>
            <a:endParaRPr lang="en-US" sz="1250" dirty="0">
              <a:solidFill>
                <a:srgbClr val="99A6B7"/>
              </a:solidFill>
              <a:latin typeface="Plus Jakarta Sans"/>
            </a:endParaRPr>
          </a:p>
          <a:p>
            <a:pPr algn="l"/>
            <a:r>
              <a:rPr lang="en-US" sz="1250" dirty="0">
                <a:solidFill>
                  <a:srgbClr val="99A6B7"/>
                </a:solidFill>
                <a:latin typeface="Plus Jakarta Sans"/>
              </a:rPr>
              <a:t>Values in data are UTF-8 strings. binaryData exists for non-UTF8 bytes. ConfigMaps and Pods that reference them must be in the same namespace.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ConfigMap as environment variables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Inject one key or import many keys into the container environment</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configMapKeyRef</a:t>
            </a:r>
          </a:p>
          <a:p>
            <a:pPr>
              <a:spcAft>
                <a:spcPts val="400"/>
              </a:spcAft>
              <a:defRPr sz="1600">
                <a:solidFill>
                  <a:srgbClr val="D7DEE8"/>
                </a:solidFill>
                <a:latin typeface="Plus Jakarta Sans"/>
              </a:defRPr>
            </a:pPr>
            <a:r>
              <a:t>Choose one ConfigMap key</a:t>
            </a:r>
          </a:p>
          <a:p>
            <a:pPr>
              <a:spcAft>
                <a:spcPts val="400"/>
              </a:spcAft>
              <a:defRPr sz="1600">
                <a:solidFill>
                  <a:srgbClr val="D7DEE8"/>
                </a:solidFill>
                <a:latin typeface="Plus Jakarta Sans"/>
              </a:defRPr>
            </a:pPr>
            <a:r>
              <a:t>Map it to one env variable</a:t>
            </a:r>
          </a:p>
          <a:p>
            <a:pPr>
              <a:spcAft>
                <a:spcPts val="400"/>
              </a:spcAft>
              <a:defRPr sz="1600">
                <a:solidFill>
                  <a:srgbClr val="D7DEE8"/>
                </a:solidFill>
                <a:latin typeface="Plus Jakarta Sans"/>
              </a:defRPr>
            </a:pPr>
            <a:r>
              <a:t>Good when you want explicit control</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70EBB1"/>
                </a:solidFill>
                <a:latin typeface="Space Grotesk"/>
              </a:rPr>
              <a:t>envFrom</a:t>
            </a:r>
          </a:p>
          <a:p>
            <a:pPr>
              <a:spcAft>
                <a:spcPts val="400"/>
              </a:spcAft>
              <a:defRPr sz="1600">
                <a:solidFill>
                  <a:srgbClr val="D7DEE8"/>
                </a:solidFill>
                <a:latin typeface="Plus Jakarta Sans"/>
              </a:defRPr>
            </a:pPr>
            <a:r>
              <a:rPr dirty="0"/>
              <a:t>Import all valid keys</a:t>
            </a:r>
          </a:p>
          <a:p>
            <a:pPr>
              <a:spcAft>
                <a:spcPts val="400"/>
              </a:spcAft>
              <a:defRPr sz="1600">
                <a:solidFill>
                  <a:srgbClr val="D7DEE8"/>
                </a:solidFill>
                <a:latin typeface="Plus Jakarta Sans"/>
              </a:defRPr>
            </a:pPr>
            <a:r>
              <a:rPr dirty="0"/>
              <a:t>Each key becomes an env variable</a:t>
            </a:r>
          </a:p>
          <a:p>
            <a:pPr>
              <a:spcAft>
                <a:spcPts val="400"/>
              </a:spcAft>
              <a:defRPr sz="1600">
                <a:solidFill>
                  <a:srgbClr val="D7DEE8"/>
                </a:solidFill>
                <a:latin typeface="Plus Jakarta Sans"/>
              </a:defRPr>
            </a:pPr>
            <a:r>
              <a:rPr dirty="0"/>
              <a:t>Convenient for small config sets</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1900" b="1">
                <a:solidFill>
                  <a:srgbClr val="F5F7FA"/>
                </a:solidFill>
                <a:latin typeface="Space Grotesk"/>
              </a:rPr>
              <a:t>Environment-variable values are captured when the container starts.</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If a required ConfigMap or key does not exist, Pod startup can fail. For explicit configuration, configMapKeyRef is often easier to reason about than importing everything.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ConfigMap as files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Mount configuration into the container filesystem</a:t>
            </a:r>
          </a:p>
        </p:txBody>
      </p:sp>
      <p:sp>
        <p:nvSpPr>
          <p:cNvPr id="11" name="TextBox 10"/>
          <p:cNvSpPr txBox="1"/>
          <p:nvPr/>
        </p:nvSpPr>
        <p:spPr>
          <a:xfrm>
            <a:off x="628650" y="1950000"/>
            <a:ext cx="5854700" cy="1867178"/>
          </a:xfrm>
          <a:prstGeom prst="rect">
            <a:avLst/>
          </a:prstGeom>
          <a:solidFill>
            <a:srgbClr val="09121F"/>
          </a:solidFill>
          <a:ln>
            <a:solidFill>
              <a:srgbClr val="314963"/>
            </a:solidFill>
          </a:ln>
        </p:spPr>
        <p:txBody>
          <a:bodyPr wrap="square" lIns="152400" tIns="101600" rIns="152400" bIns="101600">
            <a:spAutoFit/>
          </a:bodyPr>
          <a:lstStyle/>
          <a:p>
            <a:pPr algn="l"/>
            <a:r>
              <a:rPr sz="1200">
                <a:solidFill>
                  <a:srgbClr val="F5F7FA"/>
                </a:solidFill>
                <a:latin typeface="Consolas"/>
              </a:rPr>
              <a:t>volumeMounts:
- name: app-config
  mountPath: /etc/demo
  readOnly: true
volumes:
- name: app-config
  configMap:
    name: cm-example</a:t>
            </a:r>
            <a:endParaRPr sz="1600" dirty="0">
              <a:solidFill>
                <a:srgbClr val="F5F7FA"/>
              </a:solidFill>
              <a:latin typeface="Consolas"/>
            </a:endParaRPr>
          </a:p>
        </p:txBody>
      </p:sp>
      <p:sp>
        <p:nvSpPr>
          <p:cNvPr id="12" name="Rounded Rectangle 11"/>
          <p:cNvSpPr/>
          <p:nvPr/>
        </p:nvSpPr>
        <p:spPr>
          <a:xfrm>
            <a:off x="6657592" y="1941746"/>
            <a:ext cx="5265584" cy="23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What the container sees</a:t>
            </a:r>
          </a:p>
          <a:p>
            <a:pPr>
              <a:spcAft>
                <a:spcPts val="400"/>
              </a:spcAft>
              <a:defRPr sz="1600">
                <a:solidFill>
                  <a:srgbClr val="D7DEE8"/>
                </a:solidFill>
                <a:latin typeface="Plus Jakarta Sans"/>
              </a:defRPr>
            </a:pPr>
            <a:r>
              <a:rPr dirty="0"/>
              <a:t>Each ConfigMap key becomes a file.</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The file contents are the key values.</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The application reads / reloads those files.</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lang="en-US" sz="1250" dirty="0">
                <a:solidFill>
                  <a:srgbClr val="99A6B7"/>
                </a:solidFill>
                <a:latin typeface="Plus Jakarta Sans"/>
              </a:rPr>
              <a:t>Multiple Pods can mount the same ConfigMap. Each container that needs it declares its own volumeMount, while the Pod declares the volume once.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What happens when a ConfigMap changes?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Update behavior depends on how the Pod consumes it</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FF7882"/>
                </a:solidFill>
                <a:latin typeface="Space Grotesk"/>
              </a:rPr>
              <a:t>Environment variables</a:t>
            </a:r>
          </a:p>
          <a:p>
            <a:pPr>
              <a:spcAft>
                <a:spcPts val="400"/>
              </a:spcAft>
              <a:defRPr sz="1700">
                <a:solidFill>
                  <a:srgbClr val="D7DEE8"/>
                </a:solidFill>
                <a:latin typeface="Plus Jakarta Sans"/>
              </a:defRPr>
            </a:pPr>
            <a:r>
              <a:rPr dirty="0"/>
              <a:t>Running process keeps old value</a:t>
            </a:r>
          </a:p>
          <a:p>
            <a:pPr>
              <a:spcAft>
                <a:spcPts val="400"/>
              </a:spcAft>
              <a:defRPr sz="1700">
                <a:solidFill>
                  <a:srgbClr val="D7DEE8"/>
                </a:solidFill>
                <a:latin typeface="Plus Jakarta Sans"/>
              </a:defRPr>
            </a:pPr>
            <a:r>
              <a:rPr dirty="0"/>
              <a:t>No automatic refresh</a:t>
            </a:r>
          </a:p>
          <a:p>
            <a:pPr>
              <a:spcAft>
                <a:spcPts val="400"/>
              </a:spcAft>
              <a:defRPr sz="1700">
                <a:solidFill>
                  <a:srgbClr val="D7DEE8"/>
                </a:solidFill>
                <a:latin typeface="Plus Jakarta Sans"/>
              </a:defRPr>
            </a:pPr>
            <a:r>
              <a:rPr dirty="0"/>
              <a:t>Restart / rollout needed</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Mounted ConfigMap files</a:t>
            </a:r>
            <a:endParaRPr sz="1800" b="1" dirty="0">
              <a:solidFill>
                <a:srgbClr val="70EBB1"/>
              </a:solidFill>
              <a:latin typeface="Space Grotesk"/>
            </a:endParaRPr>
          </a:p>
          <a:p>
            <a:pPr>
              <a:spcAft>
                <a:spcPts val="400"/>
              </a:spcAft>
              <a:defRPr sz="1700">
                <a:solidFill>
                  <a:srgbClr val="D7DEE8"/>
                </a:solidFill>
                <a:latin typeface="Plus Jakarta Sans"/>
              </a:defRPr>
            </a:pPr>
            <a:r>
              <a:rPr dirty="0"/>
              <a:t>Projected files update eventually</a:t>
            </a:r>
          </a:p>
          <a:p>
            <a:pPr>
              <a:spcAft>
                <a:spcPts val="400"/>
              </a:spcAft>
              <a:defRPr sz="1700">
                <a:solidFill>
                  <a:srgbClr val="D7DEE8"/>
                </a:solidFill>
                <a:latin typeface="Plus Jakarta Sans"/>
              </a:defRPr>
            </a:pPr>
            <a:r>
              <a:rPr dirty="0"/>
              <a:t>Application must re-read / reload</a:t>
            </a:r>
          </a:p>
          <a:p>
            <a:pPr>
              <a:spcAft>
                <a:spcPts val="400"/>
              </a:spcAft>
              <a:defRPr sz="1700">
                <a:solidFill>
                  <a:srgbClr val="D7DEE8"/>
                </a:solidFill>
                <a:latin typeface="Plus Jakarta Sans"/>
              </a:defRPr>
            </a:pPr>
            <a:r>
              <a:rPr dirty="0"/>
              <a:t>subPath mounts do not receive updates</a:t>
            </a:r>
          </a:p>
        </p:txBody>
      </p:sp>
      <p:sp>
        <p:nvSpPr>
          <p:cNvPr id="13" name="TextBox 12"/>
          <p:cNvSpPr txBox="1"/>
          <p:nvPr/>
        </p:nvSpPr>
        <p:spPr>
          <a:xfrm>
            <a:off x="628650" y="4150000"/>
            <a:ext cx="10001250" cy="307777"/>
          </a:xfrm>
          <a:prstGeom prst="rect">
            <a:avLst/>
          </a:prstGeom>
          <a:noFill/>
        </p:spPr>
        <p:txBody>
          <a:bodyPr wrap="square" lIns="27432" tIns="0" rIns="27432" bIns="0">
            <a:spAutoFit/>
          </a:bodyPr>
          <a:lstStyle/>
          <a:p>
            <a:pPr algn="ctr"/>
            <a:r>
              <a:rPr lang="en-US" sz="2000" b="1" dirty="0">
                <a:solidFill>
                  <a:srgbClr val="51E0FF"/>
                </a:solidFill>
                <a:latin typeface="Space Grotesk"/>
              </a:rPr>
              <a:t>T</a:t>
            </a:r>
            <a:r>
              <a:rPr sz="2000" b="1" dirty="0">
                <a:solidFill>
                  <a:srgbClr val="51E0FF"/>
                </a:solidFill>
                <a:latin typeface="Space Grotesk"/>
              </a:rPr>
              <a:t>he consumption method matters.</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Mounted updates are eventual because kubelet synchronizes the projected data. Environment variables are not changed inside an already-running process.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266700"/>
            <a:ext cx="11481435" cy="581025"/>
          </a:xfrm>
          <a:prstGeom prst="rect">
            <a:avLst/>
          </a:prstGeom>
          <a:noFill/>
        </p:spPr>
        <p:txBody>
          <a:bodyPr wrap="square" lIns="27432" tIns="0" rIns="27432" bIns="0">
            <a:spAutoFit/>
          </a:bodyPr>
          <a:lstStyle/>
          <a:p>
            <a:pPr algn="l"/>
            <a:r>
              <a:rPr sz="2900" b="1" dirty="0">
                <a:solidFill>
                  <a:srgbClr val="F5F7FA"/>
                </a:solidFill>
                <a:latin typeface="Space Grotesk"/>
              </a:rPr>
              <a:t>Hands-on lab — </a:t>
            </a:r>
            <a:r>
              <a:rPr sz="2900" b="1" dirty="0" err="1">
                <a:solidFill>
                  <a:srgbClr val="F5F7FA"/>
                </a:solidFill>
                <a:latin typeface="Space Grotesk"/>
              </a:rPr>
              <a:t>ConfigMaps</a:t>
            </a:r>
            <a:r>
              <a:rPr sz="2900" b="1" dirty="0">
                <a:solidFill>
                  <a:srgbClr val="F5F7FA"/>
                </a:solidFill>
                <a:latin typeface="Space Grotesk"/>
              </a:rPr>
              <a:t> Part 1</a:t>
            </a:r>
          </a:p>
        </p:txBody>
      </p:sp>
      <p:sp>
        <p:nvSpPr>
          <p:cNvPr id="10" name="TextBox 9"/>
          <p:cNvSpPr txBox="1"/>
          <p:nvPr/>
        </p:nvSpPr>
        <p:spPr>
          <a:xfrm>
            <a:off x="628650" y="838200"/>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Inject a key as an environment variable</a:t>
            </a:r>
          </a:p>
        </p:txBody>
      </p:sp>
      <p:sp>
        <p:nvSpPr>
          <p:cNvPr id="11" name="TextBox 10"/>
          <p:cNvSpPr txBox="1"/>
          <p:nvPr/>
        </p:nvSpPr>
        <p:spPr>
          <a:xfrm>
            <a:off x="628650" y="1210545"/>
            <a:ext cx="10648950" cy="3290960"/>
          </a:xfrm>
          <a:prstGeom prst="rect">
            <a:avLst/>
          </a:prstGeom>
          <a:solidFill>
            <a:srgbClr val="09121F"/>
          </a:solidFill>
          <a:ln>
            <a:solidFill>
              <a:srgbClr val="314963"/>
            </a:solidFill>
          </a:ln>
        </p:spPr>
        <p:txBody>
          <a:bodyPr wrap="square" lIns="152400" tIns="101600" rIns="152400" bIns="101600">
            <a:spAutoFit/>
          </a:bodyPr>
          <a:lstStyle/>
          <a:p>
            <a:pPr algn="l"/>
            <a:r>
              <a:rPr sz="1320" dirty="0">
                <a:solidFill>
                  <a:srgbClr val="F5F7FA"/>
                </a:solidFill>
                <a:latin typeface="Consolas"/>
              </a:rPr>
              <a:t># Create the </a:t>
            </a:r>
            <a:r>
              <a:rPr sz="1320" dirty="0" err="1">
                <a:solidFill>
                  <a:srgbClr val="F5F7FA"/>
                </a:solidFill>
                <a:latin typeface="Consolas"/>
              </a:rPr>
              <a:t>ConfigMap</a:t>
            </a:r>
            <a:r>
              <a:rPr sz="1320" dirty="0">
                <a:solidFill>
                  <a:srgbClr val="F5F7FA"/>
                </a:solidFill>
                <a:latin typeface="Consolas"/>
              </a:rPr>
              <a:t>
</a:t>
            </a:r>
            <a:r>
              <a:rPr sz="1320" dirty="0" err="1">
                <a:solidFill>
                  <a:srgbClr val="F5F7FA"/>
                </a:solidFill>
                <a:latin typeface="Consolas"/>
              </a:rPr>
              <a:t>kubectl</a:t>
            </a:r>
            <a:r>
              <a:rPr sz="1320" dirty="0">
                <a:solidFill>
                  <a:srgbClr val="F5F7FA"/>
                </a:solidFill>
                <a:latin typeface="Consolas"/>
              </a:rPr>
              <a:t> apply -f </a:t>
            </a:r>
            <a:r>
              <a:rPr sz="1320" dirty="0" err="1">
                <a:solidFill>
                  <a:srgbClr val="F5F7FA"/>
                </a:solidFill>
                <a:latin typeface="Consolas"/>
              </a:rPr>
              <a:t>cm.yaml</a:t>
            </a:r>
            <a:r>
              <a:rPr sz="1320" dirty="0">
                <a:solidFill>
                  <a:srgbClr val="F5F7FA"/>
                </a:solidFill>
                <a:latin typeface="Consolas"/>
              </a:rPr>
              <a:t>
</a:t>
            </a:r>
            <a:r>
              <a:rPr sz="1320" dirty="0" err="1">
                <a:solidFill>
                  <a:srgbClr val="F5F7FA"/>
                </a:solidFill>
                <a:latin typeface="Consolas"/>
              </a:rPr>
              <a:t>kubectl</a:t>
            </a:r>
            <a:r>
              <a:rPr sz="1320" dirty="0">
                <a:solidFill>
                  <a:srgbClr val="F5F7FA"/>
                </a:solidFill>
                <a:latin typeface="Consolas"/>
              </a:rPr>
              <a:t> get cm cm-example -o </a:t>
            </a:r>
            <a:r>
              <a:rPr sz="1320" dirty="0" err="1">
                <a:solidFill>
                  <a:srgbClr val="F5F7FA"/>
                </a:solidFill>
                <a:latin typeface="Consolas"/>
              </a:rPr>
              <a:t>yaml</a:t>
            </a:r>
            <a:r>
              <a:rPr sz="1320" dirty="0">
                <a:solidFill>
                  <a:srgbClr val="F5F7FA"/>
                </a:solidFill>
                <a:latin typeface="Consolas"/>
              </a:rPr>
              <a:t>
# Create the </a:t>
            </a:r>
            <a:r>
              <a:rPr sz="1320" dirty="0" err="1">
                <a:solidFill>
                  <a:srgbClr val="F5F7FA"/>
                </a:solidFill>
                <a:latin typeface="Consolas"/>
              </a:rPr>
              <a:t>BusyBox</a:t>
            </a:r>
            <a:r>
              <a:rPr sz="1320" dirty="0">
                <a:solidFill>
                  <a:srgbClr val="F5F7FA"/>
                </a:solidFill>
                <a:latin typeface="Consolas"/>
              </a:rPr>
              <a:t> Pod
</a:t>
            </a:r>
            <a:r>
              <a:rPr sz="1320" dirty="0" err="1">
                <a:solidFill>
                  <a:srgbClr val="F5F7FA"/>
                </a:solidFill>
                <a:latin typeface="Consolas"/>
              </a:rPr>
              <a:t>kubectl</a:t>
            </a:r>
            <a:r>
              <a:rPr sz="1320" dirty="0">
                <a:solidFill>
                  <a:srgbClr val="F5F7FA"/>
                </a:solidFill>
                <a:latin typeface="Consolas"/>
              </a:rPr>
              <a:t> apply -f </a:t>
            </a:r>
            <a:r>
              <a:rPr sz="1320" dirty="0" err="1">
                <a:solidFill>
                  <a:srgbClr val="F5F7FA"/>
                </a:solidFill>
                <a:latin typeface="Consolas"/>
              </a:rPr>
              <a:t>pod.yaml</a:t>
            </a:r>
            <a:r>
              <a:rPr sz="1320" dirty="0">
                <a:solidFill>
                  <a:srgbClr val="F5F7FA"/>
                </a:solidFill>
                <a:latin typeface="Consolas"/>
              </a:rPr>
              <a:t>
# Read the injected value
</a:t>
            </a:r>
            <a:r>
              <a:rPr sz="1320" dirty="0" err="1">
                <a:solidFill>
                  <a:srgbClr val="F5F7FA"/>
                </a:solidFill>
                <a:latin typeface="Consolas"/>
              </a:rPr>
              <a:t>kubectl</a:t>
            </a:r>
            <a:r>
              <a:rPr sz="1320" dirty="0">
                <a:solidFill>
                  <a:srgbClr val="F5F7FA"/>
                </a:solidFill>
                <a:latin typeface="Consolas"/>
              </a:rPr>
              <a:t> exec </a:t>
            </a:r>
            <a:r>
              <a:rPr sz="1320" dirty="0" err="1">
                <a:solidFill>
                  <a:srgbClr val="F5F7FA"/>
                </a:solidFill>
                <a:latin typeface="Consolas"/>
              </a:rPr>
              <a:t>mybox</a:t>
            </a:r>
            <a:r>
              <a:rPr sz="1320" dirty="0">
                <a:solidFill>
                  <a:srgbClr val="F5F7FA"/>
                </a:solidFill>
                <a:latin typeface="Consolas"/>
              </a:rPr>
              <a:t> -- </a:t>
            </a:r>
            <a:r>
              <a:rPr sz="1320" dirty="0" err="1">
                <a:solidFill>
                  <a:srgbClr val="F5F7FA"/>
                </a:solidFill>
                <a:latin typeface="Consolas"/>
              </a:rPr>
              <a:t>sh</a:t>
            </a:r>
            <a:r>
              <a:rPr sz="1320" dirty="0">
                <a:solidFill>
                  <a:srgbClr val="F5F7FA"/>
                </a:solidFill>
                <a:latin typeface="Consolas"/>
              </a:rPr>
              <a:t> -c 'echo $CITY'
# Change city in the </a:t>
            </a:r>
            <a:r>
              <a:rPr sz="1320" dirty="0" err="1">
                <a:solidFill>
                  <a:srgbClr val="F5F7FA"/>
                </a:solidFill>
                <a:latin typeface="Consolas"/>
              </a:rPr>
              <a:t>ConfigMap</a:t>
            </a:r>
            <a:r>
              <a:rPr sz="1320" dirty="0">
                <a:solidFill>
                  <a:srgbClr val="F5F7FA"/>
                </a:solidFill>
                <a:latin typeface="Consolas"/>
              </a:rPr>
              <a:t>
</a:t>
            </a:r>
            <a:r>
              <a:rPr sz="1320" dirty="0" err="1">
                <a:solidFill>
                  <a:srgbClr val="F5F7FA"/>
                </a:solidFill>
                <a:latin typeface="Consolas"/>
              </a:rPr>
              <a:t>kubectl</a:t>
            </a:r>
            <a:r>
              <a:rPr sz="1320" dirty="0">
                <a:solidFill>
                  <a:srgbClr val="F5F7FA"/>
                </a:solidFill>
                <a:latin typeface="Consolas"/>
              </a:rPr>
              <a:t> edit cm cm-example
# Check the running container again
</a:t>
            </a:r>
            <a:r>
              <a:rPr sz="1320" dirty="0" err="1">
                <a:solidFill>
                  <a:srgbClr val="F5F7FA"/>
                </a:solidFill>
                <a:latin typeface="Consolas"/>
              </a:rPr>
              <a:t>kubectl</a:t>
            </a:r>
            <a:r>
              <a:rPr sz="1320" dirty="0">
                <a:solidFill>
                  <a:srgbClr val="F5F7FA"/>
                </a:solidFill>
                <a:latin typeface="Consolas"/>
              </a:rPr>
              <a:t> exec </a:t>
            </a:r>
            <a:r>
              <a:rPr sz="1320" dirty="0" err="1">
                <a:solidFill>
                  <a:srgbClr val="F5F7FA"/>
                </a:solidFill>
                <a:latin typeface="Consolas"/>
              </a:rPr>
              <a:t>mybox</a:t>
            </a:r>
            <a:r>
              <a:rPr sz="1320" dirty="0">
                <a:solidFill>
                  <a:srgbClr val="F5F7FA"/>
                </a:solidFill>
                <a:latin typeface="Consolas"/>
              </a:rPr>
              <a:t> -- </a:t>
            </a:r>
            <a:r>
              <a:rPr sz="1320" dirty="0" err="1">
                <a:solidFill>
                  <a:srgbClr val="F5F7FA"/>
                </a:solidFill>
                <a:latin typeface="Consolas"/>
              </a:rPr>
              <a:t>sh</a:t>
            </a:r>
            <a:r>
              <a:rPr sz="1320" dirty="0">
                <a:solidFill>
                  <a:srgbClr val="F5F7FA"/>
                </a:solidFill>
                <a:latin typeface="Consolas"/>
              </a:rPr>
              <a:t> -c 'echo $CITY'</a:t>
            </a:r>
          </a:p>
        </p:txBody>
      </p:sp>
      <p:sp>
        <p:nvSpPr>
          <p:cNvPr id="12" name="TextBox 11"/>
          <p:cNvSpPr txBox="1"/>
          <p:nvPr/>
        </p:nvSpPr>
        <p:spPr>
          <a:xfrm>
            <a:off x="628650" y="4550000"/>
            <a:ext cx="10001250" cy="276999"/>
          </a:xfrm>
          <a:prstGeom prst="rect">
            <a:avLst/>
          </a:prstGeom>
          <a:noFill/>
        </p:spPr>
        <p:txBody>
          <a:bodyPr wrap="square" lIns="27432" tIns="0" rIns="27432" bIns="0">
            <a:spAutoFit/>
          </a:bodyPr>
          <a:lstStyle/>
          <a:p>
            <a:pPr algn="ctr"/>
            <a:r>
              <a:rPr lang="en-US" b="1" dirty="0">
                <a:solidFill>
                  <a:srgbClr val="51E0FF"/>
                </a:solidFill>
                <a:latin typeface="Space Grotesk"/>
              </a:rPr>
              <a:t>Challenge: why does the environment variable still show the old value after the ConfigMap was edited?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ConfigMaps Part 2</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Mount a ConfigMap as files and observe an update</a:t>
            </a:r>
          </a:p>
        </p:txBody>
      </p:sp>
      <p:sp>
        <p:nvSpPr>
          <p:cNvPr id="11" name="TextBox 10"/>
          <p:cNvSpPr txBox="1"/>
          <p:nvPr/>
        </p:nvSpPr>
        <p:spPr>
          <a:xfrm>
            <a:off x="628649" y="1900000"/>
            <a:ext cx="5856371" cy="2805896"/>
          </a:xfrm>
          <a:prstGeom prst="rect">
            <a:avLst/>
          </a:prstGeom>
          <a:solidFill>
            <a:srgbClr val="09121F"/>
          </a:solidFill>
          <a:ln>
            <a:solidFill>
              <a:srgbClr val="314963"/>
            </a:solidFill>
          </a:ln>
        </p:spPr>
        <p:txBody>
          <a:bodyPr wrap="square" lIns="152400" tIns="101600" rIns="152400" bIns="101600">
            <a:spAutoFit/>
          </a:bodyPr>
          <a:lstStyle/>
          <a:p>
            <a:pPr algn="l"/>
            <a:r>
              <a:rPr sz="1280">
                <a:solidFill>
                  <a:srgbClr val="F5F7FA"/>
                </a:solidFill>
                <a:latin typeface="Consolas"/>
              </a:rPr>
              <a:t># Mount cm-example at /etc/demo in the Pod
kubectl apply -f pod-config-volume.yaml
# Read the projected file
kubectl exec mybox -- cat /etc/demo/app.conf
# Update app.conf in the ConfigMap
kubectl edit cm cm-example
# Re-check after kubelet synchronization
kubectl exec mybox -- cat /etc/demo/app.conf</a:t>
            </a:r>
            <a:endParaRPr sz="1300" dirty="0">
              <a:solidFill>
                <a:srgbClr val="F5F7FA"/>
              </a:solidFill>
              <a:latin typeface="Consolas"/>
            </a:endParaRPr>
          </a:p>
        </p:txBody>
      </p:sp>
      <p:sp>
        <p:nvSpPr>
          <p:cNvPr id="12" name="Rounded Rectangle 11"/>
          <p:cNvSpPr/>
          <p:nvPr/>
        </p:nvSpPr>
        <p:spPr>
          <a:xfrm>
            <a:off x="7463324" y="1885950"/>
            <a:ext cx="3900000"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Expected learning</a:t>
            </a:r>
          </a:p>
          <a:p>
            <a:pPr>
              <a:spcAft>
                <a:spcPts val="400"/>
              </a:spcAft>
              <a:defRPr sz="1600">
                <a:solidFill>
                  <a:srgbClr val="D7DEE8"/>
                </a:solidFill>
                <a:latin typeface="Plus Jakarta Sans"/>
              </a:defRPr>
            </a:pPr>
            <a:r>
              <a:t>The ConfigMap appears as files.</a:t>
            </a:r>
          </a:p>
          <a:p>
            <a:pPr>
              <a:spcAft>
                <a:spcPts val="400"/>
              </a:spcAft>
              <a:defRPr sz="1600">
                <a:solidFill>
                  <a:srgbClr val="D7DEE8"/>
                </a:solidFill>
                <a:latin typeface="Plus Jakarta Sans"/>
              </a:defRPr>
            </a:pPr>
            <a:r>
              <a:t>Mounted data updates eventually.</a:t>
            </a:r>
          </a:p>
          <a:p>
            <a:pPr>
              <a:spcAft>
                <a:spcPts val="400"/>
              </a:spcAft>
              <a:defRPr sz="1600">
                <a:solidFill>
                  <a:srgbClr val="D7DEE8"/>
                </a:solidFill>
                <a:latin typeface="Plus Jakarta Sans"/>
              </a:defRPr>
            </a:pPr>
            <a:r>
              <a:t>The application must notice / reload the changed file.</a:t>
            </a:r>
          </a:p>
          <a:p>
            <a:pPr>
              <a:spcAft>
                <a:spcPts val="400"/>
              </a:spcAft>
              <a:defRPr sz="1600">
                <a:solidFill>
                  <a:srgbClr val="D7DEE8"/>
                </a:solidFill>
                <a:latin typeface="Plus Jakarta Sans"/>
              </a:defRPr>
            </a:pPr>
            <a:r>
              <a:t>A subPath mount is an important exception.</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The kubelet projection update is eventual, so </a:t>
            </a:r>
            <a:r>
              <a:rPr lang="en-US" sz="1250" b="0" dirty="0">
                <a:solidFill>
                  <a:srgbClr val="99A6B7"/>
                </a:solidFill>
                <a:latin typeface="Plus Jakarta Sans"/>
              </a:rPr>
              <a:t>a </a:t>
            </a:r>
            <a:r>
              <a:rPr sz="1250" b="0" dirty="0">
                <a:solidFill>
                  <a:srgbClr val="99A6B7"/>
                </a:solidFill>
                <a:latin typeface="Plus Jakarta Sans"/>
              </a:rPr>
              <a:t>short synchronization delay </a:t>
            </a:r>
            <a:r>
              <a:rPr lang="en-US" sz="1250" b="0" dirty="0">
                <a:solidFill>
                  <a:srgbClr val="99A6B7"/>
                </a:solidFill>
                <a:latin typeface="Plus Jakarta Sans"/>
              </a:rPr>
              <a:t>is expected</a:t>
            </a:r>
            <a:r>
              <a:rPr sz="1250" b="0" dirty="0">
                <a:solidFill>
                  <a:srgbClr val="99A6B7"/>
                </a:solidFill>
                <a:latin typeface="Plus Jakarta Sans"/>
              </a:rPr>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Knowledge check + mental model</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If these answers are clear, the ConfigMaps section is doing its job</a:t>
            </a:r>
          </a:p>
        </p:txBody>
      </p:sp>
      <p:sp>
        <p:nvSpPr>
          <p:cNvPr id="11" name="TextBox 10"/>
          <p:cNvSpPr txBox="1"/>
          <p:nvPr/>
        </p:nvSpPr>
        <p:spPr>
          <a:xfrm>
            <a:off x="628650" y="1900000"/>
            <a:ext cx="5600000" cy="3000000"/>
          </a:xfrm>
          <a:prstGeom prst="rect">
            <a:avLst/>
          </a:prstGeom>
          <a:noFill/>
        </p:spPr>
        <p:txBody>
          <a:bodyPr wrap="square" lIns="18288" tIns="0" rIns="18288" bIns="0">
            <a:spAutoFit/>
          </a:bodyPr>
          <a:lstStyle/>
          <a:p>
            <a:pPr>
              <a:spcAft>
                <a:spcPts val="700"/>
              </a:spcAft>
              <a:defRPr sz="1600">
                <a:solidFill>
                  <a:srgbClr val="D7DEE8"/>
                </a:solidFill>
                <a:latin typeface="Plus Jakarta Sans"/>
              </a:defRPr>
            </a:pPr>
            <a:r>
              <a:t>• What kind of data belongs in a ConfigMap?</a:t>
            </a:r>
          </a:p>
          <a:p>
            <a:pPr>
              <a:spcAft>
                <a:spcPts val="700"/>
              </a:spcAft>
              <a:defRPr sz="1600">
                <a:solidFill>
                  <a:srgbClr val="D7DEE8"/>
                </a:solidFill>
                <a:latin typeface="Plus Jakarta Sans"/>
              </a:defRPr>
            </a:pPr>
            <a:r>
              <a:t>• Name two ways a Pod can consume a ConfigMap.</a:t>
            </a:r>
          </a:p>
          <a:p>
            <a:pPr>
              <a:spcAft>
                <a:spcPts val="700"/>
              </a:spcAft>
              <a:defRPr sz="1600">
                <a:solidFill>
                  <a:srgbClr val="D7DEE8"/>
                </a:solidFill>
                <a:latin typeface="Plus Jakarta Sans"/>
              </a:defRPr>
            </a:pPr>
            <a:r>
              <a:t>• Does an environment variable update automatically?</a:t>
            </a:r>
          </a:p>
          <a:p>
            <a:pPr>
              <a:spcAft>
                <a:spcPts val="700"/>
              </a:spcAft>
              <a:defRPr sz="1600">
                <a:solidFill>
                  <a:srgbClr val="D7DEE8"/>
                </a:solidFill>
                <a:latin typeface="Plus Jakarta Sans"/>
              </a:defRPr>
            </a:pPr>
            <a:r>
              <a:t>• Do mounted ConfigMap files update?</a:t>
            </a:r>
          </a:p>
          <a:p>
            <a:pPr>
              <a:spcAft>
                <a:spcPts val="700"/>
              </a:spcAft>
              <a:defRPr sz="1600">
                <a:solidFill>
                  <a:srgbClr val="D7DEE8"/>
                </a:solidFill>
                <a:latin typeface="Plus Jakarta Sans"/>
              </a:defRPr>
            </a:pPr>
            <a:r>
              <a:t>• Can a Pod reference a ConfigMap in another namespace?</a:t>
            </a:r>
          </a:p>
          <a:p>
            <a:pPr>
              <a:spcAft>
                <a:spcPts val="700"/>
              </a:spcAft>
              <a:defRPr sz="1600">
                <a:solidFill>
                  <a:srgbClr val="D7DEE8"/>
                </a:solidFill>
                <a:latin typeface="Plus Jakarta Sans"/>
              </a:defRPr>
            </a:pPr>
            <a:r>
              <a:t>• Why should large application data not live in a ConfigMap?</a:t>
            </a:r>
          </a:p>
          <a:p>
            <a:pPr>
              <a:spcAft>
                <a:spcPts val="700"/>
              </a:spcAft>
              <a:defRPr sz="1600">
                <a:solidFill>
                  <a:srgbClr val="D7DEE8"/>
                </a:solidFill>
                <a:latin typeface="Plus Jakarta Sans"/>
              </a:defRPr>
            </a:pPr>
            <a:endParaRPr/>
          </a:p>
        </p:txBody>
      </p:sp>
      <p:sp>
        <p:nvSpPr>
          <p:cNvPr id="12" name="Rounded Rectangle 11"/>
          <p:cNvSpPr/>
          <p:nvPr/>
        </p:nvSpPr>
        <p:spPr>
          <a:xfrm>
            <a:off x="7920810" y="1257200"/>
            <a:ext cx="3155062" cy="36428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Mental model</a:t>
            </a:r>
          </a:p>
          <a:p>
            <a:pPr>
              <a:spcAft>
                <a:spcPts val="400"/>
              </a:spcAft>
              <a:defRPr sz="1600">
                <a:solidFill>
                  <a:srgbClr val="D7DEE8"/>
                </a:solidFill>
                <a:latin typeface="Plus Jakarta Sans"/>
              </a:defRPr>
            </a:pPr>
            <a:r>
              <a:rPr dirty="0"/>
              <a:t>ConfigMap</a:t>
            </a:r>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a:t>env variables</a:t>
            </a:r>
          </a:p>
          <a:p>
            <a:pPr>
              <a:spcAft>
                <a:spcPts val="400"/>
              </a:spcAft>
              <a:defRPr sz="1600">
                <a:solidFill>
                  <a:srgbClr val="D7DEE8"/>
                </a:solidFill>
                <a:latin typeface="Plus Jakarta Sans"/>
              </a:defRPr>
            </a:pPr>
            <a:r>
              <a:rPr dirty="0"/>
              <a:t>or</a:t>
            </a:r>
          </a:p>
          <a:p>
            <a:pPr>
              <a:spcAft>
                <a:spcPts val="400"/>
              </a:spcAft>
              <a:defRPr sz="1600">
                <a:solidFill>
                  <a:srgbClr val="D7DEE8"/>
                </a:solidFill>
                <a:latin typeface="Plus Jakarta Sans"/>
              </a:defRPr>
            </a:pPr>
            <a:r>
              <a:rPr dirty="0"/>
              <a:t>mounted files</a:t>
            </a:r>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err="1"/>
              <a:t>Pod / application</a:t>
            </a:r>
            <a:endParaRPr dirty="0"/>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a:t>Update behavior</a:t>
            </a:r>
          </a:p>
          <a:p>
            <a:pPr>
              <a:spcAft>
                <a:spcPts val="400"/>
              </a:spcAft>
              <a:defRPr sz="1600">
                <a:solidFill>
                  <a:srgbClr val="D7DEE8"/>
                </a:solidFill>
                <a:latin typeface="Plus Jakarta Sans"/>
              </a:defRPr>
            </a:pPr>
            <a:r>
              <a:rPr dirty="0"/>
              <a:t>depends on consumption method</a:t>
            </a:r>
          </a:p>
          <a:p>
            <a:pPr>
              <a:spcAft>
                <a:spcPts val="400"/>
              </a:spcAft>
              <a:defRPr sz="1600">
                <a:solidFill>
                  <a:srgbClr val="D7DEE8"/>
                </a:solidFill>
                <a:latin typeface="Plus Jakarta Sans"/>
              </a:defRPr>
            </a:pPr>
            <a:endParaRPr dirty="0"/>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Transition to Secrets: the consumption patterns look similar, but the data classification and security expectations are different.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Secrets</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r>
              <a:rPr sz="1600" b="0" dirty="0">
                <a:solidFill>
                  <a:srgbClr val="51E0FF"/>
                </a:solidFill>
                <a:latin typeface="Plus Jakarta Sans"/>
              </a:rPr>
              <a:t>Provide sensitive data to workloads without </a:t>
            </a:r>
            <a:r>
              <a:rPr lang="en-US" sz="1600" dirty="0">
                <a:solidFill>
                  <a:srgbClr val="51E0FF"/>
                </a:solidFill>
                <a:latin typeface="Plus Jakarta Sans"/>
              </a:rPr>
              <a:t>embedding</a:t>
            </a:r>
            <a:r>
              <a:rPr sz="1600" b="0" dirty="0">
                <a:solidFill>
                  <a:srgbClr val="51E0FF"/>
                </a:solidFill>
                <a:latin typeface="Plus Jakarta Sans"/>
              </a:rPr>
              <a:t> it into images</a:t>
            </a:r>
          </a:p>
        </p:txBody>
      </p:sp>
      <p:sp>
        <p:nvSpPr>
          <p:cNvPr id="12" name="TextBox 11"/>
          <p:cNvSpPr txBox="1"/>
          <p:nvPr/>
        </p:nvSpPr>
        <p:spPr>
          <a:xfrm>
            <a:off x="1025872" y="5425000"/>
            <a:ext cx="10050000" cy="577081"/>
          </a:xfrm>
          <a:prstGeom prst="rect">
            <a:avLst/>
          </a:prstGeom>
          <a:noFill/>
        </p:spPr>
        <p:txBody>
          <a:bodyPr wrap="square" lIns="27432" tIns="0" rIns="27432" bIns="0">
            <a:spAutoFit/>
          </a:bodyPr>
          <a:lstStyle/>
          <a:p>
            <a:r>
              <a:rPr lang="en-US" sz="1250" dirty="0">
                <a:solidFill>
                  <a:srgbClr val="99A6B7"/>
                </a:solidFill>
                <a:latin typeface="Plus Jakarta Sans"/>
              </a:rPr>
              <a:t>A Secret is an object designed to store sensitive data, such as passwords, OAuth tokens, and SSH keys. Storing this information in a Secret is safer and more flexible than putting it directly into a Pod definition or a container image </a:t>
            </a:r>
            <a:r>
              <a:rPr lang="en-US" sz="1250" b="0" dirty="0">
                <a:solidFill>
                  <a:srgbClr val="99A6B7"/>
                </a:solidFill>
                <a:latin typeface="Plus Jakarta Sans"/>
              </a:rPr>
              <a:t>but the object kind does not make the data magically encrypted.</a:t>
            </a:r>
            <a:br>
              <a:rPr lang="en-US" sz="1250" dirty="0">
                <a:solidFill>
                  <a:srgbClr val="99A6B7"/>
                </a:solidFill>
                <a:latin typeface="Plus Jakarta Sans"/>
              </a:rPr>
            </a:br>
            <a:endParaRPr lang="en-US" sz="1250" dirty="0">
              <a:solidFill>
                <a:srgbClr val="99A6B7"/>
              </a:solidFill>
              <a:latin typeface="Plus Jakarta Sans"/>
            </a:endParaRPr>
          </a:p>
        </p:txBody>
      </p:sp>
      <p:sp>
        <p:nvSpPr>
          <p:cNvPr id="6" name="TextBox 5">
            <a:extLst>
              <a:ext uri="{FF2B5EF4-FFF2-40B4-BE49-F238E27FC236}">
                <a16:creationId xmlns:a16="http://schemas.microsoft.com/office/drawing/2014/main" id="{4748AAE4-9ED6-13F9-9FA8-AB4304CEA3E7}"/>
              </a:ext>
            </a:extLst>
          </p:cNvPr>
          <p:cNvSpPr txBox="1"/>
          <p:nvPr/>
        </p:nvSpPr>
        <p:spPr>
          <a:xfrm>
            <a:off x="628650" y="1881137"/>
            <a:ext cx="9144000" cy="677108"/>
          </a:xfrm>
          <a:prstGeom prst="rect">
            <a:avLst/>
          </a:prstGeom>
          <a:noFill/>
        </p:spPr>
        <p:txBody>
          <a:bodyPr wrap="square" anchor="t">
            <a:spAutoFit/>
          </a:bodyPr>
          <a:lstStyle/>
          <a:p>
            <a:pPr algn="l"/>
            <a:r>
              <a:rPr sz="1900" b="0" dirty="0">
                <a:solidFill>
                  <a:srgbClr val="CCD3DE"/>
                </a:solidFill>
                <a:latin typeface="Plus Jakarta Sans"/>
              </a:rPr>
              <a:t>A Secret stores small amounts of sensitive information such as passwords, tokens, or keys. Pods reference the Secret only </a:t>
            </a:r>
            <a:r>
              <a:rPr lang="en-US" sz="1900" b="0" dirty="0">
                <a:solidFill>
                  <a:srgbClr val="CCD3DE"/>
                </a:solidFill>
                <a:latin typeface="Plus Jakarta Sans"/>
              </a:rPr>
              <a:t>when/where</a:t>
            </a:r>
            <a:r>
              <a:rPr sz="1900" b="0" dirty="0">
                <a:solidFill>
                  <a:srgbClr val="CCD3DE"/>
                </a:solidFill>
                <a:latin typeface="Plus Jakarta Sans"/>
              </a:rPr>
              <a:t> that data is needed.</a:t>
            </a:r>
          </a:p>
        </p:txBody>
      </p:sp>
      <p:sp>
        <p:nvSpPr>
          <p:cNvPr id="17" name="Rounded Rectangle 11">
            <a:extLst>
              <a:ext uri="{FF2B5EF4-FFF2-40B4-BE49-F238E27FC236}">
                <a16:creationId xmlns:a16="http://schemas.microsoft.com/office/drawing/2014/main" id="{36F07A6E-B68E-BB61-2F63-A4350C0608E9}"/>
              </a:ext>
            </a:extLst>
          </p:cNvPr>
          <p:cNvSpPr/>
          <p:nvPr/>
        </p:nvSpPr>
        <p:spPr>
          <a:xfrm>
            <a:off x="68580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1">
            <a:extLst>
              <a:ext uri="{FF2B5EF4-FFF2-40B4-BE49-F238E27FC236}">
                <a16:creationId xmlns:a16="http://schemas.microsoft.com/office/drawing/2014/main" id="{934C5021-F958-0FB0-0374-AE20F24F07AF}"/>
              </a:ext>
            </a:extLst>
          </p:cNvPr>
          <p:cNvSpPr/>
          <p:nvPr/>
        </p:nvSpPr>
        <p:spPr>
          <a:xfrm>
            <a:off x="3874770" y="2788920"/>
            <a:ext cx="275463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1">
            <a:extLst>
              <a:ext uri="{FF2B5EF4-FFF2-40B4-BE49-F238E27FC236}">
                <a16:creationId xmlns:a16="http://schemas.microsoft.com/office/drawing/2014/main" id="{FD32325E-6720-B29F-00D8-3F791E8F0EDB}"/>
              </a:ext>
            </a:extLst>
          </p:cNvPr>
          <p:cNvSpPr/>
          <p:nvPr/>
        </p:nvSpPr>
        <p:spPr>
          <a:xfrm>
            <a:off x="7063740" y="2788920"/>
            <a:ext cx="26517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E5ACEF36-BAD8-4438-1A5C-D83F7E243AAD}"/>
              </a:ext>
            </a:extLst>
          </p:cNvPr>
          <p:cNvSpPr txBox="1"/>
          <p:nvPr/>
        </p:nvSpPr>
        <p:spPr>
          <a:xfrm>
            <a:off x="828675" y="2916936"/>
            <a:ext cx="2322576" cy="320040"/>
          </a:xfrm>
          <a:prstGeom prst="rect">
            <a:avLst/>
          </a:prstGeom>
          <a:noFill/>
        </p:spPr>
        <p:txBody>
          <a:bodyPr wrap="square" anchor="t">
            <a:spAutoFit/>
          </a:bodyPr>
          <a:lstStyle/>
          <a:p>
            <a:pPr algn="l"/>
            <a:r>
              <a:rPr sz="1500" b="1" dirty="0">
                <a:solidFill>
                  <a:srgbClr val="25C7FF"/>
                </a:solidFill>
                <a:latin typeface="Space Grotesk"/>
              </a:rPr>
              <a:t>1</a:t>
            </a:r>
          </a:p>
        </p:txBody>
      </p:sp>
      <p:sp>
        <p:nvSpPr>
          <p:cNvPr id="25" name="TextBox 24">
            <a:extLst>
              <a:ext uri="{FF2B5EF4-FFF2-40B4-BE49-F238E27FC236}">
                <a16:creationId xmlns:a16="http://schemas.microsoft.com/office/drawing/2014/main" id="{1BD61E48-1B0F-898F-F52A-79D2EE2690DA}"/>
              </a:ext>
            </a:extLst>
          </p:cNvPr>
          <p:cNvSpPr txBox="1"/>
          <p:nvPr/>
        </p:nvSpPr>
        <p:spPr>
          <a:xfrm>
            <a:off x="3950334" y="2916936"/>
            <a:ext cx="2322576" cy="320040"/>
          </a:xfrm>
          <a:prstGeom prst="rect">
            <a:avLst/>
          </a:prstGeom>
          <a:noFill/>
        </p:spPr>
        <p:txBody>
          <a:bodyPr wrap="square" anchor="t">
            <a:spAutoFit/>
          </a:bodyPr>
          <a:lstStyle/>
          <a:p>
            <a:pPr algn="l"/>
            <a:r>
              <a:rPr sz="1500" b="1" dirty="0">
                <a:solidFill>
                  <a:srgbClr val="8CF7D7"/>
                </a:solidFill>
                <a:latin typeface="Space Grotesk"/>
              </a:rPr>
              <a:t>2</a:t>
            </a:r>
          </a:p>
        </p:txBody>
      </p:sp>
      <p:sp>
        <p:nvSpPr>
          <p:cNvPr id="27" name="TextBox 26">
            <a:extLst>
              <a:ext uri="{FF2B5EF4-FFF2-40B4-BE49-F238E27FC236}">
                <a16:creationId xmlns:a16="http://schemas.microsoft.com/office/drawing/2014/main" id="{D9524D72-DE76-3A9D-7FF0-A4B450AFDB29}"/>
              </a:ext>
            </a:extLst>
          </p:cNvPr>
          <p:cNvSpPr txBox="1"/>
          <p:nvPr/>
        </p:nvSpPr>
        <p:spPr>
          <a:xfrm>
            <a:off x="7139304" y="2916936"/>
            <a:ext cx="2322576" cy="320040"/>
          </a:xfrm>
          <a:prstGeom prst="rect">
            <a:avLst/>
          </a:prstGeom>
          <a:noFill/>
        </p:spPr>
        <p:txBody>
          <a:bodyPr wrap="square" anchor="t">
            <a:spAutoFit/>
          </a:bodyPr>
          <a:lstStyle/>
          <a:p>
            <a:pPr algn="l"/>
            <a:r>
              <a:rPr sz="1500" b="1" dirty="0">
                <a:solidFill>
                  <a:srgbClr val="25C7FF"/>
                </a:solidFill>
                <a:latin typeface="Space Grotesk"/>
              </a:rPr>
              <a:t>3</a:t>
            </a:r>
          </a:p>
        </p:txBody>
      </p:sp>
      <p:sp>
        <p:nvSpPr>
          <p:cNvPr id="29" name="TextBox 28">
            <a:extLst>
              <a:ext uri="{FF2B5EF4-FFF2-40B4-BE49-F238E27FC236}">
                <a16:creationId xmlns:a16="http://schemas.microsoft.com/office/drawing/2014/main" id="{DD664B68-803C-A561-4E61-0EA59B4F996F}"/>
              </a:ext>
            </a:extLst>
          </p:cNvPr>
          <p:cNvSpPr txBox="1"/>
          <p:nvPr/>
        </p:nvSpPr>
        <p:spPr>
          <a:xfrm>
            <a:off x="850392" y="3291839"/>
            <a:ext cx="2322576" cy="731519"/>
          </a:xfrm>
          <a:prstGeom prst="rect">
            <a:avLst/>
          </a:prstGeom>
          <a:noFill/>
        </p:spPr>
        <p:txBody>
          <a:bodyPr wrap="square" anchor="t">
            <a:spAutoFit/>
          </a:bodyPr>
          <a:lstStyle/>
          <a:p>
            <a:pPr algn="l"/>
            <a:r>
              <a:rPr sz="1200" b="0" dirty="0">
                <a:solidFill>
                  <a:srgbClr val="CCD3DE"/>
                </a:solidFill>
                <a:latin typeface="Plus Jakarta Sans"/>
              </a:rPr>
              <a:t>Create sensitive data</a:t>
            </a:r>
          </a:p>
        </p:txBody>
      </p:sp>
      <p:sp>
        <p:nvSpPr>
          <p:cNvPr id="31" name="TextBox 30">
            <a:extLst>
              <a:ext uri="{FF2B5EF4-FFF2-40B4-BE49-F238E27FC236}">
                <a16:creationId xmlns:a16="http://schemas.microsoft.com/office/drawing/2014/main" id="{48A2A40C-33CB-D744-C721-B3F48ECE0A10}"/>
              </a:ext>
            </a:extLst>
          </p:cNvPr>
          <p:cNvSpPr txBox="1"/>
          <p:nvPr/>
        </p:nvSpPr>
        <p:spPr>
          <a:xfrm>
            <a:off x="3969590" y="3291839"/>
            <a:ext cx="2513760" cy="276999"/>
          </a:xfrm>
          <a:prstGeom prst="rect">
            <a:avLst/>
          </a:prstGeom>
          <a:noFill/>
        </p:spPr>
        <p:txBody>
          <a:bodyPr wrap="square" anchor="t">
            <a:spAutoFit/>
          </a:bodyPr>
          <a:lstStyle/>
          <a:p>
            <a:pPr algn="l"/>
            <a:r>
              <a:rPr sz="1200" b="0" dirty="0">
                <a:solidFill>
                  <a:srgbClr val="CCD3DE"/>
                </a:solidFill>
                <a:latin typeface="Plus Jakarta Sans"/>
              </a:rPr>
              <a:t>Reference only </a:t>
            </a:r>
            <a:r>
              <a:rPr lang="en-US" sz="1200" b="0" dirty="0">
                <a:solidFill>
                  <a:srgbClr val="CCD3DE"/>
                </a:solidFill>
                <a:latin typeface="Plus Jakarta Sans"/>
              </a:rPr>
              <a:t>when/</a:t>
            </a:r>
            <a:r>
              <a:rPr sz="1200" b="0" dirty="0">
                <a:solidFill>
                  <a:srgbClr val="CCD3DE"/>
                </a:solidFill>
                <a:latin typeface="Plus Jakarta Sans"/>
              </a:rPr>
              <a:t>where needed</a:t>
            </a:r>
          </a:p>
        </p:txBody>
      </p:sp>
      <p:sp>
        <p:nvSpPr>
          <p:cNvPr id="33" name="TextBox 32">
            <a:extLst>
              <a:ext uri="{FF2B5EF4-FFF2-40B4-BE49-F238E27FC236}">
                <a16:creationId xmlns:a16="http://schemas.microsoft.com/office/drawing/2014/main" id="{25417823-D66A-B6CA-DDF3-B4B527A54DB9}"/>
              </a:ext>
            </a:extLst>
          </p:cNvPr>
          <p:cNvSpPr txBox="1"/>
          <p:nvPr/>
        </p:nvSpPr>
        <p:spPr>
          <a:xfrm>
            <a:off x="7063740" y="3291839"/>
            <a:ext cx="2322576" cy="731519"/>
          </a:xfrm>
          <a:prstGeom prst="rect">
            <a:avLst/>
          </a:prstGeom>
          <a:noFill/>
        </p:spPr>
        <p:txBody>
          <a:bodyPr wrap="square" anchor="t">
            <a:spAutoFit/>
          </a:bodyPr>
          <a:lstStyle/>
          <a:p>
            <a:pPr algn="l"/>
            <a:r>
              <a:rPr sz="1200" b="0" dirty="0">
                <a:solidFill>
                  <a:srgbClr val="CCD3DE"/>
                </a:solidFill>
                <a:latin typeface="Plus Jakarta Sans"/>
              </a:rPr>
              <a:t>Protect access and storage</a:t>
            </a:r>
          </a:p>
        </p:txBody>
      </p:sp>
      <p:sp>
        <p:nvSpPr>
          <p:cNvPr id="7" name="TextBox 6">
            <a:extLst>
              <a:ext uri="{FF2B5EF4-FFF2-40B4-BE49-F238E27FC236}">
                <a16:creationId xmlns:a16="http://schemas.microsoft.com/office/drawing/2014/main" id="{7D680D2C-CA7D-9410-7B51-7896F81765DA}"/>
              </a:ext>
            </a:extLst>
          </p:cNvPr>
          <p:cNvSpPr txBox="1"/>
          <p:nvPr/>
        </p:nvSpPr>
        <p:spPr>
          <a:xfrm>
            <a:off x="628650" y="4245935"/>
            <a:ext cx="10617200" cy="615553"/>
          </a:xfrm>
          <a:prstGeom prst="rect">
            <a:avLst/>
          </a:prstGeom>
          <a:noFill/>
        </p:spPr>
        <p:txBody>
          <a:bodyPr wrap="square" lIns="27432" tIns="0" rIns="27432" bIns="0">
            <a:spAutoFit/>
          </a:bodyPr>
          <a:lstStyle/>
          <a:p>
            <a:pPr algn="ctr"/>
            <a:r>
              <a:rPr lang="en-US" sz="2000" b="1" dirty="0">
                <a:solidFill>
                  <a:srgbClr val="51E0FF"/>
                </a:solidFill>
                <a:latin typeface="Space Grotesk"/>
              </a:rPr>
              <a:t>Because Secrets can be created independently of the Pods that use them, there is less risk of the Secret (and its data) being exposed during the workflow of creating, viewing, and editing Pods.</a:t>
            </a:r>
            <a:endParaRPr sz="2000" b="1" dirty="0">
              <a:solidFill>
                <a:srgbClr val="51E0FF"/>
              </a:solidFill>
              <a:latin typeface="Space Grotesk"/>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Secret types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Kubernetes has built-in types for common credential formats</a:t>
            </a:r>
          </a:p>
        </p:txBody>
      </p:sp>
      <p:sp>
        <p:nvSpPr>
          <p:cNvPr id="11" name="Rounded Rectangle 10"/>
          <p:cNvSpPr/>
          <p:nvPr/>
        </p:nvSpPr>
        <p:spPr>
          <a:xfrm>
            <a:off x="800000" y="2050000"/>
            <a:ext cx="3264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Opaque</a:t>
            </a:r>
          </a:p>
          <a:p>
            <a:pPr>
              <a:spcAft>
                <a:spcPts val="400"/>
              </a:spcAft>
              <a:defRPr sz="1800">
                <a:solidFill>
                  <a:srgbClr val="D7DEE8"/>
                </a:solidFill>
                <a:latin typeface="Plus Jakarta Sans"/>
              </a:defRPr>
            </a:pPr>
            <a:r>
              <a:rPr dirty="0"/>
              <a:t>General user-defined data</a:t>
            </a:r>
          </a:p>
          <a:p>
            <a:pPr>
              <a:spcAft>
                <a:spcPts val="400"/>
              </a:spcAft>
              <a:defRPr sz="1800">
                <a:solidFill>
                  <a:srgbClr val="D7DEE8"/>
                </a:solidFill>
                <a:latin typeface="Plus Jakarta Sans"/>
              </a:defRPr>
            </a:pPr>
            <a:r>
              <a:rPr dirty="0"/>
              <a:t>Most common beginner case</a:t>
            </a:r>
          </a:p>
        </p:txBody>
      </p:sp>
      <p:sp>
        <p:nvSpPr>
          <p:cNvPr id="12" name="Rounded Rectangle 11"/>
          <p:cNvSpPr/>
          <p:nvPr/>
        </p:nvSpPr>
        <p:spPr>
          <a:xfrm>
            <a:off x="4532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TLS</a:t>
            </a:r>
          </a:p>
          <a:p>
            <a:pPr>
              <a:spcAft>
                <a:spcPts val="400"/>
              </a:spcAft>
              <a:defRPr sz="1800">
                <a:solidFill>
                  <a:srgbClr val="D7DEE8"/>
                </a:solidFill>
                <a:latin typeface="Plus Jakarta Sans"/>
              </a:defRPr>
            </a:pPr>
            <a:r>
              <a:rPr dirty="0"/>
              <a:t>kubernetes.io/tls</a:t>
            </a:r>
          </a:p>
          <a:p>
            <a:pPr>
              <a:spcAft>
                <a:spcPts val="400"/>
              </a:spcAft>
              <a:defRPr sz="1800">
                <a:solidFill>
                  <a:srgbClr val="D7DEE8"/>
                </a:solidFill>
                <a:latin typeface="Plus Jakarta Sans"/>
              </a:defRPr>
            </a:pPr>
            <a:r>
              <a:rPr dirty="0"/>
              <a:t>Certificate + private key</a:t>
            </a:r>
          </a:p>
        </p:txBody>
      </p:sp>
      <p:sp>
        <p:nvSpPr>
          <p:cNvPr id="13" name="Rounded Rectangle 12"/>
          <p:cNvSpPr/>
          <p:nvPr/>
        </p:nvSpPr>
        <p:spPr>
          <a:xfrm>
            <a:off x="7800000" y="2050000"/>
            <a:ext cx="3563324"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FFB866"/>
                </a:solidFill>
                <a:latin typeface="Space Grotesk"/>
              </a:rPr>
              <a:t>Docker config</a:t>
            </a:r>
          </a:p>
          <a:p>
            <a:pPr>
              <a:spcAft>
                <a:spcPts val="400"/>
              </a:spcAft>
              <a:defRPr sz="1800">
                <a:solidFill>
                  <a:srgbClr val="D7DEE8"/>
                </a:solidFill>
                <a:latin typeface="Plus Jakarta Sans"/>
              </a:defRPr>
            </a:pPr>
            <a:r>
              <a:rPr dirty="0"/>
              <a:t>kubernetes.io/dockerconfigjson</a:t>
            </a:r>
          </a:p>
          <a:p>
            <a:pPr>
              <a:spcAft>
                <a:spcPts val="400"/>
              </a:spcAft>
              <a:defRPr sz="1800">
                <a:solidFill>
                  <a:srgbClr val="D7DEE8"/>
                </a:solidFill>
                <a:latin typeface="Plus Jakarta Sans"/>
              </a:defRPr>
            </a:pPr>
            <a:r>
              <a:rPr dirty="0"/>
              <a:t>Registry credentials</a:t>
            </a:r>
          </a:p>
        </p:txBody>
      </p:sp>
      <p:sp>
        <p:nvSpPr>
          <p:cNvPr id="14" name="TextBox 13"/>
          <p:cNvSpPr txBox="1"/>
          <p:nvPr/>
        </p:nvSpPr>
        <p:spPr>
          <a:xfrm>
            <a:off x="628650" y="4200000"/>
            <a:ext cx="10001250" cy="650000"/>
          </a:xfrm>
          <a:prstGeom prst="rect">
            <a:avLst/>
          </a:prstGeom>
          <a:noFill/>
        </p:spPr>
        <p:txBody>
          <a:bodyPr wrap="square" lIns="27432" tIns="0" rIns="27432" bIns="0">
            <a:spAutoFit/>
          </a:bodyPr>
          <a:lstStyle/>
          <a:p>
            <a:pPr algn="ctr"/>
            <a:r>
              <a:rPr sz="1900" b="1">
                <a:solidFill>
                  <a:srgbClr val="F5F7FA"/>
                </a:solidFill>
                <a:latin typeface="Space Grotesk"/>
              </a:rPr>
              <a:t>For general application credentials, type: Opaque is usually enough. Other built-in Secret types add conventions for specific use cases.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299"/>
            <a:ext cx="10934700" cy="1746251"/>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data, stringData, and base64</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Convenient input formats do not change the underlying security model</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FF7882"/>
                </a:solidFill>
                <a:latin typeface="Space Grotesk"/>
              </a:rPr>
              <a:t>data</a:t>
            </a:r>
          </a:p>
          <a:p>
            <a:pPr>
              <a:spcAft>
                <a:spcPts val="400"/>
              </a:spcAft>
              <a:defRPr sz="1700">
                <a:solidFill>
                  <a:srgbClr val="D7DEE8"/>
                </a:solidFill>
                <a:latin typeface="Plus Jakarta Sans"/>
              </a:defRPr>
            </a:pPr>
            <a:r>
              <a:rPr dirty="0"/>
              <a:t>Values are base64-encoded strings</a:t>
            </a:r>
          </a:p>
          <a:p>
            <a:pPr>
              <a:spcAft>
                <a:spcPts val="400"/>
              </a:spcAft>
              <a:defRPr sz="1700">
                <a:solidFill>
                  <a:srgbClr val="D7DEE8"/>
                </a:solidFill>
                <a:latin typeface="Plus Jakarta Sans"/>
              </a:defRPr>
            </a:pPr>
            <a:r>
              <a:rPr dirty="0"/>
              <a:t>Useful for binary / serialized data</a:t>
            </a:r>
          </a:p>
          <a:p>
            <a:pPr>
              <a:spcAft>
                <a:spcPts val="400"/>
              </a:spcAft>
              <a:defRPr sz="1700">
                <a:solidFill>
                  <a:srgbClr val="D7DEE8"/>
                </a:solidFill>
                <a:latin typeface="Plus Jakarta Sans"/>
              </a:defRPr>
            </a:pPr>
            <a:r>
              <a:rPr dirty="0"/>
              <a:t>Easy to decode</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stringData</a:t>
            </a:r>
            <a:endParaRPr sz="1800" b="1" dirty="0">
              <a:solidFill>
                <a:srgbClr val="70EBB1"/>
              </a:solidFill>
              <a:latin typeface="Space Grotesk"/>
            </a:endParaRPr>
          </a:p>
          <a:p>
            <a:pPr>
              <a:spcAft>
                <a:spcPts val="400"/>
              </a:spcAft>
              <a:defRPr sz="1700">
                <a:solidFill>
                  <a:srgbClr val="D7DEE8"/>
                </a:solidFill>
                <a:latin typeface="Plus Jakarta Sans"/>
              </a:defRPr>
            </a:pPr>
            <a:r>
              <a:rPr dirty="0"/>
              <a:t>Accepts ordinary strings as input</a:t>
            </a:r>
          </a:p>
          <a:p>
            <a:pPr>
              <a:spcAft>
                <a:spcPts val="400"/>
              </a:spcAft>
              <a:defRPr sz="1700">
                <a:solidFill>
                  <a:srgbClr val="D7DEE8"/>
                </a:solidFill>
                <a:latin typeface="Plus Jakarta Sans"/>
              </a:defRPr>
            </a:pPr>
            <a:r>
              <a:rPr dirty="0"/>
              <a:t>API merges values into data</a:t>
            </a:r>
          </a:p>
          <a:p>
            <a:pPr>
              <a:spcAft>
                <a:spcPts val="400"/>
              </a:spcAft>
              <a:defRPr sz="1700">
                <a:solidFill>
                  <a:srgbClr val="D7DEE8"/>
                </a:solidFill>
                <a:latin typeface="Plus Jakarta Sans"/>
              </a:defRPr>
            </a:pPr>
            <a:r>
              <a:rPr dirty="0"/>
              <a:t>Convenience — not stronger security</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2000" b="1" dirty="0">
                <a:solidFill>
                  <a:srgbClr val="51E0FF"/>
                </a:solidFill>
                <a:latin typeface="Space Grotesk"/>
              </a:rPr>
              <a:t>Base64 is encoding, not encryption.</a:t>
            </a:r>
          </a:p>
        </p:txBody>
      </p:sp>
      <p:sp>
        <p:nvSpPr>
          <p:cNvPr id="14" name="TextBox 13"/>
          <p:cNvSpPr txBox="1"/>
          <p:nvPr/>
        </p:nvSpPr>
        <p:spPr>
          <a:xfrm>
            <a:off x="1025872" y="5425000"/>
            <a:ext cx="10050000" cy="1538883"/>
          </a:xfrm>
          <a:prstGeom prst="rect">
            <a:avLst/>
          </a:prstGeom>
          <a:noFill/>
        </p:spPr>
        <p:txBody>
          <a:bodyPr wrap="square" lIns="27432" tIns="0" rIns="27432" bIns="0">
            <a:spAutoFit/>
          </a:bodyPr>
          <a:lstStyle/>
          <a:p>
            <a:r>
              <a:rPr lang="en-US" sz="1250" b="0" dirty="0">
                <a:solidFill>
                  <a:srgbClr val="99A6B7"/>
                </a:solidFill>
                <a:latin typeface="Plus Jakarta Sans"/>
              </a:rPr>
              <a:t>Never treat base64 text as protected. </a:t>
            </a:r>
          </a:p>
          <a:p>
            <a:endParaRPr lang="en-US" sz="1250" dirty="0">
              <a:solidFill>
                <a:srgbClr val="99A6B7"/>
              </a:solidFill>
              <a:latin typeface="Plus Jakarta Sans"/>
            </a:endParaRPr>
          </a:p>
          <a:p>
            <a:r>
              <a:rPr lang="en-US" sz="1250" dirty="0">
                <a:solidFill>
                  <a:srgbClr val="99A6B7"/>
                </a:solidFill>
                <a:latin typeface="Plus Jakarta Sans"/>
              </a:rPr>
              <a:t>Encoding vs. Encryption: In a YAML manifest, Secret data is stored as base64 encoded strings. It is critical to understand that base64 is NOT encryption; it is just a way to represent binary data as text. Anyone who can see the YAML can easily decode it.</a:t>
            </a:r>
          </a:p>
          <a:p>
            <a:endParaRPr lang="en-US" sz="1250" b="0" dirty="0">
              <a:solidFill>
                <a:srgbClr val="99A6B7"/>
              </a:solidFill>
              <a:latin typeface="Plus Jakarta Sans"/>
            </a:endParaRPr>
          </a:p>
          <a:p>
            <a:r>
              <a:rPr lang="en-US" sz="1250" dirty="0">
                <a:solidFill>
                  <a:srgbClr val="99A6B7"/>
                </a:solidFill>
                <a:latin typeface="Plus Jakarta Sans"/>
              </a:rPr>
              <a:t>Production Security: In real-world production environments, you should use external tools like </a:t>
            </a:r>
            <a:r>
              <a:rPr lang="en-US" sz="1250" dirty="0" err="1">
                <a:solidFill>
                  <a:srgbClr val="99A6B7"/>
                </a:solidFill>
                <a:latin typeface="Plus Jakarta Sans"/>
              </a:rPr>
              <a:t>HashiCorp</a:t>
            </a:r>
            <a:r>
              <a:rPr lang="en-US" sz="1250" dirty="0">
                <a:solidFill>
                  <a:srgbClr val="99A6B7"/>
                </a:solidFill>
                <a:latin typeface="Plus Jakarta Sans"/>
              </a:rPr>
              <a:t> Vault, AWS Secrets Manager, or Azure Key Vault to manage and encrypt your secrets properly.</a:t>
            </a:r>
          </a:p>
          <a:p>
            <a:endParaRPr lang="en-US" sz="1250" b="0" dirty="0">
              <a:solidFill>
                <a:srgbClr val="99A6B7"/>
              </a:solidFill>
              <a:latin typeface="Plus Jakarta San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Using a Secret in a Pod</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 same object can be exposed only to the containers that need it</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B866"/>
                </a:solidFill>
                <a:latin typeface="Space Grotesk"/>
              </a:rPr>
              <a:t>Environment variable</a:t>
            </a:r>
          </a:p>
          <a:p>
            <a:pPr>
              <a:spcAft>
                <a:spcPts val="400"/>
              </a:spcAft>
              <a:defRPr sz="1600">
                <a:solidFill>
                  <a:srgbClr val="D7DEE8"/>
                </a:solidFill>
                <a:latin typeface="Plus Jakarta Sans"/>
              </a:defRPr>
            </a:pPr>
            <a:r>
              <a:t>secretKeyRef selects one key</a:t>
            </a:r>
          </a:p>
          <a:p>
            <a:pPr>
              <a:spcAft>
                <a:spcPts val="400"/>
              </a:spcAft>
              <a:defRPr sz="1600">
                <a:solidFill>
                  <a:srgbClr val="D7DEE8"/>
                </a:solidFill>
                <a:latin typeface="Plus Jakarta Sans"/>
              </a:defRPr>
            </a:pPr>
            <a:r>
              <a:t>Simple for many applications</a:t>
            </a:r>
          </a:p>
          <a:p>
            <a:pPr>
              <a:spcAft>
                <a:spcPts val="400"/>
              </a:spcAft>
              <a:defRPr sz="1600">
                <a:solidFill>
                  <a:srgbClr val="D7DEE8"/>
                </a:solidFill>
                <a:latin typeface="Plus Jakarta Sans"/>
              </a:defRPr>
            </a:pPr>
            <a:r>
              <a:t>Value becomes process environment</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70EBB1"/>
                </a:solidFill>
                <a:latin typeface="Space Grotesk"/>
              </a:rPr>
              <a:t>Mounted Secret volume</a:t>
            </a:r>
          </a:p>
          <a:p>
            <a:pPr>
              <a:spcAft>
                <a:spcPts val="400"/>
              </a:spcAft>
              <a:defRPr sz="1600">
                <a:solidFill>
                  <a:srgbClr val="D7DEE8"/>
                </a:solidFill>
                <a:latin typeface="Plus Jakarta Sans"/>
              </a:defRPr>
            </a:pPr>
            <a:r>
              <a:rPr dirty="0"/>
              <a:t>Keys appear as files</a:t>
            </a:r>
          </a:p>
          <a:p>
            <a:pPr>
              <a:spcAft>
                <a:spcPts val="400"/>
              </a:spcAft>
              <a:defRPr sz="1600">
                <a:solidFill>
                  <a:srgbClr val="D7DEE8"/>
                </a:solidFill>
                <a:latin typeface="Plus Jakarta Sans"/>
              </a:defRPr>
            </a:pPr>
            <a:r>
              <a:rPr dirty="0"/>
              <a:t>Mount only into required container</a:t>
            </a:r>
          </a:p>
          <a:p>
            <a:pPr>
              <a:spcAft>
                <a:spcPts val="400"/>
              </a:spcAft>
              <a:defRPr sz="1600">
                <a:solidFill>
                  <a:srgbClr val="D7DEE8"/>
                </a:solidFill>
                <a:latin typeface="Plus Jakarta Sans"/>
              </a:defRPr>
            </a:pPr>
            <a:r>
              <a:rPr dirty="0"/>
              <a:t>Useful for keys / certificates</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1900" b="1">
                <a:solidFill>
                  <a:srgbClr val="F5F7FA"/>
                </a:solidFill>
                <a:latin typeface="Space Grotesk"/>
              </a:rPr>
              <a:t>Reference only the Secret keys and containers that actually need access.</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Applications must still protect the value after reading it. Avoid printing Secrets in logs, debug output, shell history, or error messages.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Secret security: what Kubernetes does — and does not — protect</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 biggest risks are usually access control and accidental exposure</a:t>
            </a:r>
          </a:p>
        </p:txBody>
      </p:sp>
      <p:sp>
        <p:nvSpPr>
          <p:cNvPr id="11" name="Rounded Rectangle 10"/>
          <p:cNvSpPr/>
          <p:nvPr/>
        </p:nvSpPr>
        <p:spPr>
          <a:xfrm>
            <a:off x="628650" y="1950000"/>
            <a:ext cx="50673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FF7882"/>
                </a:solidFill>
                <a:latin typeface="Space Grotesk"/>
              </a:rPr>
              <a:t>Important risks</a:t>
            </a:r>
          </a:p>
          <a:p>
            <a:pPr>
              <a:spcAft>
                <a:spcPts val="400"/>
              </a:spcAft>
              <a:defRPr sz="1600">
                <a:solidFill>
                  <a:srgbClr val="D7DEE8"/>
                </a:solidFill>
                <a:latin typeface="Plus Jakarta Sans"/>
              </a:defRPr>
            </a:pPr>
            <a:r>
              <a:rPr dirty="0"/>
              <a:t>Secret data is base64, not encrypted by that encoding</a:t>
            </a:r>
          </a:p>
          <a:p>
            <a:pPr>
              <a:spcAft>
                <a:spcPts val="400"/>
              </a:spcAft>
              <a:defRPr sz="1600">
                <a:solidFill>
                  <a:srgbClr val="D7DEE8"/>
                </a:solidFill>
                <a:latin typeface="Plus Jakarta Sans"/>
              </a:defRPr>
            </a:pPr>
            <a:r>
              <a:rPr dirty="0"/>
              <a:t>API data may be unencrypted at rest unless configured</a:t>
            </a:r>
          </a:p>
          <a:p>
            <a:pPr>
              <a:spcAft>
                <a:spcPts val="400"/>
              </a:spcAft>
              <a:defRPr sz="1600">
                <a:solidFill>
                  <a:srgbClr val="D7DEE8"/>
                </a:solidFill>
                <a:latin typeface="Plus Jakarta Sans"/>
              </a:defRPr>
            </a:pPr>
            <a:r>
              <a:rPr dirty="0"/>
              <a:t>Broad RBAC can expose many Secrets</a:t>
            </a:r>
          </a:p>
          <a:p>
            <a:pPr>
              <a:spcAft>
                <a:spcPts val="400"/>
              </a:spcAft>
              <a:defRPr sz="1600">
                <a:solidFill>
                  <a:srgbClr val="D7DEE8"/>
                </a:solidFill>
                <a:latin typeface="Plus Jakarta Sans"/>
              </a:defRPr>
            </a:pPr>
            <a:r>
              <a:rPr dirty="0"/>
              <a:t>Applications can leak values after reading them</a:t>
            </a:r>
          </a:p>
          <a:p>
            <a:pPr>
              <a:spcAft>
                <a:spcPts val="400"/>
              </a:spcAft>
              <a:defRPr sz="1600">
                <a:solidFill>
                  <a:srgbClr val="D7DEE8"/>
                </a:solidFill>
                <a:latin typeface="Plus Jakarta Sans"/>
              </a:defRPr>
            </a:pPr>
            <a:endParaRPr dirty="0"/>
          </a:p>
        </p:txBody>
      </p:sp>
      <p:sp>
        <p:nvSpPr>
          <p:cNvPr id="12" name="Rounded Rectangle 11"/>
          <p:cNvSpPr/>
          <p:nvPr/>
        </p:nvSpPr>
        <p:spPr>
          <a:xfrm>
            <a:off x="5941400" y="1950000"/>
            <a:ext cx="50673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Good protections</a:t>
            </a:r>
          </a:p>
          <a:p>
            <a:pPr>
              <a:spcAft>
                <a:spcPts val="400"/>
              </a:spcAft>
              <a:defRPr sz="1500">
                <a:solidFill>
                  <a:srgbClr val="D7DEE8"/>
                </a:solidFill>
                <a:latin typeface="Plus Jakarta Sans"/>
              </a:defRPr>
            </a:pPr>
            <a:r>
              <a:rPr dirty="0" err="1"/>
              <a:t>Least-privilege RBAC</a:t>
            </a:r>
          </a:p>
          <a:p>
            <a:pPr>
              <a:spcAft>
                <a:spcPts val="400"/>
              </a:spcAft>
              <a:defRPr sz="1500">
                <a:solidFill>
                  <a:srgbClr val="D7DEE8"/>
                </a:solidFill>
                <a:latin typeface="Plus Jakarta Sans"/>
              </a:defRPr>
            </a:pPr>
            <a:r>
              <a:rPr dirty="0" err="1"/>
              <a:t>Enable encryption at rest</a:t>
            </a:r>
          </a:p>
          <a:p>
            <a:pPr>
              <a:spcAft>
                <a:spcPts val="400"/>
              </a:spcAft>
              <a:defRPr sz="1500">
                <a:solidFill>
                  <a:srgbClr val="D7DEE8"/>
                </a:solidFill>
                <a:latin typeface="Plus Jakarta Sans"/>
              </a:defRPr>
            </a:pPr>
            <a:r>
              <a:rPr dirty="0" err="1"/>
              <a:t>Limit which Pods / containers receive the Secret</a:t>
            </a:r>
          </a:p>
          <a:p>
            <a:pPr>
              <a:spcAft>
                <a:spcPts val="400"/>
              </a:spcAft>
              <a:defRPr sz="1500">
                <a:solidFill>
                  <a:srgbClr val="D7DEE8"/>
                </a:solidFill>
                <a:latin typeface="Plus Jakarta Sans"/>
              </a:defRPr>
            </a:pPr>
            <a:r>
              <a:rPr dirty="0" err="1"/>
              <a:t>Avoid logs / Git / shared manifests</a:t>
            </a:r>
            <a:endParaRPr dirty="0"/>
          </a:p>
          <a:p>
            <a:pPr>
              <a:spcAft>
                <a:spcPts val="400"/>
              </a:spcAft>
              <a:defRPr sz="1500">
                <a:solidFill>
                  <a:srgbClr val="D7DEE8"/>
                </a:solidFill>
                <a:latin typeface="Plus Jakarta Sans"/>
              </a:defRPr>
            </a:pPr>
            <a:r>
              <a:rPr dirty="0" err="1"/>
              <a:t>Use external secret integrations when appropriate</a:t>
            </a:r>
            <a:endParaRPr dirty="0"/>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Official Kubernetes guidance recommends strong access control, encryption at rest, and careful application handling. External secret stores can complement Kubernetes Secrets in production.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Updating and rotating Secrets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Changing the Secret object is only one step of credential rotation</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FF7882"/>
                </a:solidFill>
                <a:latin typeface="Space Grotesk"/>
              </a:rPr>
              <a:t>Secret as environment variable</a:t>
            </a:r>
          </a:p>
          <a:p>
            <a:pPr>
              <a:spcAft>
                <a:spcPts val="400"/>
              </a:spcAft>
              <a:defRPr sz="1700">
                <a:solidFill>
                  <a:srgbClr val="D7DEE8"/>
                </a:solidFill>
                <a:latin typeface="Plus Jakarta Sans"/>
              </a:defRPr>
            </a:pPr>
            <a:r>
              <a:rPr dirty="0"/>
              <a:t>Running process keeps old value</a:t>
            </a:r>
          </a:p>
          <a:p>
            <a:pPr>
              <a:spcAft>
                <a:spcPts val="400"/>
              </a:spcAft>
              <a:defRPr sz="1700">
                <a:solidFill>
                  <a:srgbClr val="D7DEE8"/>
                </a:solidFill>
                <a:latin typeface="Plus Jakarta Sans"/>
              </a:defRPr>
            </a:pPr>
            <a:r>
              <a:rPr dirty="0"/>
              <a:t>Restart / rollout required</a:t>
            </a:r>
          </a:p>
          <a:p>
            <a:pPr>
              <a:spcAft>
                <a:spcPts val="400"/>
              </a:spcAft>
              <a:defRPr sz="1700">
                <a:solidFill>
                  <a:srgbClr val="D7DEE8"/>
                </a:solidFill>
                <a:latin typeface="Plus Jakarta Sans"/>
              </a:defRPr>
            </a:pPr>
            <a:r>
              <a:rPr dirty="0"/>
              <a:t>Plan how the application reconnects</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0EBB1"/>
                </a:solidFill>
                <a:latin typeface="Space Grotesk"/>
              </a:rPr>
              <a:t>Secret as mounted files</a:t>
            </a:r>
            <a:endParaRPr sz="1800" b="1" dirty="0">
              <a:solidFill>
                <a:srgbClr val="70EBB1"/>
              </a:solidFill>
              <a:latin typeface="Space Grotesk"/>
            </a:endParaRPr>
          </a:p>
          <a:p>
            <a:pPr>
              <a:spcAft>
                <a:spcPts val="400"/>
              </a:spcAft>
              <a:defRPr sz="1700">
                <a:solidFill>
                  <a:srgbClr val="D7DEE8"/>
                </a:solidFill>
                <a:latin typeface="Plus Jakarta Sans"/>
              </a:defRPr>
            </a:pPr>
            <a:r>
              <a:rPr dirty="0"/>
              <a:t>Projected files update eventually</a:t>
            </a:r>
          </a:p>
          <a:p>
            <a:pPr>
              <a:spcAft>
                <a:spcPts val="400"/>
              </a:spcAft>
              <a:defRPr sz="1700">
                <a:solidFill>
                  <a:srgbClr val="D7DEE8"/>
                </a:solidFill>
                <a:latin typeface="Plus Jakarta Sans"/>
              </a:defRPr>
            </a:pPr>
            <a:r>
              <a:rPr dirty="0"/>
              <a:t>Application must re-read / reload</a:t>
            </a:r>
          </a:p>
          <a:p>
            <a:pPr>
              <a:spcAft>
                <a:spcPts val="400"/>
              </a:spcAft>
              <a:defRPr sz="1700">
                <a:solidFill>
                  <a:srgbClr val="D7DEE8"/>
                </a:solidFill>
                <a:latin typeface="Plus Jakarta Sans"/>
              </a:defRPr>
            </a:pPr>
            <a:r>
              <a:rPr dirty="0"/>
              <a:t>subPath mount is an exception</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ctr"/>
            <a:r>
              <a:rPr sz="2000" b="1">
                <a:solidFill>
                  <a:srgbClr val="51E0FF"/>
                </a:solidFill>
                <a:latin typeface="Space Grotesk"/>
              </a:rPr>
              <a:t>Rotation is an application + Kubernetes workflow, not just “edit the Secret”.</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The update behavior mirrors ConfigMaps: environment variables do not refresh inside a running container, while projected volume data is eventually synchronized.</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Secrets Part 1</a:t>
            </a:r>
          </a:p>
        </p:txBody>
      </p:sp>
      <p:sp>
        <p:nvSpPr>
          <p:cNvPr id="10" name="TextBox 9"/>
          <p:cNvSpPr txBox="1"/>
          <p:nvPr/>
        </p:nvSpPr>
        <p:spPr>
          <a:xfrm>
            <a:off x="628650" y="1114425"/>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Create a dummy Secret, inspect it, and prove that base64 is reversible</a:t>
            </a:r>
          </a:p>
        </p:txBody>
      </p:sp>
      <p:sp>
        <p:nvSpPr>
          <p:cNvPr id="11" name="TextBox 10"/>
          <p:cNvSpPr txBox="1"/>
          <p:nvPr/>
        </p:nvSpPr>
        <p:spPr>
          <a:xfrm>
            <a:off x="628650" y="1476375"/>
            <a:ext cx="10584782" cy="3005951"/>
          </a:xfrm>
          <a:prstGeom prst="rect">
            <a:avLst/>
          </a:prstGeom>
          <a:solidFill>
            <a:srgbClr val="09121F"/>
          </a:solidFill>
          <a:ln>
            <a:solidFill>
              <a:srgbClr val="314963"/>
            </a:solidFill>
          </a:ln>
        </p:spPr>
        <p:txBody>
          <a:bodyPr wrap="square" lIns="152400" tIns="101600" rIns="152400" bIns="101600">
            <a:spAutoFit/>
          </a:bodyPr>
          <a:lstStyle/>
          <a:p>
            <a:pPr algn="l"/>
            <a:r>
              <a:rPr sz="1320">
                <a:solidFill>
                  <a:srgbClr val="F5F7FA"/>
                </a:solidFill>
                <a:latin typeface="Consolas"/>
              </a:rPr>
              <a:t># Use training-only values
kubectl create secret generic app-secrets \
  --from-literal=username=demo \
  --from-literal=password=training123
# Inspect the API object
kubectl get secret app-secrets -o yaml
# Decode one value
kubectl get secret app-secrets \
  -o jsonpath='{.data.password}' | base64 --decode
echo</a:t>
            </a:r>
          </a:p>
        </p:txBody>
      </p:sp>
      <p:sp>
        <p:nvSpPr>
          <p:cNvPr id="12" name="TextBox 11"/>
          <p:cNvSpPr txBox="1"/>
          <p:nvPr/>
        </p:nvSpPr>
        <p:spPr>
          <a:xfrm>
            <a:off x="628650" y="4550000"/>
            <a:ext cx="10001250" cy="276999"/>
          </a:xfrm>
          <a:prstGeom prst="rect">
            <a:avLst/>
          </a:prstGeom>
          <a:noFill/>
        </p:spPr>
        <p:txBody>
          <a:bodyPr wrap="square" lIns="27432" tIns="0" rIns="27432" bIns="0">
            <a:spAutoFit/>
          </a:bodyPr>
          <a:lstStyle/>
          <a:p>
            <a:pPr algn="ctr"/>
            <a:r>
              <a:rPr lang="en-US" b="1" dirty="0">
                <a:solidFill>
                  <a:srgbClr val="51E0FF"/>
                </a:solidFill>
                <a:latin typeface="Space Grotesk"/>
              </a:rPr>
              <a:t>Challenge: if you can decode the value immediately, what does that tell you about base64 as a security control?</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The purpose is to remove the common misconception that base64 encoding is encryption.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Secrets Part 2</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Consume a Secret, rotate it, and observe the application behavior</a:t>
            </a:r>
          </a:p>
        </p:txBody>
      </p:sp>
      <p:sp>
        <p:nvSpPr>
          <p:cNvPr id="11" name="TextBox 10"/>
          <p:cNvSpPr txBox="1"/>
          <p:nvPr/>
        </p:nvSpPr>
        <p:spPr>
          <a:xfrm>
            <a:off x="628649" y="1900000"/>
            <a:ext cx="5856371" cy="2805896"/>
          </a:xfrm>
          <a:prstGeom prst="rect">
            <a:avLst/>
          </a:prstGeom>
          <a:solidFill>
            <a:srgbClr val="09121F"/>
          </a:solidFill>
          <a:ln>
            <a:solidFill>
              <a:srgbClr val="314963"/>
            </a:solidFill>
          </a:ln>
        </p:spPr>
        <p:txBody>
          <a:bodyPr wrap="square" lIns="152400" tIns="101600" rIns="152400" bIns="101600">
            <a:spAutoFit/>
          </a:bodyPr>
          <a:lstStyle/>
          <a:p>
            <a:pPr algn="l"/>
            <a:r>
              <a:rPr sz="1280">
                <a:solidFill>
                  <a:srgbClr val="F5F7FA"/>
                </a:solidFill>
                <a:latin typeface="Consolas"/>
              </a:rPr>
              <a:t># Deploy a Pod that uses secretKeyRef
kubectl apply -f secret-pod.yaml
# Read the training values
kubectl exec mybox -- sh -c 'echo "$USERNAME / $PASSWORD"'
# Update the Secret with a new dummy password
kubectl create secret generic app-secrets \
  --from-literal=username=demo \
  --from-literal=password=rotated123 \
  --dry-run=client -o yaml | kubectl apply -f -
# Check the existing Pod, then recreate it and check again</a:t>
            </a:r>
            <a:endParaRPr sz="1300" dirty="0">
              <a:solidFill>
                <a:srgbClr val="F5F7FA"/>
              </a:solidFill>
              <a:latin typeface="Consolas"/>
            </a:endParaRPr>
          </a:p>
        </p:txBody>
      </p:sp>
      <p:sp>
        <p:nvSpPr>
          <p:cNvPr id="12" name="Rounded Rectangle 11"/>
          <p:cNvSpPr/>
          <p:nvPr/>
        </p:nvSpPr>
        <p:spPr>
          <a:xfrm>
            <a:off x="6604000" y="1885950"/>
            <a:ext cx="5200650"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a:solidFill>
                  <a:srgbClr val="FF7882"/>
                </a:solidFill>
                <a:latin typeface="Space Grotesk"/>
              </a:rPr>
              <a:t>Expected learning</a:t>
            </a:r>
          </a:p>
          <a:p>
            <a:pPr>
              <a:spcAft>
                <a:spcPts val="400"/>
              </a:spcAft>
              <a:defRPr sz="1600">
                <a:solidFill>
                  <a:srgbClr val="D7DEE8"/>
                </a:solidFill>
                <a:latin typeface="Plus Jakarta Sans"/>
              </a:defRPr>
            </a:pPr>
            <a:r>
              <a:t>The Secret object changes.</a:t>
            </a:r>
          </a:p>
          <a:p>
            <a:pPr>
              <a:spcAft>
                <a:spcPts val="400"/>
              </a:spcAft>
              <a:defRPr sz="1600">
                <a:solidFill>
                  <a:srgbClr val="D7DEE8"/>
                </a:solidFill>
                <a:latin typeface="Plus Jakarta Sans"/>
              </a:defRPr>
            </a:pPr>
            <a:r>
              <a:t>Environment variables in the running container do not.</a:t>
            </a:r>
          </a:p>
          <a:p>
            <a:pPr>
              <a:spcAft>
                <a:spcPts val="400"/>
              </a:spcAft>
              <a:defRPr sz="1600">
                <a:solidFill>
                  <a:srgbClr val="D7DEE8"/>
                </a:solidFill>
                <a:latin typeface="Plus Jakarta Sans"/>
              </a:defRPr>
            </a:pPr>
            <a:r>
              <a:t>A restarted / recreated Pod receives the new value.</a:t>
            </a:r>
          </a:p>
          <a:p>
            <a:pPr>
              <a:spcAft>
                <a:spcPts val="400"/>
              </a:spcAft>
              <a:defRPr sz="1600">
                <a:solidFill>
                  <a:srgbClr val="D7DEE8"/>
                </a:solidFill>
                <a:latin typeface="Plus Jakarta Sans"/>
              </a:defRPr>
            </a:pPr>
            <a:r>
              <a:t>Optional extension: repeat with a Secret volume.</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The lab intentionally uses an environment variable first because the stale-value behavior is obvious. A Secret-volume extension can demonstrate eventual file updates.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Knowledge check + mental model</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If these answers are clear, the Secrets section is doing its job</a:t>
            </a:r>
          </a:p>
        </p:txBody>
      </p:sp>
      <p:sp>
        <p:nvSpPr>
          <p:cNvPr id="11" name="TextBox 10"/>
          <p:cNvSpPr txBox="1"/>
          <p:nvPr/>
        </p:nvSpPr>
        <p:spPr>
          <a:xfrm>
            <a:off x="628650" y="1900000"/>
            <a:ext cx="5600000" cy="3000000"/>
          </a:xfrm>
          <a:prstGeom prst="rect">
            <a:avLst/>
          </a:prstGeom>
          <a:noFill/>
        </p:spPr>
        <p:txBody>
          <a:bodyPr wrap="square" lIns="18288" tIns="0" rIns="18288" bIns="0">
            <a:spAutoFit/>
          </a:bodyPr>
          <a:lstStyle/>
          <a:p>
            <a:pPr>
              <a:spcAft>
                <a:spcPts val="700"/>
              </a:spcAft>
              <a:defRPr sz="1600">
                <a:solidFill>
                  <a:srgbClr val="D7DEE8"/>
                </a:solidFill>
                <a:latin typeface="Plus Jakarta Sans"/>
              </a:defRPr>
            </a:pPr>
            <a:r>
              <a:t>• When should you use a Secret instead of a ConfigMap?</a:t>
            </a:r>
          </a:p>
          <a:p>
            <a:pPr>
              <a:spcAft>
                <a:spcPts val="700"/>
              </a:spcAft>
              <a:defRPr sz="1600">
                <a:solidFill>
                  <a:srgbClr val="D7DEE8"/>
                </a:solidFill>
                <a:latin typeface="Plus Jakarta Sans"/>
              </a:defRPr>
            </a:pPr>
            <a:r>
              <a:t>• Is base64 encryption?</a:t>
            </a:r>
          </a:p>
          <a:p>
            <a:pPr>
              <a:spcAft>
                <a:spcPts val="700"/>
              </a:spcAft>
              <a:defRPr sz="1600">
                <a:solidFill>
                  <a:srgbClr val="D7DEE8"/>
                </a:solidFill>
                <a:latin typeface="Plus Jakarta Sans"/>
              </a:defRPr>
            </a:pPr>
            <a:r>
              <a:t>• What is the difference between data and stringData?</a:t>
            </a:r>
          </a:p>
          <a:p>
            <a:pPr>
              <a:spcAft>
                <a:spcPts val="700"/>
              </a:spcAft>
              <a:defRPr sz="1600">
                <a:solidFill>
                  <a:srgbClr val="D7DEE8"/>
                </a:solidFill>
                <a:latin typeface="Plus Jakarta Sans"/>
              </a:defRPr>
            </a:pPr>
            <a:r>
              <a:t>• Does a Secret-backed environment variable refresh automatically?</a:t>
            </a:r>
          </a:p>
          <a:p>
            <a:pPr>
              <a:spcAft>
                <a:spcPts val="700"/>
              </a:spcAft>
              <a:defRPr sz="1600">
                <a:solidFill>
                  <a:srgbClr val="D7DEE8"/>
                </a:solidFill>
                <a:latin typeface="Plus Jakarta Sans"/>
              </a:defRPr>
            </a:pPr>
            <a:r>
              <a:t>• Name two controls that reduce Secret exposure.</a:t>
            </a:r>
          </a:p>
          <a:p>
            <a:pPr>
              <a:spcAft>
                <a:spcPts val="700"/>
              </a:spcAft>
              <a:defRPr sz="1600">
                <a:solidFill>
                  <a:srgbClr val="D7DEE8"/>
                </a:solidFill>
                <a:latin typeface="Plus Jakarta Sans"/>
              </a:defRPr>
            </a:pPr>
            <a:r>
              <a:t>• Why might a production team integrate an external secret store?</a:t>
            </a:r>
          </a:p>
          <a:p>
            <a:pPr>
              <a:spcAft>
                <a:spcPts val="700"/>
              </a:spcAft>
              <a:defRPr sz="1600">
                <a:solidFill>
                  <a:srgbClr val="D7DEE8"/>
                </a:solidFill>
                <a:latin typeface="Plus Jakarta Sans"/>
              </a:defRPr>
            </a:pPr>
            <a:endParaRPr/>
          </a:p>
        </p:txBody>
      </p:sp>
      <p:sp>
        <p:nvSpPr>
          <p:cNvPr id="12" name="Rounded Rectangle 11"/>
          <p:cNvSpPr/>
          <p:nvPr/>
        </p:nvSpPr>
        <p:spPr>
          <a:xfrm>
            <a:off x="7920810" y="1257200"/>
            <a:ext cx="3155062" cy="36428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Mental model</a:t>
            </a:r>
          </a:p>
          <a:p>
            <a:pPr>
              <a:spcAft>
                <a:spcPts val="400"/>
              </a:spcAft>
              <a:defRPr sz="1600">
                <a:solidFill>
                  <a:srgbClr val="D7DEE8"/>
                </a:solidFill>
                <a:latin typeface="Plus Jakarta Sans"/>
              </a:defRPr>
            </a:pPr>
            <a:r>
              <a:rPr dirty="0"/>
              <a:t>Secret</a:t>
            </a:r>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a:t>env or files</a:t>
            </a:r>
          </a:p>
          <a:p>
            <a:pPr>
              <a:spcAft>
                <a:spcPts val="400"/>
              </a:spcAft>
              <a:defRPr sz="1600">
                <a:solidFill>
                  <a:srgbClr val="D7DEE8"/>
                </a:solidFill>
                <a:latin typeface="Plus Jakarta Sans"/>
              </a:defRPr>
            </a:pPr>
            <a:r>
              <a:rPr dirty="0"/>
              <a:t>↓</a:t>
            </a:r>
          </a:p>
          <a:p>
            <a:pPr>
              <a:spcAft>
                <a:spcPts val="400"/>
              </a:spcAft>
              <a:defRPr sz="1600">
                <a:solidFill>
                  <a:srgbClr val="D7DEE8"/>
                </a:solidFill>
                <a:latin typeface="Plus Jakarta Sans"/>
              </a:defRPr>
            </a:pPr>
            <a:r>
              <a:rPr dirty="0"/>
              <a:t>only required containers</a:t>
            </a:r>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r>
              <a:rPr dirty="0" err="1"/>
              <a:t>Protect with</a:t>
            </a:r>
            <a:endParaRPr dirty="0"/>
          </a:p>
          <a:p>
            <a:pPr>
              <a:spcAft>
                <a:spcPts val="400"/>
              </a:spcAft>
              <a:defRPr sz="1600">
                <a:solidFill>
                  <a:srgbClr val="D7DEE8"/>
                </a:solidFill>
                <a:latin typeface="Plus Jakarta Sans"/>
              </a:defRPr>
            </a:pPr>
            <a:r>
              <a:rPr dirty="0"/>
              <a:t>RBAC + encryption at rest</a:t>
            </a:r>
          </a:p>
          <a:p>
            <a:pPr>
              <a:spcAft>
                <a:spcPts val="400"/>
              </a:spcAft>
              <a:defRPr sz="1600">
                <a:solidFill>
                  <a:srgbClr val="D7DEE8"/>
                </a:solidFill>
                <a:latin typeface="Plus Jakarta Sans"/>
              </a:defRPr>
            </a:pPr>
            <a:r>
              <a:t>+ careful application handling</a:t>
            </a:r>
            <a:endParaRPr dirty="0"/>
          </a:p>
          <a:p>
            <a:pPr>
              <a:spcAft>
                <a:spcPts val="400"/>
              </a:spcAft>
              <a:defRPr sz="1600">
                <a:solidFill>
                  <a:srgbClr val="D7DEE8"/>
                </a:solidFill>
                <a:latin typeface="Plus Jakarta Sans"/>
              </a:defRPr>
            </a:pPr>
            <a:endParaRPr dirty="0"/>
          </a:p>
          <a:p>
            <a:pPr>
              <a:spcAft>
                <a:spcPts val="400"/>
              </a:spcAft>
              <a:defRPr sz="1600">
                <a:solidFill>
                  <a:srgbClr val="D7DEE8"/>
                </a:solidFill>
                <a:latin typeface="Plus Jakarta Sans"/>
              </a:defRPr>
            </a:pPr>
            <a:endParaRPr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800" b="1" i="0" u="none" dirty="0">
                <a:solidFill>
                  <a:srgbClr val="99A6B7"/>
                </a:solidFill>
                <a:latin typeface="Space Grotesk"/>
              </a:rPr>
              <a:t>NOTES </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Putting the pieces together</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One application can use all of these Kubernetes objects at the same time</a:t>
            </a:r>
          </a:p>
        </p:txBody>
      </p:sp>
      <p:sp>
        <p:nvSpPr>
          <p:cNvPr id="11" name="Rounded Rectangle 10"/>
          <p:cNvSpPr/>
          <p:nvPr/>
        </p:nvSpPr>
        <p:spPr>
          <a:xfrm>
            <a:off x="628650" y="1950000"/>
            <a:ext cx="3219450"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51E0FF"/>
                </a:solidFill>
                <a:latin typeface="Space Grotesk"/>
              </a:rPr>
              <a:t>Traffic</a:t>
            </a:r>
          </a:p>
          <a:p>
            <a:pPr>
              <a:spcAft>
                <a:spcPts val="400"/>
              </a:spcAft>
              <a:defRPr sz="1600">
                <a:solidFill>
                  <a:srgbClr val="D7DEE8"/>
                </a:solidFill>
                <a:latin typeface="Plus Jakarta Sans"/>
              </a:defRPr>
            </a:pPr>
            <a:r>
              <a:rPr dirty="0"/>
              <a:t>Ingress / Gateway → Service</a:t>
            </a:r>
          </a:p>
          <a:p>
            <a:pPr>
              <a:spcAft>
                <a:spcPts val="400"/>
              </a:spcAft>
              <a:defRPr sz="1600">
                <a:solidFill>
                  <a:srgbClr val="D7DEE8"/>
                </a:solidFill>
                <a:latin typeface="Plus Jakarta Sans"/>
              </a:defRPr>
            </a:pPr>
            <a:r>
              <a:rPr dirty="0"/>
              <a:t>stable access to changing Pods</a:t>
            </a:r>
          </a:p>
        </p:txBody>
      </p:sp>
      <p:sp>
        <p:nvSpPr>
          <p:cNvPr id="12" name="TextBox 11"/>
          <p:cNvSpPr txBox="1"/>
          <p:nvPr/>
        </p:nvSpPr>
        <p:spPr>
          <a:xfrm>
            <a:off x="3700000" y="2480000"/>
            <a:ext cx="900000" cy="50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13" name="Rounded Rectangle 12"/>
          <p:cNvSpPr/>
          <p:nvPr/>
        </p:nvSpPr>
        <p:spPr>
          <a:xfrm>
            <a:off x="4550000" y="1950000"/>
            <a:ext cx="3412900"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err="1">
                <a:solidFill>
                  <a:srgbClr val="73B4FF"/>
                </a:solidFill>
                <a:latin typeface="Space Grotesk"/>
              </a:rPr>
              <a:t>Workload</a:t>
            </a:r>
            <a:endParaRPr sz="1800" b="1" dirty="0">
              <a:solidFill>
                <a:srgbClr val="73B4FF"/>
              </a:solidFill>
              <a:latin typeface="Space Grotesk"/>
            </a:endParaRPr>
          </a:p>
          <a:p>
            <a:pPr>
              <a:spcAft>
                <a:spcPts val="400"/>
              </a:spcAft>
              <a:defRPr sz="1600">
                <a:solidFill>
                  <a:srgbClr val="D7DEE8"/>
                </a:solidFill>
                <a:latin typeface="Plus Jakarta Sans"/>
              </a:defRPr>
            </a:pPr>
            <a:r>
              <a:rPr dirty="0"/>
              <a:t>Deployment → ReplicaSets → Pods</a:t>
            </a:r>
          </a:p>
          <a:p>
            <a:pPr>
              <a:spcAft>
                <a:spcPts val="400"/>
              </a:spcAft>
              <a:defRPr sz="1600">
                <a:solidFill>
                  <a:srgbClr val="D7DEE8"/>
                </a:solidFill>
                <a:latin typeface="Plus Jakarta Sans"/>
              </a:defRPr>
            </a:pPr>
            <a:r>
              <a:rPr dirty="0"/>
              <a:t>RollingUpdate replaces compute</a:t>
            </a:r>
          </a:p>
        </p:txBody>
      </p:sp>
      <p:sp>
        <p:nvSpPr>
          <p:cNvPr id="14" name="TextBox 13"/>
          <p:cNvSpPr txBox="1"/>
          <p:nvPr/>
        </p:nvSpPr>
        <p:spPr>
          <a:xfrm>
            <a:off x="7800000" y="2480000"/>
            <a:ext cx="700000" cy="500000"/>
          </a:xfrm>
          <a:prstGeom prst="rect">
            <a:avLst/>
          </a:prstGeom>
          <a:noFill/>
        </p:spPr>
        <p:txBody>
          <a:bodyPr wrap="square" lIns="27432" tIns="0" rIns="27432" bIns="0">
            <a:spAutoFit/>
          </a:bodyPr>
          <a:lstStyle/>
          <a:p>
            <a:pPr algn="ctr"/>
            <a:r>
              <a:rPr sz="2600" b="1">
                <a:solidFill>
                  <a:srgbClr val="51E0FF"/>
                </a:solidFill>
                <a:latin typeface="Space Grotesk"/>
              </a:rPr>
              <a:t>→</a:t>
            </a:r>
          </a:p>
        </p:txBody>
      </p:sp>
      <p:sp>
        <p:nvSpPr>
          <p:cNvPr id="15" name="Rounded Rectangle 14"/>
          <p:cNvSpPr/>
          <p:nvPr/>
        </p:nvSpPr>
        <p:spPr>
          <a:xfrm>
            <a:off x="8600000" y="1950000"/>
            <a:ext cx="3344350" cy="18704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r>
              <a:rPr sz="1800" b="1" dirty="0">
                <a:solidFill>
                  <a:srgbClr val="70EBB1"/>
                </a:solidFill>
                <a:latin typeface="Space Grotesk"/>
              </a:rPr>
              <a:t>Config + state</a:t>
            </a:r>
          </a:p>
          <a:p>
            <a:pPr>
              <a:spcAft>
                <a:spcPts val="400"/>
              </a:spcAft>
              <a:defRPr sz="1600">
                <a:solidFill>
                  <a:srgbClr val="D7DEE8"/>
                </a:solidFill>
                <a:latin typeface="Plus Jakarta Sans"/>
              </a:defRPr>
            </a:pPr>
            <a:r>
              <a:rPr dirty="0"/>
              <a:t>ConfigMap + Secret + PVC</a:t>
            </a:r>
          </a:p>
          <a:p>
            <a:pPr>
              <a:spcAft>
                <a:spcPts val="400"/>
              </a:spcAft>
              <a:defRPr sz="1600">
                <a:solidFill>
                  <a:srgbClr val="D7DEE8"/>
                </a:solidFill>
                <a:latin typeface="Plus Jakarta Sans"/>
              </a:defRPr>
            </a:pPr>
            <a:r>
              <a:rPr dirty="0"/>
              <a:t>settings, credentials, durable data</a:t>
            </a:r>
          </a:p>
        </p:txBody>
      </p:sp>
      <p:sp>
        <p:nvSpPr>
          <p:cNvPr id="16" name="TextBox 15"/>
          <p:cNvSpPr txBox="1"/>
          <p:nvPr/>
        </p:nvSpPr>
        <p:spPr>
          <a:xfrm>
            <a:off x="628650" y="4100000"/>
            <a:ext cx="10001250" cy="500000"/>
          </a:xfrm>
          <a:prstGeom prst="rect">
            <a:avLst/>
          </a:prstGeom>
          <a:noFill/>
        </p:spPr>
        <p:txBody>
          <a:bodyPr wrap="square" lIns="27432" tIns="0" rIns="27432" bIns="0">
            <a:spAutoFit/>
          </a:bodyPr>
          <a:lstStyle/>
          <a:p>
            <a:pPr algn="ctr"/>
            <a:r>
              <a:rPr sz="2100" b="1">
                <a:solidFill>
                  <a:srgbClr val="F5F7FA"/>
                </a:solidFill>
                <a:latin typeface="Space Grotesk"/>
              </a:rPr>
              <a:t>Rollout changes Pods; Service keeps identity; ConfigMaps / Secrets supply configuration; PVC keeps durable state.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RBAC</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Who can do what in Kubernetes?</a:t>
            </a:r>
          </a:p>
        </p:txBody>
      </p:sp>
      <p:sp>
        <p:nvSpPr>
          <p:cNvPr id="12" name="TextBox 11"/>
          <p:cNvSpPr txBox="1"/>
          <p:nvPr/>
        </p:nvSpPr>
        <p:spPr>
          <a:xfrm>
            <a:off x="1025872" y="5425000"/>
            <a:ext cx="10050000" cy="961802"/>
          </a:xfrm>
          <a:prstGeom prst="rect">
            <a:avLst/>
          </a:prstGeom>
          <a:noFill/>
        </p:spPr>
        <p:txBody>
          <a:bodyPr wrap="square" lIns="27432" tIns="0" rIns="27432" bIns="0">
            <a:spAutoFit/>
          </a:bodyPr>
          <a:lstStyle/>
          <a:p>
            <a:pPr algn="l"/>
            <a:r>
              <a:rPr lang="en-US" sz="1250" b="0" dirty="0">
                <a:solidFill>
                  <a:srgbClr val="99A6B7"/>
                </a:solidFill>
                <a:latin typeface="Plus Jakarta Sans"/>
              </a:rPr>
              <a:t>RBAC is </a:t>
            </a:r>
            <a:r>
              <a:rPr lang="en-US" sz="1250" dirty="0">
                <a:solidFill>
                  <a:srgbClr val="99A6B7"/>
                </a:solidFill>
                <a:latin typeface="Plus Jakarta Sans"/>
              </a:rPr>
              <a:t>a</a:t>
            </a:r>
            <a:r>
              <a:rPr lang="en-US" sz="1250" b="0" dirty="0">
                <a:solidFill>
                  <a:srgbClr val="99A6B7"/>
                </a:solidFill>
                <a:latin typeface="Plus Jakarta Sans"/>
              </a:rPr>
              <a:t> mechanism for managing permissions in Kubernetes based on the user's role.</a:t>
            </a:r>
          </a:p>
          <a:p>
            <a:pPr algn="l"/>
            <a:endParaRPr lang="en-US" sz="1250" dirty="0">
              <a:solidFill>
                <a:srgbClr val="99A6B7"/>
              </a:solidFill>
              <a:latin typeface="Plus Jakarta Sans"/>
            </a:endParaRPr>
          </a:p>
          <a:p>
            <a:r>
              <a:rPr lang="en-US" sz="1250" dirty="0">
                <a:solidFill>
                  <a:srgbClr val="99A6B7"/>
                </a:solidFill>
                <a:latin typeface="Plus Jakarta Sans"/>
              </a:rPr>
              <a:t>Subjects - (users, groups, or service accounts)</a:t>
            </a:r>
          </a:p>
          <a:p>
            <a:pPr algn="l"/>
            <a:br>
              <a:rPr lang="en-US" sz="1250" dirty="0">
                <a:solidFill>
                  <a:srgbClr val="99A6B7"/>
                </a:solidFill>
                <a:latin typeface="Plus Jakarta Sans"/>
              </a:rPr>
            </a:br>
            <a:endParaRPr lang="en-US" sz="1250" dirty="0">
              <a:solidFill>
                <a:srgbClr val="99A6B7"/>
              </a:solidFill>
              <a:latin typeface="Plus Jakarta Sans"/>
            </a:endParaRPr>
          </a:p>
        </p:txBody>
      </p:sp>
      <p:sp>
        <p:nvSpPr>
          <p:cNvPr id="6" name="TextBox 5">
            <a:extLst>
              <a:ext uri="{FF2B5EF4-FFF2-40B4-BE49-F238E27FC236}">
                <a16:creationId xmlns:a16="http://schemas.microsoft.com/office/drawing/2014/main" id="{4748AAE4-9ED6-13F9-9FA8-AB4304CEA3E7}"/>
              </a:ext>
            </a:extLst>
          </p:cNvPr>
          <p:cNvSpPr txBox="1"/>
          <p:nvPr/>
        </p:nvSpPr>
        <p:spPr>
          <a:xfrm>
            <a:off x="628650" y="1881137"/>
            <a:ext cx="9144000" cy="646331"/>
          </a:xfrm>
          <a:prstGeom prst="rect">
            <a:avLst/>
          </a:prstGeom>
          <a:noFill/>
        </p:spPr>
        <p:txBody>
          <a:bodyPr wrap="square" anchor="t">
            <a:spAutoFit/>
          </a:bodyPr>
          <a:lstStyle/>
          <a:p>
            <a:pPr algn="l"/>
            <a:r>
              <a:rPr sz="1800" b="0" dirty="0">
                <a:solidFill>
                  <a:srgbClr val="D7DEE8"/>
                </a:solidFill>
                <a:latin typeface="Plus Jakarta Sans"/>
              </a:rPr>
              <a:t>Role-Based Access Control (RBAC) is Kubernetes’ built-in authorization model for deciding whether an identity</a:t>
            </a:r>
            <a:r>
              <a:rPr lang="en-US" sz="1800" b="0" dirty="0">
                <a:solidFill>
                  <a:srgbClr val="D7DEE8"/>
                </a:solidFill>
                <a:latin typeface="Plus Jakarta Sans"/>
              </a:rPr>
              <a:t>/user</a:t>
            </a:r>
            <a:r>
              <a:rPr sz="1800" b="0" dirty="0">
                <a:solidFill>
                  <a:srgbClr val="D7DEE8"/>
                </a:solidFill>
                <a:latin typeface="Plus Jakarta Sans"/>
              </a:rPr>
              <a:t> may perform an action on an API resource.</a:t>
            </a:r>
          </a:p>
        </p:txBody>
      </p:sp>
      <p:sp>
        <p:nvSpPr>
          <p:cNvPr id="17" name="Rounded Rectangle 11">
            <a:extLst>
              <a:ext uri="{FF2B5EF4-FFF2-40B4-BE49-F238E27FC236}">
                <a16:creationId xmlns:a16="http://schemas.microsoft.com/office/drawing/2014/main" id="{36F07A6E-B68E-BB61-2F63-A4350C0608E9}"/>
              </a:ext>
            </a:extLst>
          </p:cNvPr>
          <p:cNvSpPr/>
          <p:nvPr/>
        </p:nvSpPr>
        <p:spPr>
          <a:xfrm>
            <a:off x="685800" y="2788920"/>
            <a:ext cx="2417396"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1">
            <a:extLst>
              <a:ext uri="{FF2B5EF4-FFF2-40B4-BE49-F238E27FC236}">
                <a16:creationId xmlns:a16="http://schemas.microsoft.com/office/drawing/2014/main" id="{934C5021-F958-0FB0-0374-AE20F24F07AF}"/>
              </a:ext>
            </a:extLst>
          </p:cNvPr>
          <p:cNvSpPr/>
          <p:nvPr/>
        </p:nvSpPr>
        <p:spPr>
          <a:xfrm>
            <a:off x="3874770" y="2788920"/>
            <a:ext cx="239814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1">
            <a:extLst>
              <a:ext uri="{FF2B5EF4-FFF2-40B4-BE49-F238E27FC236}">
                <a16:creationId xmlns:a16="http://schemas.microsoft.com/office/drawing/2014/main" id="{FD32325E-6720-B29F-00D8-3F791E8F0EDB}"/>
              </a:ext>
            </a:extLst>
          </p:cNvPr>
          <p:cNvSpPr/>
          <p:nvPr/>
        </p:nvSpPr>
        <p:spPr>
          <a:xfrm>
            <a:off x="7063740" y="2788920"/>
            <a:ext cx="2156460" cy="1325880"/>
          </a:xfrm>
          <a:prstGeom prst="roundRect">
            <a:avLst/>
          </a:prstGeom>
          <a:solidFill>
            <a:srgbClr val="121B2C"/>
          </a:solidFill>
          <a:ln w="12700">
            <a:solidFill>
              <a:srgbClr val="2E3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E5ACEF36-BAD8-4438-1A5C-D83F7E243AAD}"/>
              </a:ext>
            </a:extLst>
          </p:cNvPr>
          <p:cNvSpPr txBox="1"/>
          <p:nvPr/>
        </p:nvSpPr>
        <p:spPr>
          <a:xfrm>
            <a:off x="828675" y="2916936"/>
            <a:ext cx="2322576" cy="320040"/>
          </a:xfrm>
          <a:prstGeom prst="rect">
            <a:avLst/>
          </a:prstGeom>
          <a:noFill/>
        </p:spPr>
        <p:txBody>
          <a:bodyPr wrap="square" anchor="t">
            <a:spAutoFit/>
          </a:bodyPr>
          <a:lstStyle/>
          <a:p>
            <a:pPr algn="l"/>
            <a:r>
              <a:rPr sz="1800" b="1" dirty="0">
                <a:solidFill>
                  <a:srgbClr val="51E0FF"/>
                </a:solidFill>
                <a:latin typeface="Space Grotesk"/>
              </a:rPr>
              <a:t>1</a:t>
            </a:r>
          </a:p>
        </p:txBody>
      </p:sp>
      <p:sp>
        <p:nvSpPr>
          <p:cNvPr id="25" name="TextBox 24">
            <a:extLst>
              <a:ext uri="{FF2B5EF4-FFF2-40B4-BE49-F238E27FC236}">
                <a16:creationId xmlns:a16="http://schemas.microsoft.com/office/drawing/2014/main" id="{1BD61E48-1B0F-898F-F52A-79D2EE2690DA}"/>
              </a:ext>
            </a:extLst>
          </p:cNvPr>
          <p:cNvSpPr txBox="1"/>
          <p:nvPr/>
        </p:nvSpPr>
        <p:spPr>
          <a:xfrm>
            <a:off x="3950334" y="2916936"/>
            <a:ext cx="2322576" cy="320040"/>
          </a:xfrm>
          <a:prstGeom prst="rect">
            <a:avLst/>
          </a:prstGeom>
          <a:noFill/>
        </p:spPr>
        <p:txBody>
          <a:bodyPr wrap="square" anchor="t">
            <a:spAutoFit/>
          </a:bodyPr>
          <a:lstStyle/>
          <a:p>
            <a:pPr algn="l"/>
            <a:r>
              <a:rPr sz="1800" b="1" dirty="0">
                <a:solidFill>
                  <a:srgbClr val="51E0FF"/>
                </a:solidFill>
                <a:latin typeface="Space Grotesk"/>
              </a:rPr>
              <a:t>2</a:t>
            </a:r>
          </a:p>
        </p:txBody>
      </p:sp>
      <p:sp>
        <p:nvSpPr>
          <p:cNvPr id="27" name="TextBox 26">
            <a:extLst>
              <a:ext uri="{FF2B5EF4-FFF2-40B4-BE49-F238E27FC236}">
                <a16:creationId xmlns:a16="http://schemas.microsoft.com/office/drawing/2014/main" id="{D9524D72-DE76-3A9D-7FF0-A4B450AFDB29}"/>
              </a:ext>
            </a:extLst>
          </p:cNvPr>
          <p:cNvSpPr txBox="1"/>
          <p:nvPr/>
        </p:nvSpPr>
        <p:spPr>
          <a:xfrm>
            <a:off x="7139304" y="2916936"/>
            <a:ext cx="2322576" cy="320040"/>
          </a:xfrm>
          <a:prstGeom prst="rect">
            <a:avLst/>
          </a:prstGeom>
          <a:noFill/>
        </p:spPr>
        <p:txBody>
          <a:bodyPr wrap="square" anchor="t">
            <a:spAutoFit/>
          </a:bodyPr>
          <a:lstStyle/>
          <a:p>
            <a:pPr algn="l"/>
            <a:r>
              <a:rPr sz="1800" b="1" dirty="0">
                <a:solidFill>
                  <a:srgbClr val="51E0FF"/>
                </a:solidFill>
                <a:latin typeface="Space Grotesk"/>
              </a:rPr>
              <a:t>3</a:t>
            </a:r>
          </a:p>
        </p:txBody>
      </p:sp>
      <p:sp>
        <p:nvSpPr>
          <p:cNvPr id="29" name="TextBox 28">
            <a:extLst>
              <a:ext uri="{FF2B5EF4-FFF2-40B4-BE49-F238E27FC236}">
                <a16:creationId xmlns:a16="http://schemas.microsoft.com/office/drawing/2014/main" id="{DD664B68-803C-A561-4E61-0EA59B4F996F}"/>
              </a:ext>
            </a:extLst>
          </p:cNvPr>
          <p:cNvSpPr txBox="1"/>
          <p:nvPr/>
        </p:nvSpPr>
        <p:spPr>
          <a:xfrm>
            <a:off x="850392" y="3291839"/>
            <a:ext cx="2322576" cy="353943"/>
          </a:xfrm>
          <a:prstGeom prst="rect">
            <a:avLst/>
          </a:prstGeom>
          <a:noFill/>
        </p:spPr>
        <p:txBody>
          <a:bodyPr wrap="square" anchor="t">
            <a:spAutoFit/>
          </a:bodyPr>
          <a:lstStyle/>
          <a:p>
            <a:pPr algn="l"/>
            <a:r>
              <a:rPr sz="1700" b="1" dirty="0">
                <a:solidFill>
                  <a:srgbClr val="F5F7FA"/>
                </a:solidFill>
                <a:latin typeface="Plus Jakarta Sans"/>
              </a:rPr>
              <a:t>Identify</a:t>
            </a:r>
            <a:r>
              <a:rPr lang="en-US" sz="1700" b="1" dirty="0">
                <a:solidFill>
                  <a:srgbClr val="F5F7FA"/>
                </a:solidFill>
                <a:latin typeface="Plus Jakarta Sans"/>
              </a:rPr>
              <a:t> </a:t>
            </a:r>
            <a:r>
              <a:rPr sz="1700" b="1" dirty="0">
                <a:solidFill>
                  <a:srgbClr val="F5F7FA"/>
                </a:solidFill>
                <a:latin typeface="Plus Jakarta Sans"/>
              </a:rPr>
              <a:t>the subject</a:t>
            </a:r>
          </a:p>
        </p:txBody>
      </p:sp>
      <p:sp>
        <p:nvSpPr>
          <p:cNvPr id="31" name="TextBox 30">
            <a:extLst>
              <a:ext uri="{FF2B5EF4-FFF2-40B4-BE49-F238E27FC236}">
                <a16:creationId xmlns:a16="http://schemas.microsoft.com/office/drawing/2014/main" id="{48A2A40C-33CB-D744-C721-B3F48ECE0A10}"/>
              </a:ext>
            </a:extLst>
          </p:cNvPr>
          <p:cNvSpPr txBox="1"/>
          <p:nvPr/>
        </p:nvSpPr>
        <p:spPr>
          <a:xfrm>
            <a:off x="3969590" y="3291839"/>
            <a:ext cx="2322576" cy="353943"/>
          </a:xfrm>
          <a:prstGeom prst="rect">
            <a:avLst/>
          </a:prstGeom>
          <a:noFill/>
        </p:spPr>
        <p:txBody>
          <a:bodyPr wrap="square" anchor="t">
            <a:spAutoFit/>
          </a:bodyPr>
          <a:lstStyle/>
          <a:p>
            <a:pPr algn="l"/>
            <a:r>
              <a:rPr sz="1700" b="1" dirty="0">
                <a:solidFill>
                  <a:srgbClr val="F5F7FA"/>
                </a:solidFill>
                <a:latin typeface="Plus Jakarta Sans"/>
              </a:rPr>
              <a:t>Define</a:t>
            </a:r>
            <a:r>
              <a:rPr lang="en-US" sz="1700" b="1" dirty="0">
                <a:solidFill>
                  <a:srgbClr val="F5F7FA"/>
                </a:solidFill>
                <a:latin typeface="Plus Jakarta Sans"/>
              </a:rPr>
              <a:t> </a:t>
            </a:r>
            <a:r>
              <a:rPr sz="1700" b="1" dirty="0">
                <a:solidFill>
                  <a:srgbClr val="F5F7FA"/>
                </a:solidFill>
                <a:latin typeface="Plus Jakarta Sans"/>
              </a:rPr>
              <a:t>permissions</a:t>
            </a:r>
          </a:p>
        </p:txBody>
      </p:sp>
      <p:sp>
        <p:nvSpPr>
          <p:cNvPr id="33" name="TextBox 32">
            <a:extLst>
              <a:ext uri="{FF2B5EF4-FFF2-40B4-BE49-F238E27FC236}">
                <a16:creationId xmlns:a16="http://schemas.microsoft.com/office/drawing/2014/main" id="{25417823-D66A-B6CA-DDF3-B4B527A54DB9}"/>
              </a:ext>
            </a:extLst>
          </p:cNvPr>
          <p:cNvSpPr txBox="1"/>
          <p:nvPr/>
        </p:nvSpPr>
        <p:spPr>
          <a:xfrm>
            <a:off x="7063740" y="3291839"/>
            <a:ext cx="2322576" cy="353943"/>
          </a:xfrm>
          <a:prstGeom prst="rect">
            <a:avLst/>
          </a:prstGeom>
          <a:noFill/>
        </p:spPr>
        <p:txBody>
          <a:bodyPr wrap="square" anchor="t">
            <a:spAutoFit/>
          </a:bodyPr>
          <a:lstStyle/>
          <a:p>
            <a:pPr algn="l"/>
            <a:r>
              <a:rPr sz="1700" b="1" dirty="0">
                <a:solidFill>
                  <a:srgbClr val="F5F7FA"/>
                </a:solidFill>
                <a:latin typeface="Plus Jakarta Sans"/>
              </a:rPr>
              <a:t>Bind them</a:t>
            </a:r>
            <a:r>
              <a:rPr lang="en-US" sz="1700" b="1" dirty="0">
                <a:solidFill>
                  <a:srgbClr val="F5F7FA"/>
                </a:solidFill>
                <a:latin typeface="Plus Jakarta Sans"/>
              </a:rPr>
              <a:t> </a:t>
            </a:r>
            <a:r>
              <a:rPr sz="1700" b="1" dirty="0">
                <a:solidFill>
                  <a:srgbClr val="F5F7FA"/>
                </a:solidFill>
                <a:latin typeface="Plus Jakarta Sans"/>
              </a:rPr>
              <a:t>to a scope</a:t>
            </a:r>
          </a:p>
        </p:txBody>
      </p:sp>
      <p:sp>
        <p:nvSpPr>
          <p:cNvPr id="7" name="TextBox 6">
            <a:extLst>
              <a:ext uri="{FF2B5EF4-FFF2-40B4-BE49-F238E27FC236}">
                <a16:creationId xmlns:a16="http://schemas.microsoft.com/office/drawing/2014/main" id="{E837C21D-75F8-0397-AA2F-CEA090EBF694}"/>
              </a:ext>
            </a:extLst>
          </p:cNvPr>
          <p:cNvSpPr txBox="1"/>
          <p:nvPr/>
        </p:nvSpPr>
        <p:spPr>
          <a:xfrm>
            <a:off x="628650" y="4336672"/>
            <a:ext cx="10001250" cy="261610"/>
          </a:xfrm>
          <a:prstGeom prst="rect">
            <a:avLst/>
          </a:prstGeom>
          <a:noFill/>
        </p:spPr>
        <p:txBody>
          <a:bodyPr wrap="square" lIns="27432" tIns="0" rIns="27432" bIns="0">
            <a:spAutoFit/>
          </a:bodyPr>
          <a:lstStyle/>
          <a:p>
            <a:pPr algn="ctr"/>
            <a:r>
              <a:rPr lang="en-US" sz="1700" b="0" dirty="0">
                <a:solidFill>
                  <a:srgbClr val="F5F7FA"/>
                </a:solidFill>
                <a:latin typeface="Plus Jakarta Sans"/>
              </a:rPr>
              <a:t>Think: “Should this identity be allowed to do this action here?” </a:t>
            </a:r>
            <a:endParaRPr sz="1700" b="0" dirty="0">
              <a:solidFill>
                <a:srgbClr val="F5F7FA"/>
              </a:solidFill>
              <a:latin typeface="Plus Jakarta San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Why do we need RBAC?</a:t>
            </a:r>
          </a:p>
        </p:txBody>
      </p:sp>
      <p:sp>
        <p:nvSpPr>
          <p:cNvPr id="10" name="TextBox 9"/>
          <p:cNvSpPr txBox="1"/>
          <p:nvPr/>
        </p:nvSpPr>
        <p:spPr>
          <a:xfrm>
            <a:off x="628650" y="1400175"/>
            <a:ext cx="10001250" cy="246221"/>
          </a:xfrm>
          <a:prstGeom prst="rect">
            <a:avLst/>
          </a:prstGeom>
          <a:noFill/>
        </p:spPr>
        <p:txBody>
          <a:bodyPr wrap="square" lIns="27432" tIns="0" rIns="27432" bIns="0">
            <a:spAutoFit/>
          </a:bodyPr>
          <a:lstStyle/>
          <a:p>
            <a:pPr algn="l"/>
            <a:r>
              <a:rPr sz="1600" b="0" dirty="0">
                <a:solidFill>
                  <a:srgbClr val="51E0FF"/>
                </a:solidFill>
                <a:latin typeface="Plus Jakarta Sans"/>
              </a:rPr>
              <a:t>A cluster should not give every identity the same power</a:t>
            </a:r>
          </a:p>
        </p:txBody>
      </p:sp>
      <p:sp>
        <p:nvSpPr>
          <p:cNvPr id="11" name="TextBox 10"/>
          <p:cNvSpPr txBox="1"/>
          <p:nvPr/>
        </p:nvSpPr>
        <p:spPr>
          <a:xfrm>
            <a:off x="628650" y="1950000"/>
            <a:ext cx="6100000" cy="2350000"/>
          </a:xfrm>
          <a:prstGeom prst="rect">
            <a:avLst/>
          </a:prstGeom>
          <a:noFill/>
        </p:spPr>
        <p:txBody>
          <a:bodyPr wrap="square" lIns="18288" tIns="0" rIns="18288" bIns="0">
            <a:spAutoFit/>
          </a:bodyPr>
          <a:lstStyle/>
          <a:p>
            <a:pPr algn="l">
              <a:spcAft>
                <a:spcPts val="700"/>
              </a:spcAft>
              <a:defRPr sz="1800">
                <a:solidFill>
                  <a:srgbClr val="D7DEE8"/>
                </a:solidFill>
                <a:latin typeface="Plus Jakarta Sans"/>
              </a:defRPr>
            </a:pPr>
            <a:r>
              <a:rPr sz="1800">
                <a:solidFill>
                  <a:srgbClr val="D7DEE8"/>
                </a:solidFill>
                <a:latin typeface="Plus Jakarta Sans"/>
              </a:rPr>
              <a:t>• Developers may need access to one namespace, not the whole cluster.</a:t>
            </a:r>
          </a:p>
          <a:p>
            <a:pPr algn="l">
              <a:spcAft>
                <a:spcPts val="700"/>
              </a:spcAft>
            </a:pPr>
            <a:r>
              <a:rPr sz="1800">
                <a:solidFill>
                  <a:srgbClr val="D7DEE8"/>
                </a:solidFill>
                <a:latin typeface="Plus Jakarta Sans"/>
              </a:rPr>
              <a:t>• Applications often need only a few API permissions.</a:t>
            </a:r>
          </a:p>
          <a:p>
            <a:pPr algn="l">
              <a:spcAft>
                <a:spcPts val="700"/>
              </a:spcAft>
            </a:pPr>
            <a:r>
              <a:rPr sz="1800">
                <a:solidFill>
                  <a:srgbClr val="D7DEE8"/>
                </a:solidFill>
                <a:latin typeface="Plus Jakarta Sans"/>
              </a:rPr>
              <a:t>• Reading Secrets or deleting workloads can be highly sensitive.</a:t>
            </a:r>
          </a:p>
          <a:p>
            <a:pPr algn="l">
              <a:spcAft>
                <a:spcPts val="700"/>
              </a:spcAft>
            </a:pPr>
            <a:r>
              <a:rPr sz="1800">
                <a:solidFill>
                  <a:srgbClr val="D7DEE8"/>
                </a:solidFill>
                <a:latin typeface="Plus Jakarta Sans"/>
              </a:rPr>
              <a:t>• RBAC lets us grant only the access required for a job.</a:t>
            </a:r>
          </a:p>
        </p:txBody>
      </p:sp>
      <p:sp>
        <p:nvSpPr>
          <p:cNvPr id="12" name="Rounded Rectangle 11"/>
          <p:cNvSpPr/>
          <p:nvPr/>
        </p:nvSpPr>
        <p:spPr>
          <a:xfrm>
            <a:off x="7199999" y="1999999"/>
            <a:ext cx="3875873" cy="2143375"/>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ctr"/>
            <a:r>
              <a:rPr sz="1800" b="1" dirty="0">
                <a:solidFill>
                  <a:srgbClr val="51E0FF"/>
                </a:solidFill>
                <a:latin typeface="Space Grotesk"/>
              </a:rPr>
              <a:t>Operational goal</a:t>
            </a:r>
            <a:endParaRPr lang="en-US" sz="1800" b="1" dirty="0">
              <a:solidFill>
                <a:srgbClr val="51E0FF"/>
              </a:solidFill>
              <a:latin typeface="Space Grotesk"/>
            </a:endParaRPr>
          </a:p>
          <a:p>
            <a:pPr algn="ctr"/>
            <a:endParaRPr sz="1800" b="1" dirty="0">
              <a:solidFill>
                <a:srgbClr val="51E0FF"/>
              </a:solidFill>
              <a:latin typeface="Space Grotesk"/>
            </a:endParaRPr>
          </a:p>
          <a:p>
            <a:pPr algn="ctr">
              <a:spcAft>
                <a:spcPts val="400"/>
              </a:spcAft>
            </a:pPr>
            <a:r>
              <a:rPr sz="1500" dirty="0">
                <a:solidFill>
                  <a:srgbClr val="D7DEE8"/>
                </a:solidFill>
                <a:latin typeface="Plus Jakarta Sans"/>
              </a:rPr>
              <a:t>Give the right identity</a:t>
            </a:r>
            <a:r>
              <a:rPr lang="en-US" sz="1500" dirty="0">
                <a:solidFill>
                  <a:srgbClr val="D7DEE8"/>
                </a:solidFill>
                <a:latin typeface="Plus Jakarta Sans"/>
              </a:rPr>
              <a:t> </a:t>
            </a:r>
            <a:r>
              <a:rPr sz="1500" dirty="0">
                <a:solidFill>
                  <a:srgbClr val="D7DEE8"/>
                </a:solidFill>
                <a:latin typeface="Plus Jakarta Sans"/>
              </a:rPr>
              <a:t>the minimum </a:t>
            </a:r>
            <a:r>
              <a:rPr lang="en-US" sz="1500" dirty="0">
                <a:solidFill>
                  <a:srgbClr val="D7DEE8"/>
                </a:solidFill>
                <a:latin typeface="Plus Jakarta Sans"/>
              </a:rPr>
              <a:t> r</a:t>
            </a:r>
            <a:r>
              <a:rPr sz="1500" dirty="0">
                <a:solidFill>
                  <a:srgbClr val="D7DEE8"/>
                </a:solidFill>
                <a:latin typeface="Plus Jakarta Sans"/>
              </a:rPr>
              <a:t>equired access</a:t>
            </a:r>
            <a:r>
              <a:rPr lang="en-US" sz="1500" dirty="0">
                <a:solidFill>
                  <a:srgbClr val="D7DEE8"/>
                </a:solidFill>
                <a:latin typeface="Plus Jakarta Sans"/>
              </a:rPr>
              <a:t> i</a:t>
            </a:r>
            <a:r>
              <a:rPr sz="1500" dirty="0">
                <a:solidFill>
                  <a:srgbClr val="D7DEE8"/>
                </a:solidFill>
                <a:latin typeface="Plus Jakarta Sans"/>
              </a:rPr>
              <a:t>n the correct scope.</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The goal is not “make </a:t>
            </a:r>
            <a:r>
              <a:rPr sz="1250" b="0" dirty="0" err="1">
                <a:solidFill>
                  <a:srgbClr val="99A6B7"/>
                </a:solidFill>
                <a:latin typeface="Plus Jakarta Sans"/>
              </a:rPr>
              <a:t>kubectl</a:t>
            </a:r>
            <a:r>
              <a:rPr sz="1250" b="0" dirty="0">
                <a:solidFill>
                  <a:srgbClr val="99A6B7"/>
                </a:solidFill>
                <a:latin typeface="Plus Jakarta Sans"/>
              </a:rPr>
              <a:t> work”; the goal is “grant only what is actually needed”.</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Authentication vs authorization</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RBAC answers “may you do this?” — not “who are you?”</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Authentication</a:t>
            </a:r>
          </a:p>
          <a:p>
            <a:pPr algn="l">
              <a:spcAft>
                <a:spcPts val="400"/>
              </a:spcAft>
            </a:pPr>
            <a:r>
              <a:rPr sz="1600">
                <a:solidFill>
                  <a:srgbClr val="D7DEE8"/>
                </a:solidFill>
                <a:latin typeface="Plus Jakarta Sans"/>
              </a:rPr>
              <a:t>Who is making the request?</a:t>
            </a:r>
          </a:p>
          <a:p>
            <a:pPr algn="l">
              <a:spcAft>
                <a:spcPts val="400"/>
              </a:spcAft>
            </a:pPr>
            <a:r>
              <a:rPr sz="1600">
                <a:solidFill>
                  <a:srgbClr val="D7DEE8"/>
                </a:solidFill>
                <a:latin typeface="Plus Jakarta Sans"/>
              </a:rPr>
              <a:t>Examples: certificate, OIDC identity,</a:t>
            </a:r>
          </a:p>
          <a:p>
            <a:pPr algn="l">
              <a:spcAft>
                <a:spcPts val="400"/>
              </a:spcAft>
            </a:pPr>
            <a:r>
              <a:rPr sz="1600">
                <a:solidFill>
                  <a:srgbClr val="D7DEE8"/>
                </a:solidFill>
                <a:latin typeface="Plus Jakarta Sans"/>
              </a:rPr>
              <a:t>ServiceAccount token</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70EBB1"/>
                </a:solidFill>
                <a:latin typeface="Space Grotesk"/>
              </a:rPr>
              <a:t>Authorization</a:t>
            </a:r>
          </a:p>
          <a:p>
            <a:pPr algn="l">
              <a:spcAft>
                <a:spcPts val="400"/>
              </a:spcAft>
            </a:pPr>
            <a:r>
              <a:rPr sz="1600">
                <a:solidFill>
                  <a:srgbClr val="D7DEE8"/>
                </a:solidFill>
                <a:latin typeface="Plus Jakarta Sans"/>
              </a:rPr>
              <a:t>What may that identity do?</a:t>
            </a:r>
          </a:p>
          <a:p>
            <a:pPr algn="l">
              <a:spcAft>
                <a:spcPts val="400"/>
              </a:spcAft>
            </a:pPr>
            <a:r>
              <a:rPr sz="1600">
                <a:solidFill>
                  <a:srgbClr val="D7DEE8"/>
                </a:solidFill>
                <a:latin typeface="Plus Jakarta Sans"/>
              </a:rPr>
              <a:t>RBAC evaluates verb + resource + scope</a:t>
            </a:r>
          </a:p>
          <a:p>
            <a:pPr algn="l">
              <a:spcAft>
                <a:spcPts val="400"/>
              </a:spcAft>
            </a:pPr>
            <a:r>
              <a:rPr sz="1600">
                <a:solidFill>
                  <a:srgbClr val="D7DEE8"/>
                </a:solidFill>
                <a:latin typeface="Plus Jakarta Sans"/>
              </a:rPr>
              <a:t>and returns allow or forbid</a:t>
            </a:r>
          </a:p>
        </p:txBody>
      </p:sp>
      <p:sp>
        <p:nvSpPr>
          <p:cNvPr id="13" name="TextBox 12"/>
          <p:cNvSpPr txBox="1"/>
          <p:nvPr/>
        </p:nvSpPr>
        <p:spPr>
          <a:xfrm>
            <a:off x="628650" y="4150000"/>
            <a:ext cx="10001250" cy="261610"/>
          </a:xfrm>
          <a:prstGeom prst="rect">
            <a:avLst/>
          </a:prstGeom>
          <a:noFill/>
        </p:spPr>
        <p:txBody>
          <a:bodyPr wrap="square" lIns="27432" tIns="0" rIns="27432" bIns="0">
            <a:spAutoFit/>
          </a:bodyPr>
          <a:lstStyle/>
          <a:p>
            <a:pPr algn="ctr"/>
            <a:r>
              <a:rPr sz="1700" b="0" dirty="0">
                <a:solidFill>
                  <a:srgbClr val="F5F7FA"/>
                </a:solidFill>
                <a:latin typeface="Plus Jakarta Sans"/>
              </a:rPr>
              <a:t>Kubernetes authenticates the request first. RBAC is one authorization mechanism used afterwards.</a:t>
            </a:r>
          </a:p>
        </p:txBody>
      </p:sp>
      <p:sp>
        <p:nvSpPr>
          <p:cNvPr id="14" name="TextBox 13"/>
          <p:cNvSpPr txBox="1"/>
          <p:nvPr/>
        </p:nvSpPr>
        <p:spPr>
          <a:xfrm>
            <a:off x="1025872" y="5425000"/>
            <a:ext cx="10050000" cy="769441"/>
          </a:xfrm>
          <a:prstGeom prst="rect">
            <a:avLst/>
          </a:prstGeom>
          <a:noFill/>
        </p:spPr>
        <p:txBody>
          <a:bodyPr wrap="square" lIns="27432" tIns="0" rIns="27432" bIns="0">
            <a:spAutoFit/>
          </a:bodyPr>
          <a:lstStyle/>
          <a:p>
            <a:pPr algn="l"/>
            <a:r>
              <a:rPr sz="1250" b="0" dirty="0">
                <a:solidFill>
                  <a:srgbClr val="99A6B7"/>
                </a:solidFill>
                <a:latin typeface="Plus Jakarta Sans"/>
              </a:rPr>
              <a:t>Important distinction: Kubernetes RBAC does not create human user accounts. Human identities normally come from an external authentication system; RBAC controls what those identities may do.</a:t>
            </a:r>
            <a:endParaRPr lang="en-US" sz="1250" b="0" dirty="0">
              <a:solidFill>
                <a:srgbClr val="99A6B7"/>
              </a:solidFill>
              <a:latin typeface="Plus Jakarta Sans"/>
            </a:endParaRPr>
          </a:p>
          <a:p>
            <a:pPr algn="l"/>
            <a:endParaRPr lang="en-US" sz="1250" dirty="0">
              <a:solidFill>
                <a:srgbClr val="99A6B7"/>
              </a:solidFill>
              <a:latin typeface="Plus Jakarta Sans"/>
            </a:endParaRPr>
          </a:p>
          <a:p>
            <a:pPr algn="l"/>
            <a:r>
              <a:rPr lang="en-US" sz="1250" b="0" dirty="0">
                <a:solidFill>
                  <a:srgbClr val="99A6B7"/>
                </a:solidFill>
                <a:latin typeface="Plus Jakarta Sans"/>
              </a:rPr>
              <a:t>Verbs - ["get", "watch", "list“, “describe”]</a:t>
            </a:r>
            <a:endParaRPr sz="1250" b="0" dirty="0">
              <a:solidFill>
                <a:srgbClr val="99A6B7"/>
              </a:solidFill>
              <a:latin typeface="Plus Jakarta San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The RBAC mental model</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Subject → Binding → permissions</a:t>
            </a:r>
          </a:p>
        </p:txBody>
      </p:sp>
      <p:sp>
        <p:nvSpPr>
          <p:cNvPr id="11" name="Rounded Rectangle 10"/>
          <p:cNvSpPr/>
          <p:nvPr/>
        </p:nvSpPr>
        <p:spPr>
          <a:xfrm>
            <a:off x="628650" y="1950000"/>
            <a:ext cx="3000000"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Subject</a:t>
            </a:r>
          </a:p>
          <a:p>
            <a:pPr algn="l">
              <a:spcAft>
                <a:spcPts val="400"/>
              </a:spcAft>
            </a:pPr>
            <a:r>
              <a:rPr sz="1600">
                <a:solidFill>
                  <a:srgbClr val="D7DEE8"/>
                </a:solidFill>
                <a:latin typeface="Plus Jakarta Sans"/>
              </a:rPr>
              <a:t>Who?</a:t>
            </a:r>
          </a:p>
          <a:p>
            <a:pPr algn="l">
              <a:spcAft>
                <a:spcPts val="400"/>
              </a:spcAft>
            </a:pPr>
            <a:r>
              <a:rPr sz="1600">
                <a:solidFill>
                  <a:srgbClr val="D7DEE8"/>
                </a:solidFill>
                <a:latin typeface="Plus Jakarta Sans"/>
              </a:rPr>
              <a:t>User / Group / ServiceAccount</a:t>
            </a:r>
          </a:p>
        </p:txBody>
      </p:sp>
      <p:sp>
        <p:nvSpPr>
          <p:cNvPr id="12" name="TextBox 11"/>
          <p:cNvSpPr txBox="1"/>
          <p:nvPr/>
        </p:nvSpPr>
        <p:spPr>
          <a:xfrm>
            <a:off x="3700000" y="2480000"/>
            <a:ext cx="900000" cy="500000"/>
          </a:xfrm>
          <a:prstGeom prst="rect">
            <a:avLst/>
          </a:prstGeom>
          <a:noFill/>
        </p:spPr>
        <p:txBody>
          <a:bodyPr wrap="square" lIns="27432" tIns="0" rIns="27432" bIns="0">
            <a:spAutoFit/>
          </a:bodyPr>
          <a:lstStyle/>
          <a:p>
            <a:pPr algn="ctr"/>
            <a:r>
              <a:rPr sz="2800" b="1">
                <a:solidFill>
                  <a:srgbClr val="51E0FF"/>
                </a:solidFill>
                <a:latin typeface="Space Grotesk"/>
              </a:rPr>
              <a:t>→</a:t>
            </a:r>
          </a:p>
        </p:txBody>
      </p:sp>
      <p:sp>
        <p:nvSpPr>
          <p:cNvPr id="13" name="Rounded Rectangle 12"/>
          <p:cNvSpPr/>
          <p:nvPr/>
        </p:nvSpPr>
        <p:spPr>
          <a:xfrm>
            <a:off x="4550000" y="1950000"/>
            <a:ext cx="2933872"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Binding</a:t>
            </a:r>
            <a:endParaRPr sz="1800" b="1" dirty="0">
              <a:solidFill>
                <a:srgbClr val="73B4FF"/>
              </a:solidFill>
              <a:latin typeface="Space Grotesk"/>
            </a:endParaRPr>
          </a:p>
          <a:p>
            <a:pPr algn="l">
              <a:spcAft>
                <a:spcPts val="400"/>
              </a:spcAft>
            </a:pPr>
            <a:r>
              <a:rPr sz="1600">
                <a:solidFill>
                  <a:srgbClr val="D7DEE8"/>
                </a:solidFill>
                <a:latin typeface="Plus Jakarta Sans"/>
              </a:rPr>
              <a:t>Connects the subject</a:t>
            </a:r>
          </a:p>
          <a:p>
            <a:pPr algn="l">
              <a:spcAft>
                <a:spcPts val="400"/>
              </a:spcAft>
            </a:pPr>
            <a:r>
              <a:rPr sz="1600">
                <a:solidFill>
                  <a:srgbClr val="D7DEE8"/>
                </a:solidFill>
                <a:latin typeface="Plus Jakarta Sans"/>
              </a:rPr>
              <a:t>to a Role or ClusterRole</a:t>
            </a:r>
          </a:p>
        </p:txBody>
      </p:sp>
      <p:sp>
        <p:nvSpPr>
          <p:cNvPr id="14" name="TextBox 13"/>
          <p:cNvSpPr txBox="1"/>
          <p:nvPr/>
        </p:nvSpPr>
        <p:spPr>
          <a:xfrm>
            <a:off x="7800000" y="2480000"/>
            <a:ext cx="700000" cy="500000"/>
          </a:xfrm>
          <a:prstGeom prst="rect">
            <a:avLst/>
          </a:prstGeom>
          <a:noFill/>
        </p:spPr>
        <p:txBody>
          <a:bodyPr wrap="square" lIns="27432" tIns="0" rIns="27432" bIns="0">
            <a:spAutoFit/>
          </a:bodyPr>
          <a:lstStyle/>
          <a:p>
            <a:pPr algn="ctr"/>
            <a:r>
              <a:rPr sz="2800" b="1">
                <a:solidFill>
                  <a:srgbClr val="51E0FF"/>
                </a:solidFill>
                <a:latin typeface="Space Grotesk"/>
              </a:rPr>
              <a:t>→</a:t>
            </a:r>
          </a:p>
        </p:txBody>
      </p:sp>
      <p:sp>
        <p:nvSpPr>
          <p:cNvPr id="15" name="Rounded Rectangle 14"/>
          <p:cNvSpPr/>
          <p:nvPr/>
        </p:nvSpPr>
        <p:spPr>
          <a:xfrm>
            <a:off x="8600000" y="1950000"/>
            <a:ext cx="2475872" cy="18704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Role / ClusterRole</a:t>
            </a:r>
          </a:p>
          <a:p>
            <a:pPr algn="l">
              <a:spcAft>
                <a:spcPts val="400"/>
              </a:spcAft>
            </a:pPr>
            <a:r>
              <a:rPr sz="1600">
                <a:solidFill>
                  <a:srgbClr val="D7DEE8"/>
                </a:solidFill>
                <a:latin typeface="Plus Jakarta Sans"/>
              </a:rPr>
              <a:t>What actions?</a:t>
            </a:r>
          </a:p>
          <a:p>
            <a:pPr algn="l">
              <a:spcAft>
                <a:spcPts val="400"/>
              </a:spcAft>
            </a:pPr>
            <a:r>
              <a:rPr sz="1600">
                <a:solidFill>
                  <a:srgbClr val="D7DEE8"/>
                </a:solidFill>
                <a:latin typeface="Plus Jakarta Sans"/>
              </a:rPr>
              <a:t>verbs + resources + API groups</a:t>
            </a:r>
          </a:p>
        </p:txBody>
      </p:sp>
      <p:sp>
        <p:nvSpPr>
          <p:cNvPr id="16" name="TextBox 15"/>
          <p:cNvSpPr txBox="1"/>
          <p:nvPr/>
        </p:nvSpPr>
        <p:spPr>
          <a:xfrm>
            <a:off x="628650" y="4100000"/>
            <a:ext cx="10001250" cy="261610"/>
          </a:xfrm>
          <a:prstGeom prst="rect">
            <a:avLst/>
          </a:prstGeom>
          <a:noFill/>
        </p:spPr>
        <p:txBody>
          <a:bodyPr wrap="square" lIns="27432" tIns="0" rIns="27432" bIns="0">
            <a:spAutoFit/>
          </a:bodyPr>
          <a:lstStyle/>
          <a:p>
            <a:pPr algn="ctr"/>
            <a:r>
              <a:rPr lang="en-US" sz="1700" b="0" dirty="0">
                <a:solidFill>
                  <a:srgbClr val="F5F7FA"/>
                </a:solidFill>
                <a:latin typeface="Plus Jakarta Sans"/>
              </a:rPr>
              <a:t>Think</a:t>
            </a:r>
            <a:r>
              <a:rPr sz="1700" b="0" dirty="0">
                <a:solidFill>
                  <a:srgbClr val="F5F7FA"/>
                </a:solidFill>
                <a:latin typeface="Plus Jakarta Sans"/>
              </a:rPr>
              <a:t>: “This subject may perform these actions on these resources in this scope.”</a:t>
            </a:r>
          </a:p>
        </p:txBody>
      </p:sp>
      <p:sp>
        <p:nvSpPr>
          <p:cNvPr id="17" name="TextBox 16"/>
          <p:cNvSpPr txBox="1"/>
          <p:nvPr/>
        </p:nvSpPr>
        <p:spPr>
          <a:xfrm>
            <a:off x="1025872" y="5425000"/>
            <a:ext cx="10050000" cy="577081"/>
          </a:xfrm>
          <a:prstGeom prst="rect">
            <a:avLst/>
          </a:prstGeom>
          <a:noFill/>
        </p:spPr>
        <p:txBody>
          <a:bodyPr wrap="square" lIns="27432" tIns="0" rIns="27432" bIns="0">
            <a:spAutoFit/>
          </a:bodyPr>
          <a:lstStyle/>
          <a:p>
            <a:pPr algn="l"/>
            <a:r>
              <a:rPr sz="1250" b="0" dirty="0">
                <a:solidFill>
                  <a:srgbClr val="99A6B7"/>
                </a:solidFill>
                <a:latin typeface="Plus Jakarta Sans"/>
              </a:rPr>
              <a:t>Permissions live in Roles / ClusterRoles. Bindings do not contain permission rules themselves; they connect subjects to those permissions.</a:t>
            </a:r>
            <a:endParaRPr lang="en-US" sz="1250" b="0" dirty="0">
              <a:solidFill>
                <a:srgbClr val="99A6B7"/>
              </a:solidFill>
              <a:latin typeface="Plus Jakarta Sans"/>
            </a:endParaRPr>
          </a:p>
          <a:p>
            <a:pPr algn="l"/>
            <a:endParaRPr lang="en-US" sz="1250" dirty="0">
              <a:solidFill>
                <a:srgbClr val="99A6B7"/>
              </a:solidFill>
              <a:latin typeface="Plus Jakarta Sans"/>
            </a:endParaRPr>
          </a:p>
          <a:p>
            <a:pPr algn="l"/>
            <a:r>
              <a:rPr lang="en-US" sz="1250" b="0" dirty="0">
                <a:solidFill>
                  <a:srgbClr val="99A6B7"/>
                </a:solidFill>
                <a:latin typeface="Plus Jakarta Sans"/>
              </a:rPr>
              <a:t>Subjects - (users, groups, or service accounts)</a:t>
            </a:r>
            <a:endParaRPr sz="1250" b="0" dirty="0">
              <a:solidFill>
                <a:srgbClr val="99A6B7"/>
              </a:solidFill>
              <a:latin typeface="Plus Jakarta San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3"/>
          <a:stretch>
            <a:fillRect/>
          </a:stretch>
        </p:blipFill>
        <p:spPr>
          <a:xfrm>
            <a:off x="15876" y="-12700"/>
            <a:ext cx="12192000" cy="6858000"/>
          </a:xfrm>
          <a:prstGeom prst="rect">
            <a:avLst/>
          </a:prstGeom>
        </p:spPr>
      </p:pic>
      <p:pic>
        <p:nvPicPr>
          <p:cNvPr id="3" name="Picture 2" descr="image.png"/>
          <p:cNvPicPr>
            <a:picLocks noChangeAspect="1"/>
          </p:cNvPicPr>
          <p:nvPr/>
        </p:nvPicPr>
        <p:blipFill>
          <a:blip r:embed="rId4"/>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5"/>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The four core RBAC objects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Two objects define permissions; two objects grant them</a:t>
            </a:r>
          </a:p>
        </p:txBody>
      </p:sp>
      <p:sp>
        <p:nvSpPr>
          <p:cNvPr id="11" name="Rounded Rectangle 10"/>
          <p:cNvSpPr/>
          <p:nvPr/>
        </p:nvSpPr>
        <p:spPr>
          <a:xfrm>
            <a:off x="800000" y="1900000"/>
            <a:ext cx="4500000" cy="12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dirty="0">
                <a:solidFill>
                  <a:srgbClr val="51E0FF"/>
                </a:solidFill>
                <a:latin typeface="Space Grotesk"/>
              </a:rPr>
              <a:t>Role</a:t>
            </a:r>
          </a:p>
          <a:p>
            <a:pPr algn="l">
              <a:spcAft>
                <a:spcPts val="400"/>
              </a:spcAft>
            </a:pPr>
            <a:r>
              <a:rPr lang="en-US" sz="1500" dirty="0">
                <a:solidFill>
                  <a:srgbClr val="D7DEE8"/>
                </a:solidFill>
                <a:latin typeface="Plus Jakarta Sans"/>
              </a:rPr>
              <a:t>Defines permissions (rules) within one specific Namespace</a:t>
            </a:r>
            <a:endParaRPr sz="1500" dirty="0">
              <a:solidFill>
                <a:srgbClr val="D7DEE8"/>
              </a:solidFill>
              <a:latin typeface="Plus Jakarta Sans"/>
            </a:endParaRPr>
          </a:p>
        </p:txBody>
      </p:sp>
      <p:sp>
        <p:nvSpPr>
          <p:cNvPr id="12" name="Rounded Rectangle 11"/>
          <p:cNvSpPr/>
          <p:nvPr/>
        </p:nvSpPr>
        <p:spPr>
          <a:xfrm>
            <a:off x="6200000" y="1900000"/>
            <a:ext cx="4500000" cy="12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dirty="0" err="1">
                <a:solidFill>
                  <a:srgbClr val="70EBB1"/>
                </a:solidFill>
                <a:latin typeface="Space Grotesk"/>
              </a:rPr>
              <a:t>ClusterRole</a:t>
            </a:r>
            <a:endParaRPr sz="1800" b="1" dirty="0">
              <a:solidFill>
                <a:srgbClr val="70EBB1"/>
              </a:solidFill>
              <a:latin typeface="Space Grotesk"/>
            </a:endParaRPr>
          </a:p>
          <a:p>
            <a:pPr algn="l">
              <a:spcAft>
                <a:spcPts val="400"/>
              </a:spcAft>
            </a:pPr>
            <a:r>
              <a:rPr lang="en-US" sz="1500" dirty="0">
                <a:solidFill>
                  <a:srgbClr val="D7DEE8"/>
                </a:solidFill>
                <a:latin typeface="Plus Jakarta Sans"/>
              </a:rPr>
              <a:t>Defines permissions at the entire cluster level or for resources that are not </a:t>
            </a:r>
            <a:r>
              <a:rPr lang="en-US" sz="1500" dirty="0" err="1">
                <a:solidFill>
                  <a:srgbClr val="D7DEE8"/>
                </a:solidFill>
                <a:latin typeface="Plus Jakarta Sans"/>
              </a:rPr>
              <a:t>namespaced</a:t>
            </a:r>
            <a:r>
              <a:rPr lang="en-US" sz="1500" dirty="0">
                <a:solidFill>
                  <a:srgbClr val="D7DEE8"/>
                </a:solidFill>
                <a:latin typeface="Plus Jakarta Sans"/>
              </a:rPr>
              <a:t> (such as Nodes)</a:t>
            </a:r>
            <a:endParaRPr sz="1500" dirty="0">
              <a:solidFill>
                <a:srgbClr val="D7DEE8"/>
              </a:solidFill>
              <a:latin typeface="Plus Jakarta Sans"/>
            </a:endParaRPr>
          </a:p>
        </p:txBody>
      </p:sp>
      <p:sp>
        <p:nvSpPr>
          <p:cNvPr id="13" name="Rounded Rectangle 12"/>
          <p:cNvSpPr/>
          <p:nvPr/>
        </p:nvSpPr>
        <p:spPr>
          <a:xfrm>
            <a:off x="800000" y="3400000"/>
            <a:ext cx="4500000" cy="12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dirty="0" err="1">
                <a:solidFill>
                  <a:srgbClr val="51E0FF"/>
                </a:solidFill>
                <a:latin typeface="Space Grotesk"/>
              </a:rPr>
              <a:t>RoleBinding</a:t>
            </a:r>
            <a:endParaRPr sz="1800" b="1" dirty="0">
              <a:solidFill>
                <a:srgbClr val="51E0FF"/>
              </a:solidFill>
              <a:latin typeface="Space Grotesk"/>
            </a:endParaRPr>
          </a:p>
          <a:p>
            <a:pPr>
              <a:spcAft>
                <a:spcPts val="400"/>
              </a:spcAft>
            </a:pPr>
            <a:r>
              <a:rPr lang="en-US" sz="1600" dirty="0"/>
              <a:t>Connects a user (User/Group/</a:t>
            </a:r>
            <a:r>
              <a:rPr lang="en-US" sz="1600" dirty="0" err="1"/>
              <a:t>ServiceAccount</a:t>
            </a:r>
            <a:r>
              <a:rPr lang="en-US" sz="1600" dirty="0"/>
              <a:t>) to a specific Role (grants them the permissions within that Namespace)</a:t>
            </a:r>
            <a:endParaRPr lang="en-US" sz="1500" dirty="0">
              <a:solidFill>
                <a:srgbClr val="D7DEE8"/>
              </a:solidFill>
              <a:latin typeface="Plus Jakarta Sans"/>
            </a:endParaRPr>
          </a:p>
        </p:txBody>
      </p:sp>
      <p:sp>
        <p:nvSpPr>
          <p:cNvPr id="14" name="TextBox 13"/>
          <p:cNvSpPr txBox="1"/>
          <p:nvPr/>
        </p:nvSpPr>
        <p:spPr>
          <a:xfrm>
            <a:off x="628650" y="4660000"/>
            <a:ext cx="10001250" cy="238527"/>
          </a:xfrm>
          <a:prstGeom prst="rect">
            <a:avLst/>
          </a:prstGeom>
          <a:noFill/>
        </p:spPr>
        <p:txBody>
          <a:bodyPr wrap="square" lIns="27432" tIns="0" rIns="27432" bIns="0">
            <a:spAutoFit/>
          </a:bodyPr>
          <a:lstStyle/>
          <a:p>
            <a:pPr algn="ctr"/>
            <a:r>
              <a:rPr sz="1550" dirty="0">
                <a:solidFill>
                  <a:srgbClr val="F5F7FA"/>
                </a:solidFill>
                <a:latin typeface="Plus Jakarta Sans"/>
              </a:rPr>
              <a:t>Remember: Role + </a:t>
            </a:r>
            <a:r>
              <a:rPr sz="1550" dirty="0" err="1">
                <a:solidFill>
                  <a:srgbClr val="F5F7FA"/>
                </a:solidFill>
                <a:latin typeface="Plus Jakarta Sans"/>
              </a:rPr>
              <a:t>RoleBinding</a:t>
            </a:r>
            <a:r>
              <a:rPr sz="1550" dirty="0">
                <a:solidFill>
                  <a:srgbClr val="F5F7FA"/>
                </a:solidFill>
                <a:latin typeface="Plus Jakarta Sans"/>
              </a:rPr>
              <a:t>, </a:t>
            </a:r>
            <a:r>
              <a:rPr sz="1550" dirty="0" err="1">
                <a:solidFill>
                  <a:srgbClr val="F5F7FA"/>
                </a:solidFill>
                <a:latin typeface="Plus Jakarta Sans"/>
              </a:rPr>
              <a:t>ClusterRole</a:t>
            </a:r>
            <a:r>
              <a:rPr sz="1550" dirty="0">
                <a:solidFill>
                  <a:srgbClr val="F5F7FA"/>
                </a:solidFill>
                <a:latin typeface="Plus Jakarta Sans"/>
              </a:rPr>
              <a:t> + </a:t>
            </a:r>
            <a:r>
              <a:rPr sz="1550" dirty="0" err="1">
                <a:solidFill>
                  <a:srgbClr val="F5F7FA"/>
                </a:solidFill>
                <a:latin typeface="Plus Jakarta Sans"/>
              </a:rPr>
              <a:t>ClusterRoleBinding</a:t>
            </a:r>
            <a:r>
              <a:rPr sz="1550" dirty="0">
                <a:solidFill>
                  <a:srgbClr val="F5F7FA"/>
                </a:solidFill>
                <a:latin typeface="Plus Jakarta Sans"/>
              </a:rPr>
              <a:t> — and a </a:t>
            </a:r>
            <a:r>
              <a:rPr sz="1550" dirty="0" err="1">
                <a:solidFill>
                  <a:srgbClr val="F5F7FA"/>
                </a:solidFill>
                <a:latin typeface="Plus Jakarta Sans"/>
              </a:rPr>
              <a:t>RoleBinding</a:t>
            </a:r>
            <a:r>
              <a:rPr sz="1550" dirty="0">
                <a:solidFill>
                  <a:srgbClr val="F5F7FA"/>
                </a:solidFill>
                <a:latin typeface="Plus Jakarta Sans"/>
              </a:rPr>
              <a:t> can also reference a </a:t>
            </a:r>
            <a:r>
              <a:rPr sz="1550" dirty="0" err="1">
                <a:solidFill>
                  <a:srgbClr val="F5F7FA"/>
                </a:solidFill>
                <a:latin typeface="Plus Jakarta Sans"/>
              </a:rPr>
              <a:t>ClusterRole</a:t>
            </a:r>
            <a:r>
              <a:rPr sz="1550" dirty="0">
                <a:solidFill>
                  <a:srgbClr val="F5F7FA"/>
                </a:solidFill>
                <a:latin typeface="Plus Jakarta Sans"/>
              </a:rPr>
              <a:t>.</a:t>
            </a:r>
          </a:p>
        </p:txBody>
      </p:sp>
      <p:sp>
        <p:nvSpPr>
          <p:cNvPr id="15" name="TextBox 14"/>
          <p:cNvSpPr txBox="1"/>
          <p:nvPr/>
        </p:nvSpPr>
        <p:spPr>
          <a:xfrm>
            <a:off x="1025872" y="5425000"/>
            <a:ext cx="10050000" cy="384721"/>
          </a:xfrm>
          <a:prstGeom prst="rect">
            <a:avLst/>
          </a:prstGeom>
          <a:noFill/>
        </p:spPr>
        <p:txBody>
          <a:bodyPr wrap="square" lIns="27432" tIns="0" rIns="27432" bIns="0">
            <a:spAutoFit/>
          </a:bodyPr>
          <a:lstStyle/>
          <a:p>
            <a:pPr algn="l"/>
            <a:r>
              <a:rPr lang="en-US" sz="1250" b="0" dirty="0">
                <a:solidFill>
                  <a:srgbClr val="99A6B7"/>
                </a:solidFill>
                <a:latin typeface="Plus Jakarta Sans"/>
              </a:rPr>
              <a:t>ClusterRole does not automatically mean “everyone, everywhere”. It defines cluster-scoped rules; the binding determines where those rules are granted.</a:t>
            </a:r>
          </a:p>
        </p:txBody>
      </p:sp>
      <p:sp>
        <p:nvSpPr>
          <p:cNvPr id="9001" name="Rounded Rectangle 9000"/>
          <p:cNvSpPr/>
          <p:nvPr/>
        </p:nvSpPr>
        <p:spPr>
          <a:xfrm>
            <a:off x="6200000" y="3400000"/>
            <a:ext cx="4500000" cy="12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dirty="0" err="1">
                <a:solidFill>
                  <a:srgbClr val="70EBB1"/>
                </a:solidFill>
                <a:latin typeface="Space Grotesk"/>
              </a:rPr>
              <a:t>ClusterRoleBinding</a:t>
            </a:r>
            <a:endParaRPr sz="1800" b="1" dirty="0">
              <a:solidFill>
                <a:srgbClr val="70EBB1"/>
              </a:solidFill>
              <a:latin typeface="Space Grotesk"/>
            </a:endParaRPr>
          </a:p>
          <a:p>
            <a:pPr>
              <a:spcAft>
                <a:spcPts val="400"/>
              </a:spcAft>
            </a:pPr>
            <a:r>
              <a:rPr lang="en-US" sz="1600" dirty="0"/>
              <a:t>Connects a user to a </a:t>
            </a:r>
            <a:r>
              <a:rPr lang="en-US" sz="1600" dirty="0" err="1"/>
              <a:t>ClusterRole</a:t>
            </a:r>
            <a:r>
              <a:rPr lang="en-US" sz="1600" dirty="0"/>
              <a:t> at the entire cluster level</a:t>
            </a:r>
            <a:endParaRPr sz="1500" dirty="0">
              <a:solidFill>
                <a:srgbClr val="D7DEE8"/>
              </a:solidFill>
              <a:latin typeface="Plus Jakarta San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Role vs ClusterRole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 difference starts with scope</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dirty="0">
                <a:solidFill>
                  <a:srgbClr val="51E0FF"/>
                </a:solidFill>
                <a:latin typeface="Space Grotesk"/>
              </a:rPr>
              <a:t>Role</a:t>
            </a:r>
          </a:p>
          <a:p>
            <a:pPr algn="l">
              <a:spcAft>
                <a:spcPts val="400"/>
              </a:spcAft>
            </a:pPr>
            <a:r>
              <a:rPr sz="1700" dirty="0" err="1">
                <a:solidFill>
                  <a:srgbClr val="D7DEE8"/>
                </a:solidFill>
                <a:latin typeface="Plus Jakarta Sans"/>
              </a:rPr>
              <a:t>Namespaced</a:t>
            </a:r>
            <a:r>
              <a:rPr sz="1700" dirty="0">
                <a:solidFill>
                  <a:srgbClr val="D7DEE8"/>
                </a:solidFill>
                <a:latin typeface="Plus Jakarta Sans"/>
              </a:rPr>
              <a:t> object</a:t>
            </a:r>
          </a:p>
          <a:p>
            <a:pPr algn="l">
              <a:spcAft>
                <a:spcPts val="400"/>
              </a:spcAft>
            </a:pPr>
            <a:r>
              <a:rPr sz="1700" dirty="0">
                <a:solidFill>
                  <a:srgbClr val="D7DEE8"/>
                </a:solidFill>
                <a:latin typeface="Plus Jakarta Sans"/>
              </a:rPr>
              <a:t>Permissions apply within one namespace</a:t>
            </a:r>
          </a:p>
          <a:p>
            <a:pPr algn="l">
              <a:spcAft>
                <a:spcPts val="400"/>
              </a:spcAft>
            </a:pPr>
            <a:r>
              <a:rPr sz="1700" dirty="0">
                <a:solidFill>
                  <a:srgbClr val="D7DEE8"/>
                </a:solidFill>
                <a:latin typeface="Plus Jakarta Sans"/>
              </a:rPr>
              <a:t>Example: read Pods in </a:t>
            </a:r>
            <a:r>
              <a:rPr lang="en-US" sz="1700" dirty="0">
                <a:solidFill>
                  <a:srgbClr val="D7DEE8"/>
                </a:solidFill>
                <a:latin typeface="Plus Jakarta Sans"/>
              </a:rPr>
              <a:t>–n </a:t>
            </a:r>
            <a:r>
              <a:rPr sz="1700" dirty="0">
                <a:solidFill>
                  <a:srgbClr val="D7DEE8"/>
                </a:solidFill>
                <a:latin typeface="Plus Jakarta Sans"/>
              </a:rPr>
              <a:t>finance</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70EBB1"/>
                </a:solidFill>
                <a:latin typeface="Space Grotesk"/>
              </a:rPr>
              <a:t>ClusterRole</a:t>
            </a:r>
            <a:endParaRPr sz="1800" b="1" dirty="0">
              <a:solidFill>
                <a:srgbClr val="70EBB1"/>
              </a:solidFill>
              <a:latin typeface="Space Grotesk"/>
            </a:endParaRPr>
          </a:p>
          <a:p>
            <a:pPr algn="l">
              <a:spcAft>
                <a:spcPts val="400"/>
              </a:spcAft>
            </a:pPr>
            <a:r>
              <a:rPr sz="1700">
                <a:solidFill>
                  <a:srgbClr val="D7DEE8"/>
                </a:solidFill>
                <a:latin typeface="Plus Jakarta Sans"/>
              </a:rPr>
              <a:t>Cluster-scoped object</a:t>
            </a:r>
          </a:p>
          <a:p>
            <a:pPr algn="l">
              <a:spcAft>
                <a:spcPts val="400"/>
              </a:spcAft>
            </a:pPr>
            <a:r>
              <a:rPr sz="1700">
                <a:solidFill>
                  <a:srgbClr val="D7DEE8"/>
                </a:solidFill>
                <a:latin typeface="Plus Jakarta Sans"/>
              </a:rPr>
              <a:t>Can cover Nodes / cluster resources</a:t>
            </a:r>
          </a:p>
          <a:p>
            <a:pPr algn="l">
              <a:spcAft>
                <a:spcPts val="400"/>
              </a:spcAft>
            </a:pPr>
            <a:r>
              <a:rPr sz="1700">
                <a:solidFill>
                  <a:srgbClr val="D7DEE8"/>
                </a:solidFill>
                <a:latin typeface="Plus Jakarta Sans"/>
              </a:rPr>
              <a:t>Can also define reusable namespaced rules</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l"/>
            <a:r>
              <a:rPr sz="1700" b="0" dirty="0">
                <a:solidFill>
                  <a:srgbClr val="F5F7FA"/>
                </a:solidFill>
                <a:latin typeface="Plus Jakarta Sans"/>
              </a:rPr>
              <a:t>A </a:t>
            </a:r>
            <a:r>
              <a:rPr sz="1700" b="0" dirty="0" err="1">
                <a:solidFill>
                  <a:srgbClr val="F5F7FA"/>
                </a:solidFill>
                <a:latin typeface="Plus Jakarta Sans"/>
              </a:rPr>
              <a:t>ClusterRole</a:t>
            </a:r>
            <a:r>
              <a:rPr sz="1700" b="0" dirty="0">
                <a:solidFill>
                  <a:srgbClr val="F5F7FA"/>
                </a:solidFill>
                <a:latin typeface="Plus Jakarta Sans"/>
              </a:rPr>
              <a:t> is still only a permission definition. It grants nothing until a </a:t>
            </a:r>
            <a:r>
              <a:rPr sz="1700" b="0" dirty="0" err="1">
                <a:solidFill>
                  <a:srgbClr val="F5F7FA"/>
                </a:solidFill>
                <a:latin typeface="Plus Jakarta Sans"/>
              </a:rPr>
              <a:t>RoleBinding</a:t>
            </a:r>
            <a:r>
              <a:rPr sz="1700" b="0" dirty="0">
                <a:solidFill>
                  <a:srgbClr val="F5F7FA"/>
                </a:solidFill>
                <a:latin typeface="Plus Jakarta Sans"/>
              </a:rPr>
              <a:t> or </a:t>
            </a:r>
            <a:r>
              <a:rPr sz="1700" b="0" dirty="0" err="1">
                <a:solidFill>
                  <a:srgbClr val="F5F7FA"/>
                </a:solidFill>
                <a:latin typeface="Plus Jakarta Sans"/>
              </a:rPr>
              <a:t>ClusterRoleBinding</a:t>
            </a:r>
            <a:r>
              <a:rPr sz="1700" b="0" dirty="0">
                <a:solidFill>
                  <a:srgbClr val="F5F7FA"/>
                </a:solidFill>
                <a:latin typeface="Plus Jakarta Sans"/>
              </a:rPr>
              <a:t> references it.</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A common misconception is “ClusterRole = cluster-wide access”. Not necessarily: binding a ClusterRole with a RoleBinding limits that grant to the RoleBinding’s namespace.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RoleBinding vs ClusterRoleBinding</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Bindings decide who receives permissions — and where</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RoleBinding</a:t>
            </a:r>
          </a:p>
          <a:p>
            <a:pPr algn="l">
              <a:spcAft>
                <a:spcPts val="400"/>
              </a:spcAft>
            </a:pPr>
            <a:r>
              <a:rPr sz="1550">
                <a:solidFill>
                  <a:srgbClr val="D7DEE8"/>
                </a:solidFill>
                <a:latin typeface="Plus Jakarta Sans"/>
              </a:rPr>
              <a:t>Lives in one namespace</a:t>
            </a:r>
          </a:p>
          <a:p>
            <a:pPr algn="l">
              <a:spcAft>
                <a:spcPts val="400"/>
              </a:spcAft>
            </a:pPr>
            <a:r>
              <a:rPr sz="1550">
                <a:solidFill>
                  <a:srgbClr val="D7DEE8"/>
                </a:solidFill>
                <a:latin typeface="Plus Jakarta Sans"/>
              </a:rPr>
              <a:t>Can reference a Role in that namespace</a:t>
            </a:r>
          </a:p>
          <a:p>
            <a:pPr algn="l">
              <a:spcAft>
                <a:spcPts val="400"/>
              </a:spcAft>
            </a:pPr>
            <a:r>
              <a:rPr sz="1550">
                <a:solidFill>
                  <a:srgbClr val="D7DEE8"/>
                </a:solidFill>
                <a:latin typeface="Plus Jakarta Sans"/>
              </a:rPr>
              <a:t>or a ClusterRole</a:t>
            </a:r>
          </a:p>
          <a:p>
            <a:pPr algn="l">
              <a:spcAft>
                <a:spcPts val="400"/>
              </a:spcAft>
            </a:pPr>
            <a:r>
              <a:rPr sz="1550">
                <a:solidFill>
                  <a:srgbClr val="D7DEE8"/>
                </a:solidFill>
                <a:latin typeface="Plus Jakarta Sans"/>
              </a:rPr>
              <a:t>Grant stays inside that namespace</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70EBB1"/>
                </a:solidFill>
                <a:latin typeface="Space Grotesk"/>
              </a:rPr>
              <a:t>ClusterRoleBinding</a:t>
            </a:r>
            <a:endParaRPr sz="1800" b="1" dirty="0">
              <a:solidFill>
                <a:srgbClr val="70EBB1"/>
              </a:solidFill>
              <a:latin typeface="Space Grotesk"/>
            </a:endParaRPr>
          </a:p>
          <a:p>
            <a:pPr algn="l">
              <a:spcAft>
                <a:spcPts val="400"/>
              </a:spcAft>
            </a:pPr>
            <a:r>
              <a:rPr sz="1550">
                <a:solidFill>
                  <a:srgbClr val="D7DEE8"/>
                </a:solidFill>
                <a:latin typeface="Plus Jakarta Sans"/>
              </a:rPr>
              <a:t>Cluster-scoped binding</a:t>
            </a:r>
          </a:p>
          <a:p>
            <a:pPr algn="l">
              <a:spcAft>
                <a:spcPts val="400"/>
              </a:spcAft>
            </a:pPr>
            <a:r>
              <a:rPr sz="1550">
                <a:solidFill>
                  <a:srgbClr val="D7DEE8"/>
                </a:solidFill>
                <a:latin typeface="Plus Jakarta Sans"/>
              </a:rPr>
              <a:t>References a ClusterRole</a:t>
            </a:r>
          </a:p>
          <a:p>
            <a:pPr algn="l">
              <a:spcAft>
                <a:spcPts val="400"/>
              </a:spcAft>
            </a:pPr>
            <a:r>
              <a:rPr sz="1550">
                <a:solidFill>
                  <a:srgbClr val="D7DEE8"/>
                </a:solidFill>
                <a:latin typeface="Plus Jakarta Sans"/>
              </a:rPr>
              <a:t>Grant applies cluster-wide</a:t>
            </a:r>
          </a:p>
          <a:p>
            <a:pPr algn="l">
              <a:spcAft>
                <a:spcPts val="400"/>
              </a:spcAft>
            </a:pPr>
            <a:r>
              <a:rPr sz="1550">
                <a:solidFill>
                  <a:srgbClr val="D7DEE8"/>
                </a:solidFill>
                <a:latin typeface="Plus Jakarta Sans"/>
              </a:rPr>
              <a:t>Use only when truly required</a:t>
            </a:r>
          </a:p>
        </p:txBody>
      </p:sp>
      <p:sp>
        <p:nvSpPr>
          <p:cNvPr id="13" name="TextBox 12"/>
          <p:cNvSpPr txBox="1"/>
          <p:nvPr/>
        </p:nvSpPr>
        <p:spPr>
          <a:xfrm>
            <a:off x="628650" y="4150000"/>
            <a:ext cx="10001250" cy="261610"/>
          </a:xfrm>
          <a:prstGeom prst="rect">
            <a:avLst/>
          </a:prstGeom>
          <a:noFill/>
        </p:spPr>
        <p:txBody>
          <a:bodyPr wrap="square" lIns="27432" tIns="0" rIns="27432" bIns="0">
            <a:spAutoFit/>
          </a:bodyPr>
          <a:lstStyle/>
          <a:p>
            <a:pPr algn="ctr"/>
            <a:r>
              <a:rPr sz="1700" b="0" dirty="0">
                <a:solidFill>
                  <a:srgbClr val="F5F7FA"/>
                </a:solidFill>
                <a:latin typeface="Plus Jakarta Sans"/>
              </a:rPr>
              <a:t>Prefer namespace-scoped </a:t>
            </a:r>
            <a:r>
              <a:rPr sz="1700" b="0" dirty="0" err="1">
                <a:solidFill>
                  <a:srgbClr val="F5F7FA"/>
                </a:solidFill>
                <a:latin typeface="Plus Jakarta Sans"/>
              </a:rPr>
              <a:t>RoleBindings</a:t>
            </a:r>
            <a:r>
              <a:rPr sz="1700" b="0" dirty="0">
                <a:solidFill>
                  <a:srgbClr val="F5F7FA"/>
                </a:solidFill>
                <a:latin typeface="Plus Jakarta Sans"/>
              </a:rPr>
              <a:t> whenever the requirement is namespace-scoped.</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RoleBinding cannot reference a Role from another namespace. ClusterRoleBinding references ClusterRole, never a namespaced Role.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Who can receive RBAC permissions?</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Bindings point to subjects</a:t>
            </a:r>
          </a:p>
        </p:txBody>
      </p:sp>
      <p:sp>
        <p:nvSpPr>
          <p:cNvPr id="11" name="Rounded Rectangle 10"/>
          <p:cNvSpPr/>
          <p:nvPr/>
        </p:nvSpPr>
        <p:spPr>
          <a:xfrm>
            <a:off x="8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dirty="0">
                <a:solidFill>
                  <a:srgbClr val="51E0FF"/>
                </a:solidFill>
                <a:latin typeface="Space Grotesk"/>
              </a:rPr>
              <a:t>Users</a:t>
            </a:r>
          </a:p>
          <a:p>
            <a:pPr algn="l">
              <a:spcAft>
                <a:spcPts val="400"/>
              </a:spcAft>
            </a:pPr>
            <a:r>
              <a:rPr sz="1550" dirty="0">
                <a:solidFill>
                  <a:srgbClr val="D7DEE8"/>
                </a:solidFill>
                <a:latin typeface="Plus Jakarta Sans"/>
              </a:rPr>
              <a:t>Human identities</a:t>
            </a:r>
          </a:p>
          <a:p>
            <a:pPr algn="l">
              <a:spcAft>
                <a:spcPts val="400"/>
              </a:spcAft>
            </a:pPr>
            <a:r>
              <a:rPr sz="1550" dirty="0">
                <a:solidFill>
                  <a:srgbClr val="D7DEE8"/>
                </a:solidFill>
                <a:latin typeface="Plus Jakarta Sans"/>
              </a:rPr>
              <a:t>Managed outside the Kubernetes API</a:t>
            </a:r>
          </a:p>
          <a:p>
            <a:pPr algn="l">
              <a:spcAft>
                <a:spcPts val="400"/>
              </a:spcAft>
            </a:pPr>
            <a:r>
              <a:rPr sz="1550" dirty="0">
                <a:solidFill>
                  <a:srgbClr val="D7DEE8"/>
                </a:solidFill>
                <a:latin typeface="Plus Jakarta Sans"/>
              </a:rPr>
              <a:t>for example through OIDC / certificates</a:t>
            </a:r>
          </a:p>
        </p:txBody>
      </p:sp>
      <p:sp>
        <p:nvSpPr>
          <p:cNvPr id="12" name="Rounded Rectangle 11"/>
          <p:cNvSpPr/>
          <p:nvPr/>
        </p:nvSpPr>
        <p:spPr>
          <a:xfrm>
            <a:off x="43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70EBB1"/>
                </a:solidFill>
                <a:latin typeface="Space Grotesk"/>
              </a:rPr>
              <a:t>Groups</a:t>
            </a:r>
          </a:p>
          <a:p>
            <a:pPr algn="l">
              <a:spcAft>
                <a:spcPts val="400"/>
              </a:spcAft>
            </a:pPr>
            <a:r>
              <a:rPr sz="1550">
                <a:solidFill>
                  <a:srgbClr val="D7DEE8"/>
                </a:solidFill>
                <a:latin typeface="Plus Jakarta Sans"/>
              </a:rPr>
              <a:t>Collections of user identities</a:t>
            </a:r>
          </a:p>
          <a:p>
            <a:pPr algn="l">
              <a:spcAft>
                <a:spcPts val="400"/>
              </a:spcAft>
            </a:pPr>
            <a:r>
              <a:rPr sz="1550">
                <a:solidFill>
                  <a:srgbClr val="D7DEE8"/>
                </a:solidFill>
                <a:latin typeface="Plus Jakarta Sans"/>
              </a:rPr>
              <a:t>Supplied by the authenticator</a:t>
            </a:r>
          </a:p>
          <a:p>
            <a:pPr algn="l">
              <a:spcAft>
                <a:spcPts val="400"/>
              </a:spcAft>
            </a:pPr>
            <a:r>
              <a:rPr sz="1550">
                <a:solidFill>
                  <a:srgbClr val="D7DEE8"/>
                </a:solidFill>
                <a:latin typeface="Plus Jakarta Sans"/>
              </a:rPr>
              <a:t>Useful for team-level access</a:t>
            </a:r>
          </a:p>
        </p:txBody>
      </p:sp>
      <p:sp>
        <p:nvSpPr>
          <p:cNvPr id="13" name="Rounded Rectangle 12"/>
          <p:cNvSpPr/>
          <p:nvPr/>
        </p:nvSpPr>
        <p:spPr>
          <a:xfrm>
            <a:off x="78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ServiceAccounts</a:t>
            </a:r>
          </a:p>
          <a:p>
            <a:pPr algn="l">
              <a:spcAft>
                <a:spcPts val="400"/>
              </a:spcAft>
            </a:pPr>
            <a:r>
              <a:rPr sz="1550">
                <a:solidFill>
                  <a:srgbClr val="D7DEE8"/>
                </a:solidFill>
                <a:latin typeface="Plus Jakarta Sans"/>
              </a:rPr>
              <a:t>Kubernetes objects</a:t>
            </a:r>
          </a:p>
          <a:p>
            <a:pPr algn="l">
              <a:spcAft>
                <a:spcPts val="400"/>
              </a:spcAft>
            </a:pPr>
            <a:r>
              <a:rPr sz="1550">
                <a:solidFill>
                  <a:srgbClr val="D7DEE8"/>
                </a:solidFill>
                <a:latin typeface="Plus Jakarta Sans"/>
              </a:rPr>
              <a:t>Namespaced, non-human identities</a:t>
            </a:r>
          </a:p>
          <a:p>
            <a:pPr algn="l">
              <a:spcAft>
                <a:spcPts val="400"/>
              </a:spcAft>
            </a:pPr>
            <a:r>
              <a:rPr sz="1550">
                <a:solidFill>
                  <a:srgbClr val="D7DEE8"/>
                </a:solidFill>
                <a:latin typeface="Plus Jakarta Sans"/>
              </a:rPr>
              <a:t>Used by Pods and automation</a:t>
            </a:r>
          </a:p>
        </p:txBody>
      </p:sp>
      <p:sp>
        <p:nvSpPr>
          <p:cNvPr id="14" name="TextBox 13"/>
          <p:cNvSpPr txBox="1"/>
          <p:nvPr/>
        </p:nvSpPr>
        <p:spPr>
          <a:xfrm>
            <a:off x="628650" y="4200000"/>
            <a:ext cx="10001250" cy="238527"/>
          </a:xfrm>
          <a:prstGeom prst="rect">
            <a:avLst/>
          </a:prstGeom>
          <a:noFill/>
        </p:spPr>
        <p:txBody>
          <a:bodyPr wrap="square" lIns="27432" tIns="0" rIns="27432" bIns="0">
            <a:spAutoFit/>
          </a:bodyPr>
          <a:lstStyle/>
          <a:p>
            <a:pPr algn="ctr"/>
            <a:r>
              <a:rPr sz="1550" b="0" dirty="0" err="1">
                <a:solidFill>
                  <a:srgbClr val="F5F7FA"/>
                </a:solidFill>
                <a:latin typeface="Plus Jakarta Sans"/>
              </a:rPr>
              <a:t>ServiceAccount</a:t>
            </a:r>
            <a:r>
              <a:rPr sz="1550" b="0" dirty="0">
                <a:solidFill>
                  <a:srgbClr val="F5F7FA"/>
                </a:solidFill>
                <a:latin typeface="Plus Jakarta Sans"/>
              </a:rPr>
              <a:t> identity format: </a:t>
            </a:r>
            <a:r>
              <a:rPr sz="1550" b="0" dirty="0" err="1">
                <a:solidFill>
                  <a:srgbClr val="F5F7FA"/>
                </a:solidFill>
                <a:latin typeface="Plus Jakarta Sans"/>
              </a:rPr>
              <a:t>system:serviceaccount</a:t>
            </a:r>
            <a:r>
              <a:rPr sz="1550" b="0" dirty="0">
                <a:solidFill>
                  <a:srgbClr val="F5F7FA"/>
                </a:solidFill>
                <a:latin typeface="Plus Jakarta Sans"/>
              </a:rPr>
              <a:t>:&lt;namespace&gt;:&lt;name&gt;</a:t>
            </a:r>
          </a:p>
        </p:txBody>
      </p:sp>
      <p:sp>
        <p:nvSpPr>
          <p:cNvPr id="15" name="TextBox 14"/>
          <p:cNvSpPr txBox="1"/>
          <p:nvPr/>
        </p:nvSpPr>
        <p:spPr>
          <a:xfrm>
            <a:off x="1025872" y="5425000"/>
            <a:ext cx="10050000" cy="384721"/>
          </a:xfrm>
          <a:prstGeom prst="rect">
            <a:avLst/>
          </a:prstGeom>
          <a:noFill/>
        </p:spPr>
        <p:txBody>
          <a:bodyPr wrap="square" lIns="27432" tIns="0" rIns="27432" bIns="0">
            <a:spAutoFit/>
          </a:bodyPr>
          <a:lstStyle/>
          <a:p>
            <a:pPr algn="l"/>
            <a:r>
              <a:rPr lang="en-US" sz="1250" b="0" dirty="0">
                <a:solidFill>
                  <a:srgbClr val="99A6B7"/>
                </a:solidFill>
                <a:latin typeface="Plus Jakarta Sans"/>
              </a:rPr>
              <a:t>There is no normal kind: User object in Kubernetes. ServiceAccounts are real Kubernetes API objects; users and groups normally come from an external identity system.</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3522" y="4578621"/>
            <a:ext cx="10934700" cy="1936479"/>
          </a:xfrm>
          <a:prstGeom prst="rect">
            <a:avLst/>
          </a:prstGeom>
        </p:spPr>
      </p:pic>
      <p:sp>
        <p:nvSpPr>
          <p:cNvPr id="5" name="TextBox 4"/>
          <p:cNvSpPr txBox="1"/>
          <p:nvPr/>
        </p:nvSpPr>
        <p:spPr>
          <a:xfrm>
            <a:off x="943150" y="4658902"/>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790401" y="4658902"/>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API groups in RBAC</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 same resource name only makes sense in the correct API group</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Core API group</a:t>
            </a:r>
          </a:p>
          <a:p>
            <a:pPr algn="l">
              <a:spcAft>
                <a:spcPts val="400"/>
              </a:spcAft>
            </a:pPr>
            <a:r>
              <a:rPr sz="1550">
                <a:solidFill>
                  <a:srgbClr val="D7DEE8"/>
                </a:solidFill>
                <a:latin typeface="Plus Jakarta Sans"/>
              </a:rPr>
              <a:t>Written as an empty string: ""</a:t>
            </a:r>
          </a:p>
          <a:p>
            <a:pPr algn="l">
              <a:spcAft>
                <a:spcPts val="400"/>
              </a:spcAft>
            </a:pPr>
            <a:r>
              <a:rPr sz="1550">
                <a:solidFill>
                  <a:srgbClr val="D7DEE8"/>
                </a:solidFill>
                <a:latin typeface="Plus Jakarta Sans"/>
              </a:rPr>
              <a:t>Examples: pods, services, secrets, configmaps</a:t>
            </a:r>
          </a:p>
          <a:p>
            <a:pPr algn="l">
              <a:spcAft>
                <a:spcPts val="400"/>
              </a:spcAft>
            </a:pPr>
            <a:r>
              <a:rPr sz="1550">
                <a:solidFill>
                  <a:srgbClr val="D7DEE8"/>
                </a:solidFill>
                <a:latin typeface="Plus Jakarta Sans"/>
              </a:rPr>
              <a:t>apiVersion in manifests is simply v1</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70EBB1"/>
                </a:solidFill>
                <a:latin typeface="Space Grotesk"/>
              </a:rPr>
              <a:t>Named API groups</a:t>
            </a:r>
            <a:endParaRPr sz="1800" b="1" dirty="0">
              <a:solidFill>
                <a:srgbClr val="70EBB1"/>
              </a:solidFill>
              <a:latin typeface="Space Grotesk"/>
            </a:endParaRPr>
          </a:p>
          <a:p>
            <a:pPr algn="l">
              <a:spcAft>
                <a:spcPts val="400"/>
              </a:spcAft>
            </a:pPr>
            <a:r>
              <a:rPr sz="1550">
                <a:solidFill>
                  <a:srgbClr val="D7DEE8"/>
                </a:solidFill>
                <a:latin typeface="Plus Jakarta Sans"/>
              </a:rPr>
              <a:t>Examples: apps, batch, networking.k8s.io</a:t>
            </a:r>
          </a:p>
          <a:p>
            <a:pPr algn="l">
              <a:spcAft>
                <a:spcPts val="400"/>
              </a:spcAft>
            </a:pPr>
            <a:r>
              <a:rPr sz="1550">
                <a:solidFill>
                  <a:srgbClr val="D7DEE8"/>
                </a:solidFill>
                <a:latin typeface="Plus Jakarta Sans"/>
              </a:rPr>
              <a:t>Deployments live in apps</a:t>
            </a:r>
          </a:p>
          <a:p>
            <a:pPr algn="l">
              <a:spcAft>
                <a:spcPts val="400"/>
              </a:spcAft>
            </a:pPr>
            <a:r>
              <a:rPr sz="1550">
                <a:solidFill>
                  <a:srgbClr val="D7DEE8"/>
                </a:solidFill>
                <a:latin typeface="Plus Jakarta Sans"/>
              </a:rPr>
              <a:t>Ingress lives in networking.k8s.io</a:t>
            </a:r>
          </a:p>
        </p:txBody>
      </p:sp>
      <p:sp>
        <p:nvSpPr>
          <p:cNvPr id="13" name="TextBox 12"/>
          <p:cNvSpPr txBox="1"/>
          <p:nvPr/>
        </p:nvSpPr>
        <p:spPr>
          <a:xfrm>
            <a:off x="628650" y="4150000"/>
            <a:ext cx="10001250" cy="261610"/>
          </a:xfrm>
          <a:prstGeom prst="rect">
            <a:avLst/>
          </a:prstGeom>
          <a:noFill/>
        </p:spPr>
        <p:txBody>
          <a:bodyPr wrap="square" lIns="27432" tIns="0" rIns="27432" bIns="0">
            <a:spAutoFit/>
          </a:bodyPr>
          <a:lstStyle/>
          <a:p>
            <a:pPr algn="ctr"/>
            <a:r>
              <a:rPr sz="1700" b="0" dirty="0">
                <a:solidFill>
                  <a:srgbClr val="F5F7FA"/>
                </a:solidFill>
                <a:latin typeface="Plus Jakarta Sans"/>
              </a:rPr>
              <a:t>You do not need to memorize them: </a:t>
            </a:r>
            <a:r>
              <a:rPr sz="1700" b="0" dirty="0" err="1">
                <a:solidFill>
                  <a:srgbClr val="F5F7FA"/>
                </a:solidFill>
                <a:latin typeface="Plus Jakarta Sans"/>
              </a:rPr>
              <a:t>kubectl</a:t>
            </a:r>
            <a:r>
              <a:rPr sz="1700" b="0" dirty="0">
                <a:solidFill>
                  <a:srgbClr val="F5F7FA"/>
                </a:solidFill>
                <a:latin typeface="Plus Jakarta Sans"/>
              </a:rPr>
              <a:t> </a:t>
            </a:r>
            <a:r>
              <a:rPr sz="1700" b="0" dirty="0" err="1">
                <a:solidFill>
                  <a:srgbClr val="F5F7FA"/>
                </a:solidFill>
                <a:latin typeface="Plus Jakarta Sans"/>
              </a:rPr>
              <a:t>api</a:t>
            </a:r>
            <a:r>
              <a:rPr sz="1700" b="0" dirty="0">
                <a:solidFill>
                  <a:srgbClr val="F5F7FA"/>
                </a:solidFill>
                <a:latin typeface="Plus Jakarta Sans"/>
              </a:rPr>
              <a:t>-resources shows the API group for each resource.</a:t>
            </a:r>
          </a:p>
        </p:txBody>
      </p:sp>
      <p:sp>
        <p:nvSpPr>
          <p:cNvPr id="14" name="TextBox 13"/>
          <p:cNvSpPr txBox="1"/>
          <p:nvPr/>
        </p:nvSpPr>
        <p:spPr>
          <a:xfrm>
            <a:off x="927274" y="4831430"/>
            <a:ext cx="10050000" cy="1538883"/>
          </a:xfrm>
          <a:prstGeom prst="rect">
            <a:avLst/>
          </a:prstGeom>
          <a:noFill/>
        </p:spPr>
        <p:txBody>
          <a:bodyPr wrap="square" lIns="27432" tIns="0" rIns="27432" bIns="0">
            <a:spAutoFit/>
          </a:bodyPr>
          <a:lstStyle/>
          <a:p>
            <a:pPr algn="l"/>
            <a:r>
              <a:rPr lang="en-US" sz="1250" b="0" dirty="0">
                <a:solidFill>
                  <a:srgbClr val="99A6B7"/>
                </a:solidFill>
                <a:latin typeface="Plus Jakarta Sans"/>
              </a:rPr>
              <a:t>An </a:t>
            </a:r>
            <a:r>
              <a:rPr lang="en-US" sz="1250" b="0" dirty="0" err="1">
                <a:solidFill>
                  <a:srgbClr val="99A6B7"/>
                </a:solidFill>
                <a:latin typeface="Plus Jakarta Sans"/>
              </a:rPr>
              <a:t>APIGroup</a:t>
            </a:r>
            <a:r>
              <a:rPr lang="en-US" sz="1250" b="0" dirty="0">
                <a:solidFill>
                  <a:srgbClr val="99A6B7"/>
                </a:solidFill>
                <a:latin typeface="Plus Jakarta Sans"/>
              </a:rPr>
              <a:t> is essentially a way to categorize the different types of objects you can interact with. The earliest Kubernetes resources – such as Pods, Services, Namespaces, and Nodes – live in the "Core" group.</a:t>
            </a:r>
          </a:p>
          <a:p>
            <a:pPr algn="l"/>
            <a:r>
              <a:rPr lang="en-US" sz="1250" b="0" dirty="0">
                <a:solidFill>
                  <a:srgbClr val="99A6B7"/>
                </a:solidFill>
                <a:latin typeface="Plus Jakarta Sans"/>
              </a:rPr>
              <a:t>Everything added later is part of a "Named Group". This allows Kubernetes to evolve specific sets of functionality without breaking everything else.</a:t>
            </a:r>
          </a:p>
          <a:p>
            <a:pPr algn="l"/>
            <a:endParaRPr lang="en-US" sz="1250" b="0" dirty="0">
              <a:solidFill>
                <a:srgbClr val="99A6B7"/>
              </a:solidFill>
              <a:latin typeface="Plus Jakarta Sans"/>
            </a:endParaRPr>
          </a:p>
          <a:p>
            <a:pPr algn="l"/>
            <a:r>
              <a:rPr lang="en-US" sz="1250" b="0" dirty="0">
                <a:solidFill>
                  <a:srgbClr val="99A6B7"/>
                </a:solidFill>
                <a:latin typeface="Plus Jakarta Sans"/>
              </a:rPr>
              <a:t>Pods, Secrets, </a:t>
            </a:r>
            <a:r>
              <a:rPr lang="en-US" sz="1250" b="0" dirty="0" err="1">
                <a:solidFill>
                  <a:srgbClr val="99A6B7"/>
                </a:solidFill>
                <a:latin typeface="Plus Jakarta Sans"/>
              </a:rPr>
              <a:t>ConfigMaps</a:t>
            </a:r>
            <a:r>
              <a:rPr lang="en-US" sz="1250" b="0" dirty="0">
                <a:solidFill>
                  <a:srgbClr val="99A6B7"/>
                </a:solidFill>
                <a:latin typeface="Plus Jakarta Sans"/>
              </a:rPr>
              <a:t> (Core) Fundamental building blocks.</a:t>
            </a:r>
          </a:p>
          <a:p>
            <a:pPr algn="l"/>
            <a:r>
              <a:rPr lang="en-US" sz="1250" b="0" dirty="0">
                <a:solidFill>
                  <a:srgbClr val="99A6B7"/>
                </a:solidFill>
                <a:latin typeface="Plus Jakarta Sans"/>
              </a:rPr>
              <a:t>Deployments, </a:t>
            </a:r>
            <a:r>
              <a:rPr lang="en-US" sz="1250" b="0" dirty="0" err="1">
                <a:solidFill>
                  <a:srgbClr val="99A6B7"/>
                </a:solidFill>
                <a:latin typeface="Plus Jakarta Sans"/>
              </a:rPr>
              <a:t>ReplicaSets</a:t>
            </a:r>
            <a:r>
              <a:rPr lang="en-US" sz="1250" b="0" dirty="0">
                <a:solidFill>
                  <a:srgbClr val="99A6B7"/>
                </a:solidFill>
                <a:latin typeface="Plus Jakarta Sans"/>
              </a:rPr>
              <a:t> "apps" Part of application management logic.</a:t>
            </a:r>
          </a:p>
          <a:p>
            <a:pPr algn="l"/>
            <a:r>
              <a:rPr lang="en-US" sz="1250" b="0" dirty="0" err="1">
                <a:solidFill>
                  <a:srgbClr val="99A6B7"/>
                </a:solidFill>
                <a:latin typeface="Plus Jakarta Sans"/>
              </a:rPr>
              <a:t>CronJobs</a:t>
            </a:r>
            <a:r>
              <a:rPr lang="en-US" sz="1250" b="0" dirty="0">
                <a:solidFill>
                  <a:srgbClr val="99A6B7"/>
                </a:solidFill>
                <a:latin typeface="Plus Jakarta Sans"/>
              </a:rPr>
              <a:t>, Jobs "batch" Related to scheduled or one-time tasks.</a:t>
            </a:r>
          </a:p>
          <a:p>
            <a:pPr algn="l"/>
            <a:r>
              <a:rPr lang="en-US" sz="1250" b="0" dirty="0">
                <a:solidFill>
                  <a:srgbClr val="99A6B7"/>
                </a:solidFill>
                <a:latin typeface="Plus Jakarta Sans"/>
              </a:rPr>
              <a:t>Ingress, </a:t>
            </a:r>
            <a:r>
              <a:rPr lang="en-US" sz="1250" b="0" dirty="0" err="1">
                <a:solidFill>
                  <a:srgbClr val="99A6B7"/>
                </a:solidFill>
                <a:latin typeface="Plus Jakarta Sans"/>
              </a:rPr>
              <a:t>NetworkPolicies</a:t>
            </a:r>
            <a:r>
              <a:rPr lang="en-US" sz="1250" b="0" dirty="0">
                <a:solidFill>
                  <a:srgbClr val="99A6B7"/>
                </a:solidFill>
                <a:latin typeface="Plus Jakarta Sans"/>
              </a:rPr>
              <a:t> "networking.k8s.io" Related to network traffic and connectivity.</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446276"/>
          </a:xfrm>
          <a:prstGeom prst="rect">
            <a:avLst/>
          </a:prstGeom>
          <a:noFill/>
        </p:spPr>
        <p:txBody>
          <a:bodyPr wrap="square" lIns="27432" tIns="0" rIns="27432" bIns="0">
            <a:spAutoFit/>
          </a:bodyPr>
          <a:lstStyle/>
          <a:p>
            <a:pPr algn="l"/>
            <a:r>
              <a:rPr sz="2900" b="1" dirty="0">
                <a:solidFill>
                  <a:srgbClr val="F5F7FA"/>
                </a:solidFill>
                <a:latin typeface="Space Grotesk"/>
              </a:rPr>
              <a:t>Anatomy of an RBAC rule</a:t>
            </a:r>
            <a:r>
              <a:rPr lang="en-US" sz="2900" b="1" dirty="0">
                <a:solidFill>
                  <a:srgbClr val="F5F7FA"/>
                </a:solidFill>
                <a:latin typeface="Space Grotesk"/>
              </a:rPr>
              <a:t> (Role)</a:t>
            </a:r>
            <a:endParaRPr sz="2900" b="1" dirty="0">
              <a:solidFill>
                <a:srgbClr val="F5F7FA"/>
              </a:solidFill>
              <a:latin typeface="Space Grotesk"/>
            </a:endParaRP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API group + resource + verb</a:t>
            </a:r>
          </a:p>
        </p:txBody>
      </p:sp>
      <p:sp>
        <p:nvSpPr>
          <p:cNvPr id="11" name="TextBox 10"/>
          <p:cNvSpPr txBox="1"/>
          <p:nvPr/>
        </p:nvSpPr>
        <p:spPr>
          <a:xfrm>
            <a:off x="628650" y="1950000"/>
            <a:ext cx="5760118" cy="2300000"/>
          </a:xfrm>
          <a:prstGeom prst="rect">
            <a:avLst/>
          </a:prstGeom>
          <a:solidFill>
            <a:srgbClr val="09121F"/>
          </a:solidFill>
          <a:ln>
            <a:solidFill>
              <a:srgbClr val="314963"/>
            </a:solidFill>
          </a:ln>
        </p:spPr>
        <p:txBody>
          <a:bodyPr wrap="none" lIns="152400" tIns="101600" rIns="152400" bIns="101600">
            <a:spAutoFit/>
          </a:bodyPr>
          <a:lstStyle/>
          <a:p>
            <a:pPr algn="l"/>
            <a:r>
              <a:rPr sz="1200">
                <a:solidFill>
                  <a:srgbClr val="F5F7FA"/>
                </a:solidFill>
                <a:latin typeface="Consolas"/>
              </a:rPr>
              <a:t>apiVersion: rbac.authorization.k8s.io/v1</a:t>
            </a:r>
            <a:br/>
            <a:r>
              <a:rPr sz="1200">
                <a:solidFill>
                  <a:srgbClr val="F5F7FA"/>
                </a:solidFill>
                <a:latin typeface="Consolas"/>
              </a:rPr>
              <a:t>kind: Role</a:t>
            </a:r>
            <a:br/>
            <a:r>
              <a:rPr sz="1200">
                <a:solidFill>
                  <a:srgbClr val="F5F7FA"/>
                </a:solidFill>
                <a:latin typeface="Consolas"/>
              </a:rPr>
              <a:t>metadata:</a:t>
            </a:r>
            <a:br/>
            <a:r>
              <a:rPr sz="1200">
                <a:solidFill>
                  <a:srgbClr val="F5F7FA"/>
                </a:solidFill>
                <a:latin typeface="Consolas"/>
              </a:rPr>
              <a:t>  namespace: finance</a:t>
            </a:r>
            <a:br/>
            <a:r>
              <a:rPr sz="1200">
                <a:solidFill>
                  <a:srgbClr val="F5F7FA"/>
                </a:solidFill>
                <a:latin typeface="Consolas"/>
              </a:rPr>
              <a:t>  name: pod-reader</a:t>
            </a:r>
            <a:br/>
            <a:r>
              <a:rPr sz="1200">
                <a:solidFill>
                  <a:srgbClr val="F5F7FA"/>
                </a:solidFill>
                <a:latin typeface="Consolas"/>
              </a:rPr>
              <a:t>rules:</a:t>
            </a:r>
            <a:br/>
            <a:r>
              <a:rPr sz="1200">
                <a:solidFill>
                  <a:srgbClr val="F5F7FA"/>
                </a:solidFill>
                <a:latin typeface="Consolas"/>
              </a:rPr>
              <a:t>- apiGroups: [""]</a:t>
            </a:r>
            <a:br/>
            <a:r>
              <a:rPr sz="1200">
                <a:solidFill>
                  <a:srgbClr val="F5F7FA"/>
                </a:solidFill>
                <a:latin typeface="Consolas"/>
              </a:rPr>
              <a:t>  resources: ["pods"]</a:t>
            </a:r>
            <a:br/>
            <a:r>
              <a:rPr sz="1200">
                <a:solidFill>
                  <a:srgbClr val="F5F7FA"/>
                </a:solidFill>
                <a:latin typeface="Consolas"/>
              </a:rPr>
              <a:t>  verbs: ["get", "list", "watch"]</a:t>
            </a:r>
            <a:endParaRPr sz="1600" dirty="0">
              <a:solidFill>
                <a:srgbClr val="F5F7FA"/>
              </a:solidFill>
              <a:latin typeface="Consolas"/>
            </a:endParaRPr>
          </a:p>
        </p:txBody>
      </p:sp>
      <p:sp>
        <p:nvSpPr>
          <p:cNvPr id="12" name="Rounded Rectangle 11"/>
          <p:cNvSpPr/>
          <p:nvPr/>
        </p:nvSpPr>
        <p:spPr>
          <a:xfrm>
            <a:off x="6657592" y="1941746"/>
            <a:ext cx="5265584" cy="23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Read the rule</a:t>
            </a:r>
          </a:p>
          <a:p>
            <a:pPr algn="l">
              <a:spcAft>
                <a:spcPts val="400"/>
              </a:spcAft>
            </a:pPr>
            <a:r>
              <a:rPr sz="1450">
                <a:solidFill>
                  <a:srgbClr val="D7DEE8"/>
                </a:solidFill>
                <a:latin typeface="Plus Jakarta Sans"/>
              </a:rPr>
              <a:t>apiGroups → which API family?</a:t>
            </a:r>
          </a:p>
          <a:p>
            <a:pPr algn="l">
              <a:spcAft>
                <a:spcPts val="400"/>
              </a:spcAft>
            </a:pPr>
            <a:r>
              <a:rPr sz="1450">
                <a:solidFill>
                  <a:srgbClr val="D7DEE8"/>
                </a:solidFill>
                <a:latin typeface="Plus Jakarta Sans"/>
              </a:rPr>
              <a:t>resources → which object type?</a:t>
            </a:r>
          </a:p>
          <a:p>
            <a:pPr algn="l">
              <a:spcAft>
                <a:spcPts val="400"/>
              </a:spcAft>
            </a:pPr>
            <a:r>
              <a:rPr sz="1450">
                <a:solidFill>
                  <a:srgbClr val="D7DEE8"/>
                </a:solidFill>
                <a:latin typeface="Plus Jakarta Sans"/>
              </a:rPr>
              <a:t>verbs → which actions?</a:t>
            </a:r>
          </a:p>
          <a:p>
            <a:pPr algn="l">
              <a:spcAft>
                <a:spcPts val="400"/>
              </a:spcAft>
            </a:pPr>
            <a:endParaRPr sz="1450">
              <a:solidFill>
                <a:srgbClr val="D7DEE8"/>
              </a:solidFill>
              <a:latin typeface="Plus Jakarta Sans"/>
            </a:endParaRPr>
          </a:p>
          <a:p>
            <a:pPr algn="l">
              <a:spcAft>
                <a:spcPts val="400"/>
              </a:spcAft>
            </a:pPr>
            <a:r>
              <a:rPr sz="1450">
                <a:solidFill>
                  <a:srgbClr val="D7DEE8"/>
                </a:solidFill>
                <a:latin typeface="Plus Jakarta Sans"/>
              </a:rPr>
              <a:t>This Role allows read-only Pod access.</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RBAC resource names are plural API resource names such as pods, deployments, secrets — not Kind names like Pod or Deployment.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8DBEF-F8DE-8362-2F82-3A20B99E7978}"/>
            </a:ext>
          </a:extLst>
        </p:cNvPr>
        <p:cNvGrpSpPr/>
        <p:nvPr/>
      </p:nvGrpSpPr>
      <p:grpSpPr>
        <a:xfrm>
          <a:off x="0" y="0"/>
          <a:ext cx="0" cy="0"/>
          <a:chOff x="0" y="0"/>
          <a:chExt cx="0" cy="0"/>
        </a:xfrm>
      </p:grpSpPr>
      <p:sp>
        <p:nvSpPr>
          <p:cNvPr id="9000" name="Template Background Backing">
            <a:extLst>
              <a:ext uri="{FF2B5EF4-FFF2-40B4-BE49-F238E27FC236}">
                <a16:creationId xmlns:a16="http://schemas.microsoft.com/office/drawing/2014/main" id="{07A03145-84CF-1A86-8D4C-381A72E7FBBB}"/>
              </a:ext>
            </a:extLst>
          </p:cNvPr>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a:extLst>
              <a:ext uri="{FF2B5EF4-FFF2-40B4-BE49-F238E27FC236}">
                <a16:creationId xmlns:a16="http://schemas.microsoft.com/office/drawing/2014/main" id="{F80A5A1B-BC5E-A63D-AD92-0FF96E020572}"/>
              </a:ext>
            </a:extLst>
          </p:cNvPr>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a:extLst>
              <a:ext uri="{FF2B5EF4-FFF2-40B4-BE49-F238E27FC236}">
                <a16:creationId xmlns:a16="http://schemas.microsoft.com/office/drawing/2014/main" id="{6638BFFB-52DB-F3EC-1341-7E6F3B682F9B}"/>
              </a:ext>
            </a:extLst>
          </p:cNvPr>
          <p:cNvPicPr>
            <a:picLocks noChangeAspect="1"/>
          </p:cNvPicPr>
          <p:nvPr/>
        </p:nvPicPr>
        <p:blipFill>
          <a:blip r:embed="rId3"/>
          <a:stretch>
            <a:fillRect/>
          </a:stretch>
        </p:blipFill>
        <p:spPr>
          <a:xfrm>
            <a:off x="628650" y="5067300"/>
            <a:ext cx="10934700" cy="1257300"/>
          </a:xfrm>
          <a:prstGeom prst="rect">
            <a:avLst/>
          </a:prstGeom>
        </p:spPr>
      </p:pic>
      <p:sp>
        <p:nvSpPr>
          <p:cNvPr id="5" name="TextBox 4">
            <a:extLst>
              <a:ext uri="{FF2B5EF4-FFF2-40B4-BE49-F238E27FC236}">
                <a16:creationId xmlns:a16="http://schemas.microsoft.com/office/drawing/2014/main" id="{8105EA4B-9F80-800A-A591-F3853EE5184B}"/>
              </a:ext>
            </a:extLst>
          </p:cNvPr>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a:extLst>
              <a:ext uri="{FF2B5EF4-FFF2-40B4-BE49-F238E27FC236}">
                <a16:creationId xmlns:a16="http://schemas.microsoft.com/office/drawing/2014/main" id="{AF6A8843-1B7E-D2CC-7378-5061B7090CEE}"/>
              </a:ext>
            </a:extLst>
          </p:cNvPr>
          <p:cNvPicPr>
            <a:picLocks noChangeAspect="1"/>
          </p:cNvPicPr>
          <p:nvPr/>
        </p:nvPicPr>
        <p:blipFill>
          <a:blip r:embed="rId4"/>
          <a:stretch>
            <a:fillRect/>
          </a:stretch>
        </p:blipFill>
        <p:spPr>
          <a:xfrm>
            <a:off x="828675" y="5248275"/>
            <a:ext cx="120997" cy="133350"/>
          </a:xfrm>
          <a:prstGeom prst="rect">
            <a:avLst/>
          </a:prstGeom>
        </p:spPr>
      </p:pic>
      <p:sp>
        <p:nvSpPr>
          <p:cNvPr id="9" name="TextBox 8">
            <a:extLst>
              <a:ext uri="{FF2B5EF4-FFF2-40B4-BE49-F238E27FC236}">
                <a16:creationId xmlns:a16="http://schemas.microsoft.com/office/drawing/2014/main" id="{FCADD2F5-A7FE-153D-ADF6-46E798DBBF7F}"/>
              </a:ext>
            </a:extLst>
          </p:cNvPr>
          <p:cNvSpPr txBox="1"/>
          <p:nvPr/>
        </p:nvSpPr>
        <p:spPr>
          <a:xfrm>
            <a:off x="628650" y="533400"/>
            <a:ext cx="11481435" cy="446276"/>
          </a:xfrm>
          <a:prstGeom prst="rect">
            <a:avLst/>
          </a:prstGeom>
          <a:noFill/>
        </p:spPr>
        <p:txBody>
          <a:bodyPr wrap="square" lIns="27432" tIns="0" rIns="27432" bIns="0">
            <a:spAutoFit/>
          </a:bodyPr>
          <a:lstStyle/>
          <a:p>
            <a:pPr algn="l"/>
            <a:r>
              <a:rPr sz="2900" b="1" dirty="0">
                <a:solidFill>
                  <a:srgbClr val="F5F7FA"/>
                </a:solidFill>
                <a:latin typeface="Space Grotesk"/>
              </a:rPr>
              <a:t>Anatomy of </a:t>
            </a:r>
            <a:r>
              <a:rPr lang="en-US" sz="2900" b="1" dirty="0">
                <a:solidFill>
                  <a:srgbClr val="F5F7FA"/>
                </a:solidFill>
                <a:latin typeface="Space Grotesk"/>
              </a:rPr>
              <a:t>a </a:t>
            </a:r>
            <a:r>
              <a:rPr lang="en-US" sz="2900" b="1" dirty="0" err="1">
                <a:solidFill>
                  <a:srgbClr val="F5F7FA"/>
                </a:solidFill>
                <a:latin typeface="Space Grotesk"/>
              </a:rPr>
              <a:t>RoleBinding</a:t>
            </a:r>
            <a:endParaRPr sz="2900" b="1" dirty="0">
              <a:solidFill>
                <a:srgbClr val="F5F7FA"/>
              </a:solidFill>
              <a:latin typeface="Space Grotesk"/>
            </a:endParaRPr>
          </a:p>
        </p:txBody>
      </p:sp>
      <p:sp>
        <p:nvSpPr>
          <p:cNvPr id="10" name="TextBox 9">
            <a:extLst>
              <a:ext uri="{FF2B5EF4-FFF2-40B4-BE49-F238E27FC236}">
                <a16:creationId xmlns:a16="http://schemas.microsoft.com/office/drawing/2014/main" id="{C0B7C198-3E30-FB10-C6F4-841BE3534BEE}"/>
              </a:ext>
            </a:extLst>
          </p:cNvPr>
          <p:cNvSpPr txBox="1"/>
          <p:nvPr/>
        </p:nvSpPr>
        <p:spPr>
          <a:xfrm>
            <a:off x="628650" y="1106667"/>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API group + resource + verb</a:t>
            </a:r>
          </a:p>
        </p:txBody>
      </p:sp>
      <p:sp>
        <p:nvSpPr>
          <p:cNvPr id="11" name="TextBox 10">
            <a:extLst>
              <a:ext uri="{FF2B5EF4-FFF2-40B4-BE49-F238E27FC236}">
                <a16:creationId xmlns:a16="http://schemas.microsoft.com/office/drawing/2014/main" id="{CDC6AF71-5A5D-67AF-955B-255911AFFEDE}"/>
              </a:ext>
            </a:extLst>
          </p:cNvPr>
          <p:cNvSpPr txBox="1"/>
          <p:nvPr/>
        </p:nvSpPr>
        <p:spPr>
          <a:xfrm>
            <a:off x="628650" y="1513076"/>
            <a:ext cx="8124019" cy="3344505"/>
          </a:xfrm>
          <a:prstGeom prst="rect">
            <a:avLst/>
          </a:prstGeom>
          <a:solidFill>
            <a:srgbClr val="09121F"/>
          </a:solidFill>
          <a:ln>
            <a:solidFill>
              <a:srgbClr val="314963"/>
            </a:solidFill>
          </a:ln>
        </p:spPr>
        <p:txBody>
          <a:bodyPr wrap="none" lIns="152400" tIns="101600" rIns="152400" bIns="101600">
            <a:spAutoFit/>
          </a:bodyPr>
          <a:lstStyle/>
          <a:p>
            <a:pPr algn="l"/>
            <a:r>
              <a:rPr lang="en-US" sz="1200" dirty="0" err="1">
                <a:solidFill>
                  <a:srgbClr val="F5F7FA"/>
                </a:solidFill>
                <a:latin typeface="Consolas"/>
              </a:rPr>
              <a:t>apiVersion</a:t>
            </a:r>
            <a:r>
              <a:rPr lang="en-US" sz="1200" dirty="0">
                <a:solidFill>
                  <a:srgbClr val="F5F7FA"/>
                </a:solidFill>
                <a:latin typeface="Consolas"/>
              </a:rPr>
              <a:t>: rbac.authorization.k8s.io/v1</a:t>
            </a:r>
          </a:p>
          <a:p>
            <a:pPr algn="l"/>
            <a:r>
              <a:rPr lang="en-US" sz="1200" dirty="0">
                <a:solidFill>
                  <a:srgbClr val="F5F7FA"/>
                </a:solidFill>
                <a:latin typeface="Consolas"/>
              </a:rPr>
              <a:t># This role binding allows "jane" to read pods in the “finance" namespace.</a:t>
            </a:r>
          </a:p>
          <a:p>
            <a:pPr algn="l"/>
            <a:r>
              <a:rPr lang="en-US" sz="1200" dirty="0">
                <a:solidFill>
                  <a:srgbClr val="F5F7FA"/>
                </a:solidFill>
                <a:latin typeface="Consolas"/>
              </a:rPr>
              <a:t># You need to already have a Role named "pod-reader" in that namespace.</a:t>
            </a:r>
          </a:p>
          <a:p>
            <a:pPr algn="l"/>
            <a:r>
              <a:rPr lang="en-US" sz="1200" dirty="0">
                <a:solidFill>
                  <a:srgbClr val="F5F7FA"/>
                </a:solidFill>
                <a:latin typeface="Consolas"/>
              </a:rPr>
              <a:t>kind: </a:t>
            </a:r>
            <a:r>
              <a:rPr lang="en-US" sz="1200" dirty="0" err="1">
                <a:solidFill>
                  <a:srgbClr val="F5F7FA"/>
                </a:solidFill>
                <a:latin typeface="Consolas"/>
              </a:rPr>
              <a:t>RoleBinding</a:t>
            </a:r>
            <a:endParaRPr lang="en-US" sz="1200" dirty="0">
              <a:solidFill>
                <a:srgbClr val="F5F7FA"/>
              </a:solidFill>
              <a:latin typeface="Consolas"/>
            </a:endParaRPr>
          </a:p>
          <a:p>
            <a:pPr algn="l"/>
            <a:r>
              <a:rPr lang="en-US" sz="1200" dirty="0">
                <a:solidFill>
                  <a:srgbClr val="F5F7FA"/>
                </a:solidFill>
                <a:latin typeface="Consolas"/>
              </a:rPr>
              <a:t>metadata:</a:t>
            </a:r>
          </a:p>
          <a:p>
            <a:pPr algn="l"/>
            <a:r>
              <a:rPr lang="en-US" sz="1200" dirty="0">
                <a:solidFill>
                  <a:srgbClr val="F5F7FA"/>
                </a:solidFill>
                <a:latin typeface="Consolas"/>
              </a:rPr>
              <a:t>  name: read-pods</a:t>
            </a:r>
          </a:p>
          <a:p>
            <a:pPr algn="l"/>
            <a:r>
              <a:rPr lang="en-US" sz="1200" dirty="0">
                <a:solidFill>
                  <a:srgbClr val="F5F7FA"/>
                </a:solidFill>
                <a:latin typeface="Consolas"/>
              </a:rPr>
              <a:t>  namespace: finance</a:t>
            </a:r>
          </a:p>
          <a:p>
            <a:pPr algn="l"/>
            <a:r>
              <a:rPr lang="en-US" sz="1200" dirty="0">
                <a:solidFill>
                  <a:srgbClr val="F5F7FA"/>
                </a:solidFill>
                <a:latin typeface="Consolas"/>
              </a:rPr>
              <a:t>subjects:</a:t>
            </a:r>
          </a:p>
          <a:p>
            <a:pPr algn="l"/>
            <a:r>
              <a:rPr lang="en-US" sz="1200" dirty="0">
                <a:solidFill>
                  <a:srgbClr val="F5F7FA"/>
                </a:solidFill>
                <a:latin typeface="Consolas"/>
              </a:rPr>
              <a:t># You can specify more than one "subject"</a:t>
            </a:r>
          </a:p>
          <a:p>
            <a:pPr algn="l"/>
            <a:r>
              <a:rPr lang="en-US" sz="1200" dirty="0">
                <a:solidFill>
                  <a:srgbClr val="F5F7FA"/>
                </a:solidFill>
                <a:latin typeface="Consolas"/>
              </a:rPr>
              <a:t>- kind: User</a:t>
            </a:r>
          </a:p>
          <a:p>
            <a:pPr algn="l"/>
            <a:r>
              <a:rPr lang="en-US" sz="1200" dirty="0">
                <a:solidFill>
                  <a:srgbClr val="F5F7FA"/>
                </a:solidFill>
                <a:latin typeface="Consolas"/>
              </a:rPr>
              <a:t>  name: jane # "name" is case sensitive</a:t>
            </a:r>
          </a:p>
          <a:p>
            <a:pPr algn="l"/>
            <a:r>
              <a:rPr lang="en-US" sz="1200" dirty="0">
                <a:solidFill>
                  <a:srgbClr val="F5F7FA"/>
                </a:solidFill>
                <a:latin typeface="Consolas"/>
              </a:rPr>
              <a:t>  </a:t>
            </a:r>
            <a:r>
              <a:rPr lang="en-US" sz="1200" dirty="0" err="1">
                <a:solidFill>
                  <a:srgbClr val="F5F7FA"/>
                </a:solidFill>
                <a:latin typeface="Consolas"/>
              </a:rPr>
              <a:t>apiGroup</a:t>
            </a:r>
            <a:r>
              <a:rPr lang="en-US" sz="1200" dirty="0">
                <a:solidFill>
                  <a:srgbClr val="F5F7FA"/>
                </a:solidFill>
                <a:latin typeface="Consolas"/>
              </a:rPr>
              <a:t>: rbac.authorization.k8s.io</a:t>
            </a:r>
          </a:p>
          <a:p>
            <a:pPr algn="l"/>
            <a:r>
              <a:rPr lang="en-US" sz="1200" dirty="0" err="1">
                <a:solidFill>
                  <a:srgbClr val="F5F7FA"/>
                </a:solidFill>
                <a:latin typeface="Consolas"/>
              </a:rPr>
              <a:t>roleRef</a:t>
            </a:r>
            <a:r>
              <a:rPr lang="en-US" sz="1200" dirty="0">
                <a:solidFill>
                  <a:srgbClr val="F5F7FA"/>
                </a:solidFill>
                <a:latin typeface="Consolas"/>
              </a:rPr>
              <a:t>:</a:t>
            </a:r>
          </a:p>
          <a:p>
            <a:pPr algn="l"/>
            <a:r>
              <a:rPr lang="en-US" sz="1200" dirty="0">
                <a:solidFill>
                  <a:srgbClr val="F5F7FA"/>
                </a:solidFill>
                <a:latin typeface="Consolas"/>
              </a:rPr>
              <a:t>  # "</a:t>
            </a:r>
            <a:r>
              <a:rPr lang="en-US" sz="1200" dirty="0" err="1">
                <a:solidFill>
                  <a:srgbClr val="F5F7FA"/>
                </a:solidFill>
                <a:latin typeface="Consolas"/>
              </a:rPr>
              <a:t>roleRef</a:t>
            </a:r>
            <a:r>
              <a:rPr lang="en-US" sz="1200" dirty="0">
                <a:solidFill>
                  <a:srgbClr val="F5F7FA"/>
                </a:solidFill>
                <a:latin typeface="Consolas"/>
              </a:rPr>
              <a:t>" specifies the binding to a Role / </a:t>
            </a:r>
            <a:r>
              <a:rPr lang="en-US" sz="1200" dirty="0" err="1">
                <a:solidFill>
                  <a:srgbClr val="F5F7FA"/>
                </a:solidFill>
                <a:latin typeface="Consolas"/>
              </a:rPr>
              <a:t>ClusterRole</a:t>
            </a:r>
            <a:endParaRPr lang="en-US" sz="1200" dirty="0">
              <a:solidFill>
                <a:srgbClr val="F5F7FA"/>
              </a:solidFill>
              <a:latin typeface="Consolas"/>
            </a:endParaRPr>
          </a:p>
          <a:p>
            <a:pPr algn="l"/>
            <a:r>
              <a:rPr lang="en-US" sz="1200" dirty="0">
                <a:solidFill>
                  <a:srgbClr val="F5F7FA"/>
                </a:solidFill>
                <a:latin typeface="Consolas"/>
              </a:rPr>
              <a:t>  kind: Role #this must be Role or </a:t>
            </a:r>
            <a:r>
              <a:rPr lang="en-US" sz="1200" dirty="0" err="1">
                <a:solidFill>
                  <a:srgbClr val="F5F7FA"/>
                </a:solidFill>
                <a:latin typeface="Consolas"/>
              </a:rPr>
              <a:t>ClusterRole</a:t>
            </a:r>
            <a:endParaRPr lang="en-US" sz="1200" dirty="0">
              <a:solidFill>
                <a:srgbClr val="F5F7FA"/>
              </a:solidFill>
              <a:latin typeface="Consolas"/>
            </a:endParaRPr>
          </a:p>
          <a:p>
            <a:pPr algn="l"/>
            <a:r>
              <a:rPr lang="en-US" sz="1200" dirty="0">
                <a:solidFill>
                  <a:srgbClr val="F5F7FA"/>
                </a:solidFill>
                <a:latin typeface="Consolas"/>
              </a:rPr>
              <a:t>  name: pod-reader # this must match the name of the Role or </a:t>
            </a:r>
            <a:r>
              <a:rPr lang="en-US" sz="1200" dirty="0" err="1">
                <a:solidFill>
                  <a:srgbClr val="F5F7FA"/>
                </a:solidFill>
                <a:latin typeface="Consolas"/>
              </a:rPr>
              <a:t>ClusterRole</a:t>
            </a:r>
            <a:r>
              <a:rPr lang="en-US" sz="1200" dirty="0">
                <a:solidFill>
                  <a:srgbClr val="F5F7FA"/>
                </a:solidFill>
                <a:latin typeface="Consolas"/>
              </a:rPr>
              <a:t> you wish to bind to</a:t>
            </a:r>
          </a:p>
          <a:p>
            <a:pPr algn="l"/>
            <a:r>
              <a:rPr lang="en-US" sz="1200" dirty="0">
                <a:solidFill>
                  <a:srgbClr val="F5F7FA"/>
                </a:solidFill>
                <a:latin typeface="Consolas"/>
              </a:rPr>
              <a:t>  </a:t>
            </a:r>
            <a:r>
              <a:rPr lang="en-US" sz="1200" dirty="0" err="1">
                <a:solidFill>
                  <a:srgbClr val="F5F7FA"/>
                </a:solidFill>
                <a:latin typeface="Consolas"/>
              </a:rPr>
              <a:t>apiGroup</a:t>
            </a:r>
            <a:r>
              <a:rPr lang="en-US" sz="1200" dirty="0">
                <a:solidFill>
                  <a:srgbClr val="F5F7FA"/>
                </a:solidFill>
                <a:latin typeface="Consolas"/>
              </a:rPr>
              <a:t>: rbac.authorization.k8s.io</a:t>
            </a:r>
            <a:endParaRPr sz="1600" dirty="0">
              <a:solidFill>
                <a:srgbClr val="F5F7FA"/>
              </a:solidFill>
              <a:latin typeface="Consolas"/>
            </a:endParaRPr>
          </a:p>
        </p:txBody>
      </p:sp>
      <p:sp>
        <p:nvSpPr>
          <p:cNvPr id="13" name="TextBox 12">
            <a:extLst>
              <a:ext uri="{FF2B5EF4-FFF2-40B4-BE49-F238E27FC236}">
                <a16:creationId xmlns:a16="http://schemas.microsoft.com/office/drawing/2014/main" id="{E078B5AA-659F-4D2B-10A3-46F83C765D38}"/>
              </a:ext>
            </a:extLst>
          </p:cNvPr>
          <p:cNvSpPr txBox="1"/>
          <p:nvPr/>
        </p:nvSpPr>
        <p:spPr>
          <a:xfrm>
            <a:off x="1025872" y="5425000"/>
            <a:ext cx="10050000" cy="384721"/>
          </a:xfrm>
          <a:prstGeom prst="rect">
            <a:avLst/>
          </a:prstGeom>
          <a:noFill/>
        </p:spPr>
        <p:txBody>
          <a:bodyPr wrap="square" lIns="27432" tIns="0" rIns="27432" bIns="0">
            <a:spAutoFit/>
          </a:bodyPr>
          <a:lstStyle/>
          <a:p>
            <a:pPr algn="l"/>
            <a:r>
              <a:rPr lang="en-US" sz="1250" b="0" dirty="0">
                <a:solidFill>
                  <a:srgbClr val="99A6B7"/>
                </a:solidFill>
                <a:latin typeface="Plus Jakarta Sans"/>
              </a:rPr>
              <a:t>Example of a </a:t>
            </a:r>
            <a:r>
              <a:rPr lang="en-US" sz="1250" b="0" dirty="0" err="1">
                <a:solidFill>
                  <a:srgbClr val="99A6B7"/>
                </a:solidFill>
                <a:latin typeface="Plus Jakarta Sans"/>
              </a:rPr>
              <a:t>RoleBinding</a:t>
            </a:r>
            <a:r>
              <a:rPr lang="en-US" sz="1250" b="0" dirty="0">
                <a:solidFill>
                  <a:srgbClr val="99A6B7"/>
                </a:solidFill>
                <a:latin typeface="Plus Jakarta Sans"/>
              </a:rPr>
              <a:t> that grants the "pod-reader" Role to the user "jane" within the “finance" namespace. This allows "jane" to read pods in the “finance" namespace.</a:t>
            </a:r>
          </a:p>
        </p:txBody>
      </p:sp>
    </p:spTree>
    <p:extLst>
      <p:ext uri="{BB962C8B-B14F-4D97-AF65-F5344CB8AC3E}">
        <p14:creationId xmlns:p14="http://schemas.microsoft.com/office/powerpoint/2010/main" val="41336835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Verbs: what action is allowed?</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Read permissions and write permissions are separate</a:t>
            </a:r>
          </a:p>
        </p:txBody>
      </p:sp>
      <p:sp>
        <p:nvSpPr>
          <p:cNvPr id="11" name="Rounded Rectangle 10"/>
          <p:cNvSpPr/>
          <p:nvPr/>
        </p:nvSpPr>
        <p:spPr>
          <a:xfrm>
            <a:off x="8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Read</a:t>
            </a:r>
          </a:p>
          <a:p>
            <a:pPr algn="l">
              <a:spcAft>
                <a:spcPts val="400"/>
              </a:spcAft>
            </a:pPr>
            <a:r>
              <a:rPr sz="1550">
                <a:solidFill>
                  <a:srgbClr val="D7DEE8"/>
                </a:solidFill>
                <a:latin typeface="Plus Jakarta Sans"/>
              </a:rPr>
              <a:t>get → one object</a:t>
            </a:r>
          </a:p>
          <a:p>
            <a:pPr algn="l">
              <a:spcAft>
                <a:spcPts val="400"/>
              </a:spcAft>
            </a:pPr>
            <a:r>
              <a:rPr sz="1550">
                <a:solidFill>
                  <a:srgbClr val="D7DEE8"/>
                </a:solidFill>
                <a:latin typeface="Plus Jakarta Sans"/>
              </a:rPr>
              <a:t>list → collections</a:t>
            </a:r>
          </a:p>
          <a:p>
            <a:pPr algn="l">
              <a:spcAft>
                <a:spcPts val="400"/>
              </a:spcAft>
            </a:pPr>
            <a:r>
              <a:rPr sz="1550">
                <a:solidFill>
                  <a:srgbClr val="D7DEE8"/>
                </a:solidFill>
                <a:latin typeface="Plus Jakarta Sans"/>
              </a:rPr>
              <a:t>watch → changes over time</a:t>
            </a:r>
          </a:p>
        </p:txBody>
      </p:sp>
      <p:sp>
        <p:nvSpPr>
          <p:cNvPr id="12" name="Rounded Rectangle 11"/>
          <p:cNvSpPr/>
          <p:nvPr/>
        </p:nvSpPr>
        <p:spPr>
          <a:xfrm>
            <a:off x="43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70EBB1"/>
                </a:solidFill>
                <a:latin typeface="Space Grotesk"/>
              </a:rPr>
              <a:t>Write</a:t>
            </a:r>
          </a:p>
          <a:p>
            <a:pPr algn="l">
              <a:spcAft>
                <a:spcPts val="400"/>
              </a:spcAft>
            </a:pPr>
            <a:r>
              <a:rPr sz="1550">
                <a:solidFill>
                  <a:srgbClr val="D7DEE8"/>
                </a:solidFill>
                <a:latin typeface="Plus Jakarta Sans"/>
              </a:rPr>
              <a:t>create</a:t>
            </a:r>
          </a:p>
          <a:p>
            <a:pPr algn="l">
              <a:spcAft>
                <a:spcPts val="400"/>
              </a:spcAft>
            </a:pPr>
            <a:r>
              <a:rPr sz="1550">
                <a:solidFill>
                  <a:srgbClr val="D7DEE8"/>
                </a:solidFill>
                <a:latin typeface="Plus Jakarta Sans"/>
              </a:rPr>
              <a:t>update / patch</a:t>
            </a:r>
          </a:p>
          <a:p>
            <a:pPr algn="l">
              <a:spcAft>
                <a:spcPts val="400"/>
              </a:spcAft>
            </a:pPr>
            <a:r>
              <a:rPr sz="1550">
                <a:solidFill>
                  <a:srgbClr val="D7DEE8"/>
                </a:solidFill>
                <a:latin typeface="Plus Jakarta Sans"/>
              </a:rPr>
              <a:t>delete</a:t>
            </a:r>
          </a:p>
        </p:txBody>
      </p:sp>
      <p:sp>
        <p:nvSpPr>
          <p:cNvPr id="13" name="Rounded Rectangle 12"/>
          <p:cNvSpPr/>
          <p:nvPr/>
        </p:nvSpPr>
        <p:spPr>
          <a:xfrm>
            <a:off x="7800000" y="2050000"/>
            <a:ext cx="2800000" cy="18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FF7882"/>
                </a:solidFill>
                <a:latin typeface="Space Grotesk"/>
              </a:rPr>
              <a:t>Subresources</a:t>
            </a:r>
          </a:p>
          <a:p>
            <a:pPr algn="l">
              <a:spcAft>
                <a:spcPts val="400"/>
              </a:spcAft>
            </a:pPr>
            <a:r>
              <a:rPr sz="1450">
                <a:solidFill>
                  <a:srgbClr val="D7DEE8"/>
                </a:solidFill>
                <a:latin typeface="Plus Jakarta Sans"/>
              </a:rPr>
              <a:t>Some actions use subresources</a:t>
            </a:r>
          </a:p>
          <a:p>
            <a:pPr algn="l">
              <a:spcAft>
                <a:spcPts val="400"/>
              </a:spcAft>
            </a:pPr>
            <a:r>
              <a:rPr sz="1450">
                <a:solidFill>
                  <a:srgbClr val="D7DEE8"/>
                </a:solidFill>
                <a:latin typeface="Plus Jakarta Sans"/>
              </a:rPr>
              <a:t>Example: pods/log</a:t>
            </a:r>
          </a:p>
          <a:p>
            <a:pPr algn="l">
              <a:spcAft>
                <a:spcPts val="400"/>
              </a:spcAft>
            </a:pPr>
            <a:r>
              <a:rPr sz="1450">
                <a:solidFill>
                  <a:srgbClr val="D7DEE8"/>
                </a:solidFill>
                <a:latin typeface="Plus Jakarta Sans"/>
              </a:rPr>
              <a:t>Permission may need to be granted separately</a:t>
            </a:r>
          </a:p>
        </p:txBody>
      </p:sp>
      <p:sp>
        <p:nvSpPr>
          <p:cNvPr id="14" name="TextBox 13"/>
          <p:cNvSpPr txBox="1"/>
          <p:nvPr/>
        </p:nvSpPr>
        <p:spPr>
          <a:xfrm>
            <a:off x="628650" y="4200000"/>
            <a:ext cx="10001250" cy="261610"/>
          </a:xfrm>
          <a:prstGeom prst="rect">
            <a:avLst/>
          </a:prstGeom>
          <a:noFill/>
        </p:spPr>
        <p:txBody>
          <a:bodyPr wrap="square" lIns="27432" tIns="0" rIns="27432" bIns="0">
            <a:spAutoFit/>
          </a:bodyPr>
          <a:lstStyle/>
          <a:p>
            <a:pPr algn="ctr"/>
            <a:r>
              <a:rPr sz="1700" b="0" dirty="0">
                <a:solidFill>
                  <a:srgbClr val="F5F7FA"/>
                </a:solidFill>
                <a:latin typeface="Plus Jakarta Sans"/>
              </a:rPr>
              <a:t>Grant only the verbs the workload or user actually needs.</a:t>
            </a:r>
          </a:p>
        </p:txBody>
      </p:sp>
      <p:sp>
        <p:nvSpPr>
          <p:cNvPr id="15" name="TextBox 14"/>
          <p:cNvSpPr txBox="1"/>
          <p:nvPr/>
        </p:nvSpPr>
        <p:spPr>
          <a:xfrm>
            <a:off x="1025872" y="5425000"/>
            <a:ext cx="10050000" cy="384721"/>
          </a:xfrm>
          <a:prstGeom prst="rect">
            <a:avLst/>
          </a:prstGeom>
          <a:noFill/>
        </p:spPr>
        <p:txBody>
          <a:bodyPr wrap="square" lIns="27432" tIns="0" rIns="27432" bIns="0">
            <a:spAutoFit/>
          </a:bodyPr>
          <a:lstStyle/>
          <a:p>
            <a:pPr algn="l"/>
            <a:r>
              <a:rPr lang="en-US" sz="1250" b="0" dirty="0">
                <a:solidFill>
                  <a:srgbClr val="99A6B7"/>
                </a:solidFill>
                <a:latin typeface="Plus Jakarta Sans"/>
              </a:rPr>
              <a:t>Example nuance: permission to read Pods does not automatically mean permission to read Pod logs. The logs endpoint is the pods/log subresource.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RBAC permissions are additive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There are allow rules — but no RBAC “deny” rule</a:t>
            </a:r>
          </a:p>
        </p:txBody>
      </p:sp>
      <p:sp>
        <p:nvSpPr>
          <p:cNvPr id="11" name="Rounded Rectangle 10"/>
          <p:cNvSpPr/>
          <p:nvPr/>
        </p:nvSpPr>
        <p:spPr>
          <a:xfrm>
            <a:off x="62865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FF7882"/>
                </a:solidFill>
                <a:latin typeface="Space Grotesk"/>
              </a:rPr>
              <a:t>No matching allow</a:t>
            </a:r>
          </a:p>
          <a:p>
            <a:pPr algn="l">
              <a:spcAft>
                <a:spcPts val="400"/>
              </a:spcAft>
            </a:pPr>
            <a:r>
              <a:rPr sz="1600">
                <a:solidFill>
                  <a:srgbClr val="D7DEE8"/>
                </a:solidFill>
                <a:latin typeface="Plus Jakarta Sans"/>
              </a:rPr>
              <a:t>Request is forbidden</a:t>
            </a:r>
          </a:p>
          <a:p>
            <a:pPr algn="l">
              <a:spcAft>
                <a:spcPts val="400"/>
              </a:spcAft>
            </a:pPr>
            <a:r>
              <a:rPr sz="1600">
                <a:solidFill>
                  <a:srgbClr val="D7DEE8"/>
                </a:solidFill>
                <a:latin typeface="Plus Jakarta Sans"/>
              </a:rPr>
              <a:t>This behaves like default deny</a:t>
            </a:r>
          </a:p>
          <a:p>
            <a:pPr algn="l">
              <a:spcAft>
                <a:spcPts val="400"/>
              </a:spcAft>
            </a:pPr>
            <a:r>
              <a:rPr sz="1600">
                <a:solidFill>
                  <a:srgbClr val="D7DEE8"/>
                </a:solidFill>
                <a:latin typeface="Plus Jakarta Sans"/>
              </a:rPr>
              <a:t>Access must be explicitly granted</a:t>
            </a:r>
          </a:p>
        </p:txBody>
      </p:sp>
      <p:sp>
        <p:nvSpPr>
          <p:cNvPr id="12" name="Rounded Rectangle 11"/>
          <p:cNvSpPr/>
          <p:nvPr/>
        </p:nvSpPr>
        <p:spPr>
          <a:xfrm>
            <a:off x="5200000" y="1950000"/>
            <a:ext cx="4300000" cy="20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70EBB1"/>
                </a:solidFill>
                <a:latin typeface="Space Grotesk"/>
              </a:rPr>
              <a:t>Multiple grants</a:t>
            </a:r>
          </a:p>
          <a:p>
            <a:pPr algn="l">
              <a:spcAft>
                <a:spcPts val="400"/>
              </a:spcAft>
            </a:pPr>
            <a:r>
              <a:rPr sz="1600">
                <a:solidFill>
                  <a:srgbClr val="D7DEE8"/>
                </a:solidFill>
                <a:latin typeface="Plus Jakarta Sans"/>
              </a:rPr>
              <a:t>Permissions are combined</a:t>
            </a:r>
          </a:p>
          <a:p>
            <a:pPr algn="l">
              <a:spcAft>
                <a:spcPts val="400"/>
              </a:spcAft>
            </a:pPr>
            <a:r>
              <a:rPr sz="1600">
                <a:solidFill>
                  <a:srgbClr val="D7DEE8"/>
                </a:solidFill>
                <a:latin typeface="Plus Jakarta Sans"/>
              </a:rPr>
              <a:t>A second Role can add more access</a:t>
            </a:r>
          </a:p>
          <a:p>
            <a:pPr algn="l">
              <a:spcAft>
                <a:spcPts val="400"/>
              </a:spcAft>
            </a:pPr>
            <a:r>
              <a:rPr sz="1600">
                <a:solidFill>
                  <a:srgbClr val="D7DEE8"/>
                </a:solidFill>
                <a:latin typeface="Plus Jakarta Sans"/>
              </a:rPr>
              <a:t>One binding does not cancel another</a:t>
            </a:r>
          </a:p>
        </p:txBody>
      </p:sp>
      <p:sp>
        <p:nvSpPr>
          <p:cNvPr id="13" name="TextBox 12"/>
          <p:cNvSpPr txBox="1"/>
          <p:nvPr/>
        </p:nvSpPr>
        <p:spPr>
          <a:xfrm>
            <a:off x="628650" y="4150000"/>
            <a:ext cx="10001250" cy="700000"/>
          </a:xfrm>
          <a:prstGeom prst="rect">
            <a:avLst/>
          </a:prstGeom>
          <a:noFill/>
        </p:spPr>
        <p:txBody>
          <a:bodyPr wrap="square" lIns="27432" tIns="0" rIns="27432" bIns="0">
            <a:spAutoFit/>
          </a:bodyPr>
          <a:lstStyle/>
          <a:p>
            <a:pPr algn="l"/>
            <a:r>
              <a:rPr sz="1650" b="0">
                <a:solidFill>
                  <a:srgbClr val="F5F7FA"/>
                </a:solidFill>
                <a:latin typeface="Plus Jakarta Sans"/>
              </a:rPr>
              <a:t>If any applicable RBAC rule allows the request, RBAC allows it. You cannot add a later “deny” rule to subtract that permission.</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This is why overly broad bindings are dangerous: you cannot fix them by adding a restrictive Role. You must remove or narrow the broad grant.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Example: read Pods only in finance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A namespace-scoped grant from identity to permission</a:t>
            </a:r>
          </a:p>
        </p:txBody>
      </p:sp>
      <p:sp>
        <p:nvSpPr>
          <p:cNvPr id="11" name="Rounded Rectangle 10"/>
          <p:cNvSpPr/>
          <p:nvPr/>
        </p:nvSpPr>
        <p:spPr>
          <a:xfrm>
            <a:off x="628650" y="1950000"/>
            <a:ext cx="3000000"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ServiceAccount</a:t>
            </a:r>
          </a:p>
          <a:p>
            <a:pPr algn="l">
              <a:spcAft>
                <a:spcPts val="400"/>
              </a:spcAft>
            </a:pPr>
            <a:r>
              <a:rPr sz="1550">
                <a:solidFill>
                  <a:srgbClr val="D7DEE8"/>
                </a:solidFill>
                <a:latin typeface="Plus Jakarta Sans"/>
              </a:rPr>
              <a:t>finance:test-user</a:t>
            </a:r>
          </a:p>
          <a:p>
            <a:pPr algn="l">
              <a:spcAft>
                <a:spcPts val="400"/>
              </a:spcAft>
            </a:pPr>
            <a:r>
              <a:rPr sz="1550">
                <a:solidFill>
                  <a:srgbClr val="D7DEE8"/>
                </a:solidFill>
                <a:latin typeface="Plus Jakarta Sans"/>
              </a:rPr>
              <a:t>Identity used for the lab</a:t>
            </a:r>
          </a:p>
        </p:txBody>
      </p:sp>
      <p:sp>
        <p:nvSpPr>
          <p:cNvPr id="12" name="TextBox 11"/>
          <p:cNvSpPr txBox="1"/>
          <p:nvPr/>
        </p:nvSpPr>
        <p:spPr>
          <a:xfrm>
            <a:off x="3700000" y="2480000"/>
            <a:ext cx="900000" cy="500000"/>
          </a:xfrm>
          <a:prstGeom prst="rect">
            <a:avLst/>
          </a:prstGeom>
          <a:noFill/>
        </p:spPr>
        <p:txBody>
          <a:bodyPr wrap="square" lIns="27432" tIns="0" rIns="27432" bIns="0">
            <a:spAutoFit/>
          </a:bodyPr>
          <a:lstStyle/>
          <a:p>
            <a:pPr algn="ctr"/>
            <a:r>
              <a:rPr sz="2800" b="1">
                <a:solidFill>
                  <a:srgbClr val="51E0FF"/>
                </a:solidFill>
                <a:latin typeface="Space Grotesk"/>
              </a:rPr>
              <a:t>→</a:t>
            </a:r>
          </a:p>
        </p:txBody>
      </p:sp>
      <p:sp>
        <p:nvSpPr>
          <p:cNvPr id="13" name="Rounded Rectangle 12"/>
          <p:cNvSpPr/>
          <p:nvPr/>
        </p:nvSpPr>
        <p:spPr>
          <a:xfrm>
            <a:off x="4550000" y="1950000"/>
            <a:ext cx="2933872" cy="19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RoleBinding</a:t>
            </a:r>
            <a:endParaRPr sz="1800" b="1" dirty="0">
              <a:solidFill>
                <a:srgbClr val="73B4FF"/>
              </a:solidFill>
              <a:latin typeface="Space Grotesk"/>
            </a:endParaRPr>
          </a:p>
          <a:p>
            <a:pPr algn="l">
              <a:spcAft>
                <a:spcPts val="400"/>
              </a:spcAft>
            </a:pPr>
            <a:r>
              <a:rPr sz="1550">
                <a:solidFill>
                  <a:srgbClr val="D7DEE8"/>
                </a:solidFill>
                <a:latin typeface="Plus Jakarta Sans"/>
              </a:rPr>
              <a:t>finance namespace</a:t>
            </a:r>
          </a:p>
          <a:p>
            <a:pPr algn="l">
              <a:spcAft>
                <a:spcPts val="400"/>
              </a:spcAft>
            </a:pPr>
            <a:r>
              <a:rPr sz="1550">
                <a:solidFill>
                  <a:srgbClr val="D7DEE8"/>
                </a:solidFill>
                <a:latin typeface="Plus Jakarta Sans"/>
              </a:rPr>
              <a:t>connects subject to pod-reader</a:t>
            </a:r>
          </a:p>
        </p:txBody>
      </p:sp>
      <p:sp>
        <p:nvSpPr>
          <p:cNvPr id="14" name="TextBox 13"/>
          <p:cNvSpPr txBox="1"/>
          <p:nvPr/>
        </p:nvSpPr>
        <p:spPr>
          <a:xfrm>
            <a:off x="7800000" y="2480000"/>
            <a:ext cx="700000" cy="500000"/>
          </a:xfrm>
          <a:prstGeom prst="rect">
            <a:avLst/>
          </a:prstGeom>
          <a:noFill/>
        </p:spPr>
        <p:txBody>
          <a:bodyPr wrap="square" lIns="27432" tIns="0" rIns="27432" bIns="0">
            <a:spAutoFit/>
          </a:bodyPr>
          <a:lstStyle/>
          <a:p>
            <a:pPr algn="ctr"/>
            <a:r>
              <a:rPr sz="2800" b="1">
                <a:solidFill>
                  <a:srgbClr val="51E0FF"/>
                </a:solidFill>
                <a:latin typeface="Space Grotesk"/>
              </a:rPr>
              <a:t>→</a:t>
            </a:r>
          </a:p>
        </p:txBody>
      </p:sp>
      <p:sp>
        <p:nvSpPr>
          <p:cNvPr id="15" name="Rounded Rectangle 14"/>
          <p:cNvSpPr/>
          <p:nvPr/>
        </p:nvSpPr>
        <p:spPr>
          <a:xfrm>
            <a:off x="8600000" y="1950000"/>
            <a:ext cx="2475872" cy="18704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70EBB1"/>
                </a:solidFill>
                <a:latin typeface="Space Grotesk"/>
              </a:rPr>
              <a:t>Role pod-reader</a:t>
            </a:r>
          </a:p>
          <a:p>
            <a:pPr algn="l">
              <a:spcAft>
                <a:spcPts val="400"/>
              </a:spcAft>
            </a:pPr>
            <a:r>
              <a:rPr sz="1550">
                <a:solidFill>
                  <a:srgbClr val="D7DEE8"/>
                </a:solidFill>
                <a:latin typeface="Plus Jakarta Sans"/>
              </a:rPr>
              <a:t>pods</a:t>
            </a:r>
          </a:p>
          <a:p>
            <a:pPr algn="l">
              <a:spcAft>
                <a:spcPts val="400"/>
              </a:spcAft>
            </a:pPr>
            <a:r>
              <a:rPr sz="1550">
                <a:solidFill>
                  <a:srgbClr val="D7DEE8"/>
                </a:solidFill>
                <a:latin typeface="Plus Jakarta Sans"/>
              </a:rPr>
              <a:t>get + list + watch</a:t>
            </a:r>
          </a:p>
          <a:p>
            <a:pPr algn="l">
              <a:spcAft>
                <a:spcPts val="400"/>
              </a:spcAft>
            </a:pPr>
            <a:r>
              <a:rPr sz="1550">
                <a:solidFill>
                  <a:srgbClr val="D7DEE8"/>
                </a:solidFill>
                <a:latin typeface="Plus Jakarta Sans"/>
              </a:rPr>
              <a:t>no delete permission</a:t>
            </a:r>
          </a:p>
        </p:txBody>
      </p:sp>
      <p:sp>
        <p:nvSpPr>
          <p:cNvPr id="16" name="TextBox 15"/>
          <p:cNvSpPr txBox="1"/>
          <p:nvPr/>
        </p:nvSpPr>
        <p:spPr>
          <a:xfrm>
            <a:off x="628650" y="4100000"/>
            <a:ext cx="10001250" cy="500000"/>
          </a:xfrm>
          <a:prstGeom prst="rect">
            <a:avLst/>
          </a:prstGeom>
          <a:noFill/>
        </p:spPr>
        <p:txBody>
          <a:bodyPr wrap="square" lIns="27432" tIns="0" rIns="27432" bIns="0">
            <a:spAutoFit/>
          </a:bodyPr>
          <a:lstStyle/>
          <a:p>
            <a:pPr algn="l"/>
            <a:r>
              <a:rPr sz="1650" b="0">
                <a:solidFill>
                  <a:srgbClr val="F5F7FA"/>
                </a:solidFill>
                <a:latin typeface="Plus Jakarta Sans"/>
              </a:rPr>
              <a:t>Result: test-user can read Pods in finance, but the Role does not grant Pod deletion or access in other namespaces.</a:t>
            </a:r>
          </a:p>
        </p:txBody>
      </p:sp>
      <p:sp>
        <p:nvSpPr>
          <p:cNvPr id="17" name="TextBox 16"/>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This is the main lab mental model. Keep returning to it whenever </a:t>
            </a:r>
            <a:r>
              <a:rPr lang="en-US" sz="1250" dirty="0">
                <a:solidFill>
                  <a:srgbClr val="99A6B7"/>
                </a:solidFill>
                <a:latin typeface="Plus Jakarta Sans"/>
              </a:rPr>
              <a:t>you </a:t>
            </a:r>
            <a:r>
              <a:rPr sz="1250" b="0" dirty="0">
                <a:solidFill>
                  <a:srgbClr val="99A6B7"/>
                </a:solidFill>
                <a:latin typeface="Plus Jakarta Sans"/>
              </a:rPr>
              <a:t>get lost in YAML: subject → binding → role → rules → namespace.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Built-in roles and least privilege</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Use existing roles when they fit — but understand their power</a:t>
            </a:r>
          </a:p>
        </p:txBody>
      </p:sp>
      <p:sp>
        <p:nvSpPr>
          <p:cNvPr id="11" name="Rounded Rectangle 10"/>
          <p:cNvSpPr/>
          <p:nvPr/>
        </p:nvSpPr>
        <p:spPr>
          <a:xfrm>
            <a:off x="900000" y="2100000"/>
            <a:ext cx="4200000" cy="17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Common built-in ClusterRoles</a:t>
            </a:r>
          </a:p>
          <a:p>
            <a:pPr algn="l">
              <a:spcAft>
                <a:spcPts val="400"/>
              </a:spcAft>
            </a:pPr>
            <a:r>
              <a:rPr sz="1450">
                <a:solidFill>
                  <a:srgbClr val="D7DEE8"/>
                </a:solidFill>
                <a:latin typeface="Plus Jakarta Sans"/>
              </a:rPr>
              <a:t>view → read most namespace objects</a:t>
            </a:r>
          </a:p>
          <a:p>
            <a:pPr algn="l">
              <a:spcAft>
                <a:spcPts val="400"/>
              </a:spcAft>
            </a:pPr>
            <a:r>
              <a:rPr sz="1450">
                <a:solidFill>
                  <a:srgbClr val="D7DEE8"/>
                </a:solidFill>
                <a:latin typeface="Plus Jakarta Sans"/>
              </a:rPr>
              <a:t>edit → modify most namespace objects</a:t>
            </a:r>
          </a:p>
          <a:p>
            <a:pPr algn="l">
              <a:spcAft>
                <a:spcPts val="400"/>
              </a:spcAft>
            </a:pPr>
            <a:r>
              <a:rPr sz="1450">
                <a:solidFill>
                  <a:srgbClr val="D7DEE8"/>
                </a:solidFill>
                <a:latin typeface="Plus Jakarta Sans"/>
              </a:rPr>
              <a:t>admin → namespace administration</a:t>
            </a:r>
          </a:p>
          <a:p>
            <a:pPr algn="l">
              <a:spcAft>
                <a:spcPts val="400"/>
              </a:spcAft>
            </a:pPr>
            <a:r>
              <a:rPr sz="1450">
                <a:solidFill>
                  <a:srgbClr val="D7DEE8"/>
                </a:solidFill>
                <a:latin typeface="Plus Jakarta Sans"/>
              </a:rPr>
              <a:t>Bind them with a RoleBinding for one namespace</a:t>
            </a:r>
          </a:p>
        </p:txBody>
      </p:sp>
      <p:sp>
        <p:nvSpPr>
          <p:cNvPr id="12" name="Rounded Rectangle 11"/>
          <p:cNvSpPr/>
          <p:nvPr/>
        </p:nvSpPr>
        <p:spPr>
          <a:xfrm>
            <a:off x="6050872" y="2148126"/>
            <a:ext cx="5025000" cy="1653853"/>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FF7882"/>
                </a:solidFill>
                <a:latin typeface="Space Grotesk"/>
              </a:rPr>
              <a:t>Be careful with privilege</a:t>
            </a:r>
            <a:endParaRPr sz="1800" b="1" dirty="0">
              <a:solidFill>
                <a:srgbClr val="70EBB1"/>
              </a:solidFill>
              <a:latin typeface="Space Grotesk"/>
            </a:endParaRPr>
          </a:p>
          <a:p>
            <a:pPr algn="l">
              <a:spcAft>
                <a:spcPts val="400"/>
              </a:spcAft>
            </a:pPr>
            <a:r>
              <a:rPr sz="1450">
                <a:solidFill>
                  <a:srgbClr val="D7DEE8"/>
                </a:solidFill>
                <a:latin typeface="Plus Jakarta Sans"/>
              </a:rPr>
              <a:t>cluster-admin is full super-user access</a:t>
            </a:r>
          </a:p>
          <a:p>
            <a:pPr algn="l">
              <a:spcAft>
                <a:spcPts val="400"/>
              </a:spcAft>
            </a:pPr>
            <a:r>
              <a:rPr sz="1450">
                <a:solidFill>
                  <a:srgbClr val="D7DEE8"/>
                </a:solidFill>
                <a:latin typeface="Plus Jakarta Sans"/>
              </a:rPr>
              <a:t>Avoid wildcards unless required</a:t>
            </a:r>
          </a:p>
          <a:p>
            <a:pPr algn="l">
              <a:spcAft>
                <a:spcPts val="400"/>
              </a:spcAft>
            </a:pPr>
            <a:r>
              <a:rPr sz="1450">
                <a:solidFill>
                  <a:srgbClr val="D7DEE8"/>
                </a:solidFill>
                <a:latin typeface="Plus Jakarta Sans"/>
              </a:rPr>
              <a:t>Limit Secret access</a:t>
            </a:r>
          </a:p>
          <a:p>
            <a:pPr algn="l">
              <a:spcAft>
                <a:spcPts val="400"/>
              </a:spcAft>
            </a:pPr>
            <a:r>
              <a:rPr sz="1450">
                <a:solidFill>
                  <a:srgbClr val="D7DEE8"/>
                </a:solidFill>
                <a:latin typeface="Plus Jakarta Sans"/>
              </a:rPr>
              <a:t>Prefer RoleBinding over ClusterRoleBinding</a:t>
            </a:r>
          </a:p>
        </p:txBody>
      </p:sp>
      <p:sp>
        <p:nvSpPr>
          <p:cNvPr id="13" name="TextBox 12"/>
          <p:cNvSpPr txBox="1"/>
          <p:nvPr/>
        </p:nvSpPr>
        <p:spPr>
          <a:xfrm>
            <a:off x="628650" y="4150000"/>
            <a:ext cx="10001250" cy="253916"/>
          </a:xfrm>
          <a:prstGeom prst="rect">
            <a:avLst/>
          </a:prstGeom>
          <a:noFill/>
        </p:spPr>
        <p:txBody>
          <a:bodyPr wrap="square" lIns="27432" tIns="0" rIns="27432" bIns="0">
            <a:spAutoFit/>
          </a:bodyPr>
          <a:lstStyle/>
          <a:p>
            <a:pPr algn="ctr"/>
            <a:r>
              <a:rPr sz="1650" b="0" dirty="0">
                <a:solidFill>
                  <a:srgbClr val="F5F7FA"/>
                </a:solidFill>
                <a:latin typeface="Plus Jakarta Sans"/>
              </a:rPr>
              <a:t>Start with the smallest useful permission set and expand only when a real requirement appears.</a:t>
            </a:r>
          </a:p>
        </p:txBody>
      </p:sp>
      <p:sp>
        <p:nvSpPr>
          <p:cNvPr id="14" name="TextBox 13"/>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Important nuance: the built-in view role intentionally does not allow reading Secrets. The edit role is powerful because it can access Secrets and create Pods using ServiceAccounts in the namespace.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Testing permissions with kubectl auth can-i</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Ask Kubernetes before attempting the real operation</a:t>
            </a:r>
          </a:p>
        </p:txBody>
      </p:sp>
      <p:sp>
        <p:nvSpPr>
          <p:cNvPr id="11" name="TextBox 10"/>
          <p:cNvSpPr txBox="1"/>
          <p:nvPr/>
        </p:nvSpPr>
        <p:spPr>
          <a:xfrm>
            <a:off x="628650" y="1950000"/>
            <a:ext cx="5760118" cy="2500000"/>
          </a:xfrm>
          <a:prstGeom prst="rect">
            <a:avLst/>
          </a:prstGeom>
          <a:solidFill>
            <a:srgbClr val="09121F"/>
          </a:solidFill>
          <a:ln>
            <a:solidFill>
              <a:srgbClr val="314963"/>
            </a:solidFill>
          </a:ln>
        </p:spPr>
        <p:txBody>
          <a:bodyPr wrap="none" lIns="152400" tIns="101600" rIns="152400" bIns="101600">
            <a:spAutoFit/>
          </a:bodyPr>
          <a:lstStyle/>
          <a:p>
            <a:pPr algn="l"/>
            <a:r>
              <a:rPr sz="1150" dirty="0">
                <a:solidFill>
                  <a:srgbClr val="F5F7FA"/>
                </a:solidFill>
                <a:latin typeface="Consolas"/>
              </a:rPr>
              <a:t># Check your current identity</a:t>
            </a:r>
            <a:br>
              <a:rPr dirty="0"/>
            </a:br>
            <a:r>
              <a:rPr sz="1150" dirty="0" err="1">
                <a:solidFill>
                  <a:srgbClr val="F5F7FA"/>
                </a:solidFill>
                <a:latin typeface="Consolas"/>
              </a:rPr>
              <a:t>kubectl</a:t>
            </a:r>
            <a:r>
              <a:rPr sz="1150" dirty="0">
                <a:solidFill>
                  <a:srgbClr val="F5F7FA"/>
                </a:solidFill>
                <a:latin typeface="Consolas"/>
              </a:rPr>
              <a:t> auth can-i get pods -n finance</a:t>
            </a:r>
            <a:br>
              <a:rPr dirty="0"/>
            </a:br>
            <a:br>
              <a:rPr dirty="0"/>
            </a:br>
            <a:r>
              <a:rPr sz="1150" dirty="0">
                <a:solidFill>
                  <a:srgbClr val="F5F7FA"/>
                </a:solidFill>
                <a:latin typeface="Consolas"/>
              </a:rPr>
              <a:t># Check the lab </a:t>
            </a:r>
            <a:r>
              <a:rPr sz="1150" dirty="0" err="1">
                <a:solidFill>
                  <a:srgbClr val="F5F7FA"/>
                </a:solidFill>
                <a:latin typeface="Consolas"/>
              </a:rPr>
              <a:t>ServiceAccount</a:t>
            </a:r>
            <a:br>
              <a:rPr dirty="0"/>
            </a:br>
            <a:r>
              <a:rPr sz="1150" dirty="0" err="1">
                <a:solidFill>
                  <a:srgbClr val="F5F7FA"/>
                </a:solidFill>
                <a:latin typeface="Consolas"/>
              </a:rPr>
              <a:t>kubectl</a:t>
            </a:r>
            <a:r>
              <a:rPr sz="1150" dirty="0">
                <a:solidFill>
                  <a:srgbClr val="F5F7FA"/>
                </a:solidFill>
                <a:latin typeface="Consolas"/>
              </a:rPr>
              <a:t> auth can-i get pods \</a:t>
            </a:r>
            <a:br>
              <a:rPr dirty="0"/>
            </a:br>
            <a:r>
              <a:rPr sz="1150" dirty="0">
                <a:solidFill>
                  <a:srgbClr val="F5F7FA"/>
                </a:solidFill>
                <a:latin typeface="Consolas"/>
              </a:rPr>
              <a:t>  --as=</a:t>
            </a:r>
            <a:r>
              <a:rPr sz="1150" dirty="0" err="1">
                <a:solidFill>
                  <a:srgbClr val="F5F7FA"/>
                </a:solidFill>
                <a:latin typeface="Consolas"/>
              </a:rPr>
              <a:t>system:serviceaccount:finance:test-user</a:t>
            </a:r>
            <a:r>
              <a:rPr sz="1150" dirty="0">
                <a:solidFill>
                  <a:srgbClr val="F5F7FA"/>
                </a:solidFill>
                <a:latin typeface="Consolas"/>
              </a:rPr>
              <a:t> \</a:t>
            </a:r>
            <a:br>
              <a:rPr dirty="0"/>
            </a:br>
            <a:r>
              <a:rPr sz="1150" dirty="0">
                <a:solidFill>
                  <a:srgbClr val="F5F7FA"/>
                </a:solidFill>
                <a:latin typeface="Consolas"/>
              </a:rPr>
              <a:t>  -n finance</a:t>
            </a:r>
            <a:br>
              <a:rPr dirty="0"/>
            </a:br>
            <a:br>
              <a:rPr dirty="0"/>
            </a:br>
            <a:r>
              <a:rPr sz="1150" dirty="0">
                <a:solidFill>
                  <a:srgbClr val="F5F7FA"/>
                </a:solidFill>
                <a:latin typeface="Consolas"/>
              </a:rPr>
              <a:t># See all allowed actions in a namespace</a:t>
            </a:r>
            <a:br>
              <a:rPr dirty="0"/>
            </a:br>
            <a:r>
              <a:rPr sz="1150" dirty="0" err="1">
                <a:solidFill>
                  <a:srgbClr val="F5F7FA"/>
                </a:solidFill>
                <a:latin typeface="Consolas"/>
              </a:rPr>
              <a:t>kubectl</a:t>
            </a:r>
            <a:r>
              <a:rPr sz="1150" dirty="0">
                <a:solidFill>
                  <a:srgbClr val="F5F7FA"/>
                </a:solidFill>
                <a:latin typeface="Consolas"/>
              </a:rPr>
              <a:t> auth can-i --list -n finance</a:t>
            </a:r>
            <a:endParaRPr sz="1600" dirty="0">
              <a:solidFill>
                <a:srgbClr val="F5F7FA"/>
              </a:solidFill>
              <a:latin typeface="Consolas"/>
            </a:endParaRPr>
          </a:p>
        </p:txBody>
      </p:sp>
      <p:sp>
        <p:nvSpPr>
          <p:cNvPr id="12" name="Rounded Rectangle 11"/>
          <p:cNvSpPr/>
          <p:nvPr/>
        </p:nvSpPr>
        <p:spPr>
          <a:xfrm>
            <a:off x="6657592" y="1941746"/>
            <a:ext cx="5265584" cy="23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What this answers</a:t>
            </a:r>
          </a:p>
          <a:p>
            <a:pPr algn="l">
              <a:spcAft>
                <a:spcPts val="400"/>
              </a:spcAft>
            </a:pPr>
            <a:r>
              <a:rPr sz="1450">
                <a:solidFill>
                  <a:srgbClr val="D7DEE8"/>
                </a:solidFill>
                <a:latin typeface="Plus Jakarta Sans"/>
              </a:rPr>
              <a:t>“Would this request be allowed?”</a:t>
            </a:r>
          </a:p>
          <a:p>
            <a:pPr algn="l">
              <a:spcAft>
                <a:spcPts val="400"/>
              </a:spcAft>
            </a:pPr>
            <a:r>
              <a:rPr sz="1450">
                <a:solidFill>
                  <a:srgbClr val="D7DEE8"/>
                </a:solidFill>
                <a:latin typeface="Plus Jakarta Sans"/>
              </a:rPr>
              <a:t>Try get / list / delete separately</a:t>
            </a:r>
          </a:p>
          <a:p>
            <a:pPr algn="l">
              <a:spcAft>
                <a:spcPts val="400"/>
              </a:spcAft>
            </a:pPr>
            <a:r>
              <a:rPr sz="1450">
                <a:solidFill>
                  <a:srgbClr val="D7DEE8"/>
                </a:solidFill>
                <a:latin typeface="Plus Jakarta Sans"/>
              </a:rPr>
              <a:t>Use --as only when your identity</a:t>
            </a:r>
          </a:p>
          <a:p>
            <a:pPr algn="l">
              <a:spcAft>
                <a:spcPts val="400"/>
              </a:spcAft>
            </a:pPr>
            <a:r>
              <a:rPr sz="1450">
                <a:solidFill>
                  <a:srgbClr val="D7DEE8"/>
                </a:solidFill>
                <a:latin typeface="Plus Jakarta Sans"/>
              </a:rPr>
              <a:t>is allowed to impersonate that subject</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The --as flag uses Kubernetes impersonation. In many training clusters you are cluster-admin, so it works; ordinary users must have impersonation permission to test as another identity.</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Troubleshooting “Forbidden”</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Read the error as a description of the missing authorization</a:t>
            </a:r>
          </a:p>
        </p:txBody>
      </p:sp>
      <p:sp>
        <p:nvSpPr>
          <p:cNvPr id="11" name="Rounded Rectangle 10"/>
          <p:cNvSpPr/>
          <p:nvPr/>
        </p:nvSpPr>
        <p:spPr>
          <a:xfrm>
            <a:off x="628650" y="1950000"/>
            <a:ext cx="40000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FF7882"/>
                </a:solidFill>
                <a:latin typeface="Space Grotesk"/>
              </a:rPr>
              <a:t>Common causes</a:t>
            </a:r>
          </a:p>
          <a:p>
            <a:pPr algn="l">
              <a:spcAft>
                <a:spcPts val="400"/>
              </a:spcAft>
            </a:pPr>
            <a:r>
              <a:rPr sz="1450">
                <a:solidFill>
                  <a:srgbClr val="D7DEE8"/>
                </a:solidFill>
                <a:latin typeface="Plus Jakarta Sans"/>
              </a:rPr>
              <a:t>Wrong namespace</a:t>
            </a:r>
          </a:p>
          <a:p>
            <a:pPr algn="l">
              <a:spcAft>
                <a:spcPts val="400"/>
              </a:spcAft>
            </a:pPr>
            <a:r>
              <a:rPr sz="1450">
                <a:solidFill>
                  <a:srgbClr val="D7DEE8"/>
                </a:solidFill>
                <a:latin typeface="Plus Jakarta Sans"/>
              </a:rPr>
              <a:t>Wrong subject name / ServiceAccount namespace</a:t>
            </a:r>
          </a:p>
          <a:p>
            <a:pPr algn="l">
              <a:spcAft>
                <a:spcPts val="400"/>
              </a:spcAft>
            </a:pPr>
            <a:r>
              <a:rPr sz="1450">
                <a:solidFill>
                  <a:srgbClr val="D7DEE8"/>
                </a:solidFill>
                <a:latin typeface="Plus Jakarta Sans"/>
              </a:rPr>
              <a:t>Wrong apiGroup or resource name</a:t>
            </a:r>
          </a:p>
          <a:p>
            <a:pPr algn="l">
              <a:spcAft>
                <a:spcPts val="400"/>
              </a:spcAft>
            </a:pPr>
            <a:r>
              <a:rPr sz="1450">
                <a:solidFill>
                  <a:srgbClr val="D7DEE8"/>
                </a:solidFill>
                <a:latin typeface="Plus Jakarta Sans"/>
              </a:rPr>
              <a:t>Missing verb</a:t>
            </a:r>
          </a:p>
          <a:p>
            <a:pPr algn="l">
              <a:spcAft>
                <a:spcPts val="400"/>
              </a:spcAft>
            </a:pPr>
            <a:r>
              <a:rPr sz="1450">
                <a:solidFill>
                  <a:srgbClr val="D7DEE8"/>
                </a:solidFill>
                <a:latin typeface="Plus Jakarta Sans"/>
              </a:rPr>
              <a:t>Binding points to the wrong role</a:t>
            </a:r>
          </a:p>
        </p:txBody>
      </p:sp>
      <p:sp>
        <p:nvSpPr>
          <p:cNvPr id="12" name="Rounded Rectangle 11"/>
          <p:cNvSpPr/>
          <p:nvPr/>
        </p:nvSpPr>
        <p:spPr>
          <a:xfrm>
            <a:off x="4900000" y="1950000"/>
            <a:ext cx="4600000" cy="245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First checks</a:t>
            </a:r>
          </a:p>
          <a:p>
            <a:pPr algn="l">
              <a:spcAft>
                <a:spcPts val="400"/>
              </a:spcAft>
            </a:pPr>
            <a:r>
              <a:rPr sz="1350">
                <a:solidFill>
                  <a:srgbClr val="D7DEE8"/>
                </a:solidFill>
                <a:latin typeface="Plus Jakarta Sans"/>
              </a:rPr>
              <a:t>kubectl auth can-i &lt;verb&gt; &lt;resource&gt; -n &lt;ns&gt;</a:t>
            </a:r>
          </a:p>
          <a:p>
            <a:pPr algn="l">
              <a:spcAft>
                <a:spcPts val="400"/>
              </a:spcAft>
            </a:pPr>
            <a:r>
              <a:rPr sz="1350">
                <a:solidFill>
                  <a:srgbClr val="D7DEE8"/>
                </a:solidFill>
                <a:latin typeface="Plus Jakarta Sans"/>
              </a:rPr>
              <a:t>kubectl get role,rolebinding -n &lt;ns&gt;</a:t>
            </a:r>
          </a:p>
          <a:p>
            <a:pPr algn="l">
              <a:spcAft>
                <a:spcPts val="400"/>
              </a:spcAft>
            </a:pPr>
            <a:r>
              <a:rPr sz="1350">
                <a:solidFill>
                  <a:srgbClr val="D7DEE8"/>
                </a:solidFill>
                <a:latin typeface="Plus Jakarta Sans"/>
              </a:rPr>
              <a:t>kubectl describe role &lt;name&gt; -n &lt;ns&gt;</a:t>
            </a:r>
          </a:p>
          <a:p>
            <a:pPr algn="l">
              <a:spcAft>
                <a:spcPts val="400"/>
              </a:spcAft>
            </a:pPr>
            <a:r>
              <a:rPr sz="1350">
                <a:solidFill>
                  <a:srgbClr val="D7DEE8"/>
                </a:solidFill>
                <a:latin typeface="Plus Jakarta Sans"/>
              </a:rPr>
              <a:t>kubectl api-resources</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A Forbidden message usually tells you the user, verb, resource, API group, and namespace. </a:t>
            </a:r>
            <a:r>
              <a:rPr lang="en-US" sz="1250" dirty="0">
                <a:solidFill>
                  <a:srgbClr val="99A6B7"/>
                </a:solidFill>
                <a:latin typeface="Plus Jakarta Sans"/>
              </a:rPr>
              <a:t>Troubleshoot the error </a:t>
            </a:r>
            <a:r>
              <a:rPr sz="1250" b="0" dirty="0">
                <a:solidFill>
                  <a:srgbClr val="99A6B7"/>
                </a:solidFill>
                <a:latin typeface="Plus Jakarta Sans"/>
              </a:rPr>
              <a:t>before editing YAML randomly.</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RBAC Part 1</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Create a namespace, identity, and read-only Role</a:t>
            </a:r>
          </a:p>
        </p:txBody>
      </p:sp>
      <p:sp>
        <p:nvSpPr>
          <p:cNvPr id="11" name="TextBox 10"/>
          <p:cNvSpPr txBox="1"/>
          <p:nvPr/>
        </p:nvSpPr>
        <p:spPr>
          <a:xfrm>
            <a:off x="628649" y="1900000"/>
            <a:ext cx="5856371" cy="2950000"/>
          </a:xfrm>
          <a:prstGeom prst="rect">
            <a:avLst/>
          </a:prstGeom>
          <a:solidFill>
            <a:srgbClr val="09121F"/>
          </a:solidFill>
          <a:ln>
            <a:solidFill>
              <a:srgbClr val="314963"/>
            </a:solidFill>
          </a:ln>
        </p:spPr>
        <p:txBody>
          <a:bodyPr wrap="none" lIns="152400" tIns="101600" rIns="152400" bIns="101600">
            <a:spAutoFit/>
          </a:bodyPr>
          <a:lstStyle/>
          <a:p>
            <a:pPr algn="l"/>
            <a:r>
              <a:rPr sz="1050" dirty="0">
                <a:solidFill>
                  <a:srgbClr val="F5F7FA"/>
                </a:solidFill>
                <a:latin typeface="Consolas"/>
              </a:rPr>
              <a:t># 1. Create the namespace and </a:t>
            </a:r>
            <a:r>
              <a:rPr sz="1050" dirty="0" err="1">
                <a:solidFill>
                  <a:srgbClr val="F5F7FA"/>
                </a:solidFill>
                <a:latin typeface="Consolas"/>
              </a:rPr>
              <a:t>ServiceAccount</a:t>
            </a:r>
            <a:br>
              <a:rPr dirty="0"/>
            </a:br>
            <a:r>
              <a:rPr sz="1050" dirty="0" err="1">
                <a:solidFill>
                  <a:srgbClr val="F5F7FA"/>
                </a:solidFill>
                <a:latin typeface="Consolas"/>
              </a:rPr>
              <a:t>kubectl</a:t>
            </a:r>
            <a:r>
              <a:rPr sz="1050" dirty="0">
                <a:solidFill>
                  <a:srgbClr val="F5F7FA"/>
                </a:solidFill>
                <a:latin typeface="Consolas"/>
              </a:rPr>
              <a:t> create namespace finance</a:t>
            </a:r>
            <a:br>
              <a:rPr dirty="0"/>
            </a:br>
            <a:r>
              <a:rPr sz="1050" dirty="0" err="1">
                <a:solidFill>
                  <a:srgbClr val="F5F7FA"/>
                </a:solidFill>
                <a:latin typeface="Consolas"/>
              </a:rPr>
              <a:t>kubectl</a:t>
            </a:r>
            <a:r>
              <a:rPr sz="1050" dirty="0">
                <a:solidFill>
                  <a:srgbClr val="F5F7FA"/>
                </a:solidFill>
                <a:latin typeface="Consolas"/>
              </a:rPr>
              <a:t> create </a:t>
            </a:r>
            <a:r>
              <a:rPr sz="1050" dirty="0" err="1">
                <a:solidFill>
                  <a:srgbClr val="F5F7FA"/>
                </a:solidFill>
                <a:latin typeface="Consolas"/>
              </a:rPr>
              <a:t>serviceaccount</a:t>
            </a:r>
            <a:r>
              <a:rPr sz="1050" dirty="0">
                <a:solidFill>
                  <a:srgbClr val="F5F7FA"/>
                </a:solidFill>
                <a:latin typeface="Consolas"/>
              </a:rPr>
              <a:t> test-user -n finance</a:t>
            </a:r>
            <a:br>
              <a:rPr dirty="0"/>
            </a:br>
            <a:br>
              <a:rPr dirty="0"/>
            </a:br>
            <a:r>
              <a:rPr sz="1050" dirty="0">
                <a:solidFill>
                  <a:srgbClr val="F5F7FA"/>
                </a:solidFill>
                <a:latin typeface="Consolas"/>
              </a:rPr>
              <a:t># 2. Create </a:t>
            </a:r>
            <a:r>
              <a:rPr sz="1050" dirty="0" err="1">
                <a:solidFill>
                  <a:srgbClr val="F5F7FA"/>
                </a:solidFill>
                <a:latin typeface="Consolas"/>
              </a:rPr>
              <a:t>role.yaml</a:t>
            </a:r>
            <a:br>
              <a:rPr dirty="0"/>
            </a:br>
            <a:r>
              <a:rPr sz="1050" dirty="0" err="1">
                <a:solidFill>
                  <a:srgbClr val="F5F7FA"/>
                </a:solidFill>
                <a:latin typeface="Consolas"/>
              </a:rPr>
              <a:t>apiVersion</a:t>
            </a:r>
            <a:r>
              <a:rPr sz="1050" dirty="0">
                <a:solidFill>
                  <a:srgbClr val="F5F7FA"/>
                </a:solidFill>
                <a:latin typeface="Consolas"/>
              </a:rPr>
              <a:t>: rbac.authorization.k8s.io/v1</a:t>
            </a:r>
            <a:br>
              <a:rPr dirty="0"/>
            </a:br>
            <a:r>
              <a:rPr sz="1050" dirty="0">
                <a:solidFill>
                  <a:srgbClr val="F5F7FA"/>
                </a:solidFill>
                <a:latin typeface="Consolas"/>
              </a:rPr>
              <a:t>kind: Role</a:t>
            </a:r>
            <a:br>
              <a:rPr dirty="0"/>
            </a:br>
            <a:r>
              <a:rPr sz="1050" dirty="0">
                <a:solidFill>
                  <a:srgbClr val="F5F7FA"/>
                </a:solidFill>
                <a:latin typeface="Consolas"/>
              </a:rPr>
              <a:t>metadata:</a:t>
            </a:r>
            <a:br>
              <a:rPr dirty="0"/>
            </a:br>
            <a:r>
              <a:rPr sz="1050" dirty="0">
                <a:solidFill>
                  <a:srgbClr val="F5F7FA"/>
                </a:solidFill>
                <a:latin typeface="Consolas"/>
              </a:rPr>
              <a:t>  namespace: finance</a:t>
            </a:r>
            <a:br>
              <a:rPr dirty="0"/>
            </a:br>
            <a:r>
              <a:rPr sz="1050" dirty="0">
                <a:solidFill>
                  <a:srgbClr val="F5F7FA"/>
                </a:solidFill>
                <a:latin typeface="Consolas"/>
              </a:rPr>
              <a:t>  name: pod-reader</a:t>
            </a:r>
            <a:br>
              <a:rPr dirty="0"/>
            </a:br>
            <a:r>
              <a:rPr sz="1050" dirty="0">
                <a:solidFill>
                  <a:srgbClr val="F5F7FA"/>
                </a:solidFill>
                <a:latin typeface="Consolas"/>
              </a:rPr>
              <a:t>rules:</a:t>
            </a:r>
            <a:br>
              <a:rPr dirty="0"/>
            </a:br>
            <a:r>
              <a:rPr sz="1050" dirty="0">
                <a:solidFill>
                  <a:srgbClr val="F5F7FA"/>
                </a:solidFill>
                <a:latin typeface="Consolas"/>
              </a:rPr>
              <a:t>- </a:t>
            </a:r>
            <a:r>
              <a:rPr sz="1050" dirty="0" err="1">
                <a:solidFill>
                  <a:srgbClr val="F5F7FA"/>
                </a:solidFill>
                <a:latin typeface="Consolas"/>
              </a:rPr>
              <a:t>apiGroups</a:t>
            </a:r>
            <a:r>
              <a:rPr sz="1050" dirty="0">
                <a:solidFill>
                  <a:srgbClr val="F5F7FA"/>
                </a:solidFill>
                <a:latin typeface="Consolas"/>
              </a:rPr>
              <a:t>: [""]</a:t>
            </a:r>
            <a:br>
              <a:rPr dirty="0"/>
            </a:br>
            <a:r>
              <a:rPr sz="1050" dirty="0">
                <a:solidFill>
                  <a:srgbClr val="F5F7FA"/>
                </a:solidFill>
                <a:latin typeface="Consolas"/>
              </a:rPr>
              <a:t>  resources: ["pods"]</a:t>
            </a:r>
            <a:br>
              <a:rPr dirty="0"/>
            </a:br>
            <a:r>
              <a:rPr sz="1050" dirty="0">
                <a:solidFill>
                  <a:srgbClr val="F5F7FA"/>
                </a:solidFill>
                <a:latin typeface="Consolas"/>
              </a:rPr>
              <a:t>  verbs: ["get", "list", "watch"]</a:t>
            </a:r>
            <a:br>
              <a:rPr dirty="0"/>
            </a:br>
            <a:br>
              <a:rPr dirty="0"/>
            </a:br>
            <a:r>
              <a:rPr sz="1050" dirty="0" err="1">
                <a:solidFill>
                  <a:srgbClr val="F5F7FA"/>
                </a:solidFill>
                <a:latin typeface="Consolas"/>
              </a:rPr>
              <a:t>kubectl</a:t>
            </a:r>
            <a:r>
              <a:rPr sz="1050" dirty="0">
                <a:solidFill>
                  <a:srgbClr val="F5F7FA"/>
                </a:solidFill>
                <a:latin typeface="Consolas"/>
              </a:rPr>
              <a:t> apply -f </a:t>
            </a:r>
            <a:r>
              <a:rPr sz="1050" dirty="0" err="1">
                <a:solidFill>
                  <a:srgbClr val="F5F7FA"/>
                </a:solidFill>
                <a:latin typeface="Consolas"/>
              </a:rPr>
              <a:t>role.yaml</a:t>
            </a:r>
            <a:endParaRPr sz="1300" dirty="0">
              <a:solidFill>
                <a:srgbClr val="F5F7FA"/>
              </a:solidFill>
              <a:latin typeface="Consolas"/>
            </a:endParaRPr>
          </a:p>
        </p:txBody>
      </p:sp>
      <p:sp>
        <p:nvSpPr>
          <p:cNvPr id="12" name="Rounded Rectangle 11"/>
          <p:cNvSpPr/>
          <p:nvPr/>
        </p:nvSpPr>
        <p:spPr>
          <a:xfrm>
            <a:off x="7463324" y="1885950"/>
            <a:ext cx="3900000"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51E0FF"/>
                </a:solidFill>
                <a:latin typeface="Space Grotesk"/>
              </a:rPr>
              <a:t>Expected learning</a:t>
            </a:r>
          </a:p>
          <a:p>
            <a:pPr algn="l">
              <a:spcAft>
                <a:spcPts val="400"/>
              </a:spcAft>
            </a:pPr>
            <a:r>
              <a:rPr sz="1450">
                <a:solidFill>
                  <a:srgbClr val="D7DEE8"/>
                </a:solidFill>
                <a:latin typeface="Plus Jakarta Sans"/>
              </a:rPr>
              <a:t>A ServiceAccount provides the identity.</a:t>
            </a:r>
          </a:p>
          <a:p>
            <a:pPr algn="l">
              <a:spcAft>
                <a:spcPts val="400"/>
              </a:spcAft>
            </a:pPr>
            <a:r>
              <a:rPr sz="1450">
                <a:solidFill>
                  <a:srgbClr val="D7DEE8"/>
                </a:solidFill>
                <a:latin typeface="Plus Jakarta Sans"/>
              </a:rPr>
              <a:t>The Role defines permissions only.</a:t>
            </a:r>
          </a:p>
          <a:p>
            <a:pPr algn="l">
              <a:spcAft>
                <a:spcPts val="400"/>
              </a:spcAft>
            </a:pPr>
            <a:r>
              <a:rPr sz="1450">
                <a:solidFill>
                  <a:srgbClr val="D7DEE8"/>
                </a:solidFill>
                <a:latin typeface="Plus Jakarta Sans"/>
              </a:rPr>
              <a:t>Nothing has been granted yet —</a:t>
            </a:r>
          </a:p>
          <a:p>
            <a:pPr algn="l">
              <a:spcAft>
                <a:spcPts val="400"/>
              </a:spcAft>
            </a:pPr>
            <a:r>
              <a:rPr sz="1450">
                <a:solidFill>
                  <a:srgbClr val="D7DEE8"/>
                </a:solidFill>
                <a:latin typeface="Plus Jakarta Sans"/>
              </a:rPr>
              <a:t>there is no binding.</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Before Part 2, </a:t>
            </a:r>
            <a:r>
              <a:rPr lang="en-US" sz="1250" b="0" dirty="0">
                <a:solidFill>
                  <a:srgbClr val="99A6B7"/>
                </a:solidFill>
                <a:latin typeface="Plus Jakarta Sans"/>
              </a:rPr>
              <a:t>think </a:t>
            </a:r>
            <a:r>
              <a:rPr sz="1250" b="0" dirty="0">
                <a:solidFill>
                  <a:srgbClr val="99A6B7"/>
                </a:solidFill>
                <a:latin typeface="Plus Jakarta Sans"/>
              </a:rPr>
              <a:t>“Can test-user read Pods yet?”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RBAC Part 2</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Bind the Role to the </a:t>
            </a:r>
            <a:r>
              <a:rPr sz="1600" b="0" dirty="0" err="1">
                <a:solidFill>
                  <a:srgbClr val="51E0FF"/>
                </a:solidFill>
                <a:latin typeface="Plus Jakarta Sans"/>
              </a:rPr>
              <a:t>ServiceAccount</a:t>
            </a:r>
            <a:endParaRPr sz="1600" b="0" dirty="0">
              <a:solidFill>
                <a:srgbClr val="51E0FF"/>
              </a:solidFill>
              <a:latin typeface="Plus Jakarta Sans"/>
            </a:endParaRPr>
          </a:p>
        </p:txBody>
      </p:sp>
      <p:sp>
        <p:nvSpPr>
          <p:cNvPr id="11" name="TextBox 10"/>
          <p:cNvSpPr txBox="1"/>
          <p:nvPr/>
        </p:nvSpPr>
        <p:spPr>
          <a:xfrm>
            <a:off x="628649" y="1900000"/>
            <a:ext cx="5856371" cy="2805896"/>
          </a:xfrm>
          <a:prstGeom prst="rect">
            <a:avLst/>
          </a:prstGeom>
          <a:solidFill>
            <a:srgbClr val="09121F"/>
          </a:solidFill>
          <a:ln>
            <a:solidFill>
              <a:srgbClr val="314963"/>
            </a:solidFill>
          </a:ln>
        </p:spPr>
        <p:txBody>
          <a:bodyPr wrap="none" lIns="152400" tIns="101600" rIns="152400" bIns="101600">
            <a:spAutoFit/>
          </a:bodyPr>
          <a:lstStyle/>
          <a:p>
            <a:pPr algn="l"/>
            <a:r>
              <a:rPr sz="1050" dirty="0">
                <a:solidFill>
                  <a:srgbClr val="F5F7FA"/>
                </a:solidFill>
                <a:latin typeface="Consolas"/>
              </a:rPr>
              <a:t># </a:t>
            </a:r>
            <a:r>
              <a:rPr sz="1050" dirty="0" err="1">
                <a:solidFill>
                  <a:srgbClr val="F5F7FA"/>
                </a:solidFill>
                <a:latin typeface="Consolas"/>
              </a:rPr>
              <a:t>rolebinding.yaml</a:t>
            </a:r>
            <a:br>
              <a:rPr dirty="0"/>
            </a:br>
            <a:r>
              <a:rPr sz="1050" dirty="0" err="1">
                <a:solidFill>
                  <a:srgbClr val="F5F7FA"/>
                </a:solidFill>
                <a:latin typeface="Consolas"/>
              </a:rPr>
              <a:t>apiVersion</a:t>
            </a:r>
            <a:r>
              <a:rPr sz="1050" dirty="0">
                <a:solidFill>
                  <a:srgbClr val="F5F7FA"/>
                </a:solidFill>
                <a:latin typeface="Consolas"/>
              </a:rPr>
              <a:t>: rbac.authorization.k8s.io/v1</a:t>
            </a:r>
            <a:br>
              <a:rPr dirty="0"/>
            </a:br>
            <a:r>
              <a:rPr sz="1050" dirty="0">
                <a:solidFill>
                  <a:srgbClr val="F5F7FA"/>
                </a:solidFill>
                <a:latin typeface="Consolas"/>
              </a:rPr>
              <a:t>kind: </a:t>
            </a:r>
            <a:r>
              <a:rPr sz="1050" dirty="0" err="1">
                <a:solidFill>
                  <a:srgbClr val="F5F7FA"/>
                </a:solidFill>
                <a:latin typeface="Consolas"/>
              </a:rPr>
              <a:t>RoleBinding</a:t>
            </a:r>
            <a:br>
              <a:rPr dirty="0"/>
            </a:br>
            <a:r>
              <a:rPr sz="1050" dirty="0">
                <a:solidFill>
                  <a:srgbClr val="F5F7FA"/>
                </a:solidFill>
                <a:latin typeface="Consolas"/>
              </a:rPr>
              <a:t>metadata:</a:t>
            </a:r>
            <a:br>
              <a:rPr dirty="0"/>
            </a:br>
            <a:r>
              <a:rPr sz="1050" dirty="0">
                <a:solidFill>
                  <a:srgbClr val="F5F7FA"/>
                </a:solidFill>
                <a:latin typeface="Consolas"/>
              </a:rPr>
              <a:t>  name: test-user-binding</a:t>
            </a:r>
            <a:br>
              <a:rPr dirty="0"/>
            </a:br>
            <a:r>
              <a:rPr sz="1050" dirty="0">
                <a:solidFill>
                  <a:srgbClr val="F5F7FA"/>
                </a:solidFill>
                <a:latin typeface="Consolas"/>
              </a:rPr>
              <a:t>  namespace: finance</a:t>
            </a:r>
            <a:br>
              <a:rPr dirty="0"/>
            </a:br>
            <a:r>
              <a:rPr sz="1050" dirty="0">
                <a:solidFill>
                  <a:srgbClr val="F5F7FA"/>
                </a:solidFill>
                <a:latin typeface="Consolas"/>
              </a:rPr>
              <a:t>subjects:</a:t>
            </a:r>
            <a:br>
              <a:rPr dirty="0"/>
            </a:br>
            <a:r>
              <a:rPr sz="1050" dirty="0">
                <a:solidFill>
                  <a:srgbClr val="F5F7FA"/>
                </a:solidFill>
                <a:latin typeface="Consolas"/>
              </a:rPr>
              <a:t>- kind: </a:t>
            </a:r>
            <a:r>
              <a:rPr sz="1050" dirty="0" err="1">
                <a:solidFill>
                  <a:srgbClr val="F5F7FA"/>
                </a:solidFill>
                <a:latin typeface="Consolas"/>
              </a:rPr>
              <a:t>ServiceAccount</a:t>
            </a:r>
            <a:br>
              <a:rPr dirty="0"/>
            </a:br>
            <a:r>
              <a:rPr sz="1050" dirty="0">
                <a:solidFill>
                  <a:srgbClr val="F5F7FA"/>
                </a:solidFill>
                <a:latin typeface="Consolas"/>
              </a:rPr>
              <a:t>  name: test-user</a:t>
            </a:r>
            <a:br>
              <a:rPr dirty="0"/>
            </a:br>
            <a:r>
              <a:rPr sz="1050" dirty="0">
                <a:solidFill>
                  <a:srgbClr val="F5F7FA"/>
                </a:solidFill>
                <a:latin typeface="Consolas"/>
              </a:rPr>
              <a:t>  namespace: finance</a:t>
            </a:r>
            <a:br>
              <a:rPr dirty="0"/>
            </a:br>
            <a:r>
              <a:rPr sz="1050" dirty="0" err="1">
                <a:solidFill>
                  <a:srgbClr val="F5F7FA"/>
                </a:solidFill>
                <a:latin typeface="Consolas"/>
              </a:rPr>
              <a:t>roleRef</a:t>
            </a:r>
            <a:r>
              <a:rPr sz="1050" dirty="0">
                <a:solidFill>
                  <a:srgbClr val="F5F7FA"/>
                </a:solidFill>
                <a:latin typeface="Consolas"/>
              </a:rPr>
              <a:t>:</a:t>
            </a:r>
            <a:br>
              <a:rPr dirty="0"/>
            </a:br>
            <a:r>
              <a:rPr sz="1050" dirty="0">
                <a:solidFill>
                  <a:srgbClr val="F5F7FA"/>
                </a:solidFill>
                <a:latin typeface="Consolas"/>
              </a:rPr>
              <a:t>  kind: Role</a:t>
            </a:r>
            <a:br>
              <a:rPr dirty="0"/>
            </a:br>
            <a:r>
              <a:rPr sz="1050" dirty="0">
                <a:solidFill>
                  <a:srgbClr val="F5F7FA"/>
                </a:solidFill>
                <a:latin typeface="Consolas"/>
              </a:rPr>
              <a:t>  name: pod-reader</a:t>
            </a:r>
            <a:br>
              <a:rPr dirty="0"/>
            </a:br>
            <a:r>
              <a:rPr sz="1050" dirty="0">
                <a:solidFill>
                  <a:srgbClr val="F5F7FA"/>
                </a:solidFill>
                <a:latin typeface="Consolas"/>
              </a:rPr>
              <a:t>  </a:t>
            </a:r>
            <a:r>
              <a:rPr sz="1050" dirty="0" err="1">
                <a:solidFill>
                  <a:srgbClr val="F5F7FA"/>
                </a:solidFill>
                <a:latin typeface="Consolas"/>
              </a:rPr>
              <a:t>apiGroup</a:t>
            </a:r>
            <a:r>
              <a:rPr sz="1050" dirty="0">
                <a:solidFill>
                  <a:srgbClr val="F5F7FA"/>
                </a:solidFill>
                <a:latin typeface="Consolas"/>
              </a:rPr>
              <a:t>: rbac.authorization.k8s.io</a:t>
            </a:r>
            <a:br>
              <a:rPr dirty="0"/>
            </a:br>
            <a:br>
              <a:rPr dirty="0"/>
            </a:br>
            <a:r>
              <a:rPr sz="1050" dirty="0" err="1">
                <a:solidFill>
                  <a:srgbClr val="F5F7FA"/>
                </a:solidFill>
                <a:latin typeface="Consolas"/>
              </a:rPr>
              <a:t>kubectl</a:t>
            </a:r>
            <a:r>
              <a:rPr sz="1050" dirty="0">
                <a:solidFill>
                  <a:srgbClr val="F5F7FA"/>
                </a:solidFill>
                <a:latin typeface="Consolas"/>
              </a:rPr>
              <a:t> apply -f </a:t>
            </a:r>
            <a:r>
              <a:rPr sz="1050" dirty="0" err="1">
                <a:solidFill>
                  <a:srgbClr val="F5F7FA"/>
                </a:solidFill>
                <a:latin typeface="Consolas"/>
              </a:rPr>
              <a:t>rolebinding.yaml</a:t>
            </a:r>
            <a:endParaRPr sz="1300" dirty="0">
              <a:solidFill>
                <a:srgbClr val="F5F7FA"/>
              </a:solidFill>
              <a:latin typeface="Consolas"/>
            </a:endParaRPr>
          </a:p>
        </p:txBody>
      </p:sp>
      <p:sp>
        <p:nvSpPr>
          <p:cNvPr id="12" name="Rounded Rectangle 11"/>
          <p:cNvSpPr/>
          <p:nvPr/>
        </p:nvSpPr>
        <p:spPr>
          <a:xfrm>
            <a:off x="7463324" y="1885950"/>
            <a:ext cx="3900000"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70EBB1"/>
                </a:solidFill>
                <a:latin typeface="Space Grotesk"/>
              </a:rPr>
              <a:t>Now the sentence is complete</a:t>
            </a:r>
          </a:p>
          <a:p>
            <a:pPr algn="l">
              <a:spcAft>
                <a:spcPts val="400"/>
              </a:spcAft>
            </a:pPr>
            <a:r>
              <a:rPr sz="1450">
                <a:solidFill>
                  <a:srgbClr val="D7DEE8"/>
                </a:solidFill>
                <a:latin typeface="Plus Jakarta Sans"/>
              </a:rPr>
              <a:t>Subject: finance:test-user</a:t>
            </a:r>
          </a:p>
          <a:p>
            <a:pPr algn="l">
              <a:spcAft>
                <a:spcPts val="400"/>
              </a:spcAft>
            </a:pPr>
            <a:r>
              <a:rPr sz="1450">
                <a:solidFill>
                  <a:srgbClr val="D7DEE8"/>
                </a:solidFill>
                <a:latin typeface="Plus Jakarta Sans"/>
              </a:rPr>
              <a:t>Binding: test-user-binding</a:t>
            </a:r>
          </a:p>
          <a:p>
            <a:pPr algn="l">
              <a:spcAft>
                <a:spcPts val="400"/>
              </a:spcAft>
            </a:pPr>
            <a:r>
              <a:rPr sz="1450">
                <a:solidFill>
                  <a:srgbClr val="D7DEE8"/>
                </a:solidFill>
                <a:latin typeface="Plus Jakarta Sans"/>
              </a:rPr>
              <a:t>Permissions: pod-reader</a:t>
            </a:r>
          </a:p>
          <a:p>
            <a:pPr algn="l">
              <a:spcAft>
                <a:spcPts val="400"/>
              </a:spcAft>
            </a:pPr>
            <a:r>
              <a:rPr sz="1450">
                <a:solidFill>
                  <a:srgbClr val="D7DEE8"/>
                </a:solidFill>
                <a:latin typeface="Plus Jakarta Sans"/>
              </a:rPr>
              <a:t>Scope: finance namespace</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lang="en-US" sz="1250" b="0" dirty="0">
                <a:solidFill>
                  <a:srgbClr val="99A6B7"/>
                </a:solidFill>
                <a:latin typeface="Plus Jakarta Sans"/>
              </a:rPr>
              <a:t>The </a:t>
            </a:r>
            <a:r>
              <a:rPr sz="1250" b="0" dirty="0" err="1">
                <a:solidFill>
                  <a:srgbClr val="99A6B7"/>
                </a:solidFill>
                <a:latin typeface="Plus Jakarta Sans"/>
              </a:rPr>
              <a:t>RoleBinding</a:t>
            </a:r>
            <a:r>
              <a:rPr sz="1250" b="0" dirty="0">
                <a:solidFill>
                  <a:srgbClr val="99A6B7"/>
                </a:solidFill>
                <a:latin typeface="Plus Jakarta Sans"/>
              </a:rPr>
              <a:t> namespace determines the namespace where the grant applies. roleRef must match the Role name exactly.</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Hands-on lab — RBAC Part 3</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dirty="0">
                <a:solidFill>
                  <a:srgbClr val="51E0FF"/>
                </a:solidFill>
                <a:latin typeface="Plus Jakarta Sans"/>
              </a:rPr>
              <a:t>Prove what is allowed — and what is denied</a:t>
            </a:r>
          </a:p>
        </p:txBody>
      </p:sp>
      <p:sp>
        <p:nvSpPr>
          <p:cNvPr id="11" name="TextBox 10"/>
          <p:cNvSpPr txBox="1"/>
          <p:nvPr/>
        </p:nvSpPr>
        <p:spPr>
          <a:xfrm>
            <a:off x="628649" y="1900000"/>
            <a:ext cx="5856371" cy="2805896"/>
          </a:xfrm>
          <a:prstGeom prst="rect">
            <a:avLst/>
          </a:prstGeom>
          <a:solidFill>
            <a:srgbClr val="09121F"/>
          </a:solidFill>
          <a:ln>
            <a:solidFill>
              <a:srgbClr val="314963"/>
            </a:solidFill>
          </a:ln>
        </p:spPr>
        <p:txBody>
          <a:bodyPr wrap="none" lIns="152400" tIns="101600" rIns="152400" bIns="101600">
            <a:spAutoFit/>
          </a:bodyPr>
          <a:lstStyle/>
          <a:p>
            <a:pPr algn="l"/>
            <a:r>
              <a:rPr sz="1100" dirty="0">
                <a:solidFill>
                  <a:srgbClr val="F5F7FA"/>
                </a:solidFill>
                <a:latin typeface="Consolas"/>
              </a:rPr>
              <a:t>SA=</a:t>
            </a:r>
            <a:r>
              <a:rPr sz="1100" dirty="0" err="1">
                <a:solidFill>
                  <a:srgbClr val="F5F7FA"/>
                </a:solidFill>
                <a:latin typeface="Consolas"/>
              </a:rPr>
              <a:t>system:serviceaccount:finance:test-user</a:t>
            </a:r>
            <a:br>
              <a:rPr dirty="0"/>
            </a:br>
            <a:br>
              <a:rPr dirty="0"/>
            </a:br>
            <a:r>
              <a:rPr sz="1100" dirty="0">
                <a:solidFill>
                  <a:srgbClr val="F5F7FA"/>
                </a:solidFill>
                <a:latin typeface="Consolas"/>
              </a:rPr>
              <a:t># Allowed by pod-reader</a:t>
            </a:r>
            <a:br>
              <a:rPr dirty="0"/>
            </a:br>
            <a:r>
              <a:rPr sz="1100" dirty="0" err="1">
                <a:solidFill>
                  <a:srgbClr val="F5F7FA"/>
                </a:solidFill>
                <a:latin typeface="Consolas"/>
              </a:rPr>
              <a:t>kubectl</a:t>
            </a:r>
            <a:r>
              <a:rPr sz="1100" dirty="0">
                <a:solidFill>
                  <a:srgbClr val="F5F7FA"/>
                </a:solidFill>
                <a:latin typeface="Consolas"/>
              </a:rPr>
              <a:t> auth can-i get pods --as=$SA -n finance</a:t>
            </a:r>
            <a:br>
              <a:rPr dirty="0"/>
            </a:br>
            <a:r>
              <a:rPr sz="1100" dirty="0" err="1">
                <a:solidFill>
                  <a:srgbClr val="F5F7FA"/>
                </a:solidFill>
                <a:latin typeface="Consolas"/>
              </a:rPr>
              <a:t>kubectl</a:t>
            </a:r>
            <a:r>
              <a:rPr sz="1100" dirty="0">
                <a:solidFill>
                  <a:srgbClr val="F5F7FA"/>
                </a:solidFill>
                <a:latin typeface="Consolas"/>
              </a:rPr>
              <a:t> auth can-i list pods --as=$SA -n finance</a:t>
            </a:r>
            <a:br>
              <a:rPr dirty="0"/>
            </a:br>
            <a:br>
              <a:rPr dirty="0"/>
            </a:br>
            <a:r>
              <a:rPr sz="1100" dirty="0">
                <a:solidFill>
                  <a:srgbClr val="F5F7FA"/>
                </a:solidFill>
                <a:latin typeface="Consolas"/>
              </a:rPr>
              <a:t># Not granted</a:t>
            </a:r>
            <a:br>
              <a:rPr dirty="0"/>
            </a:br>
            <a:r>
              <a:rPr sz="1100" dirty="0" err="1">
                <a:solidFill>
                  <a:srgbClr val="F5F7FA"/>
                </a:solidFill>
                <a:latin typeface="Consolas"/>
              </a:rPr>
              <a:t>kubectl</a:t>
            </a:r>
            <a:r>
              <a:rPr sz="1100" dirty="0">
                <a:solidFill>
                  <a:srgbClr val="F5F7FA"/>
                </a:solidFill>
                <a:latin typeface="Consolas"/>
              </a:rPr>
              <a:t> auth can-i delete pods --as=$SA -n finance</a:t>
            </a:r>
            <a:br>
              <a:rPr dirty="0"/>
            </a:br>
            <a:r>
              <a:rPr sz="1100" dirty="0" err="1">
                <a:solidFill>
                  <a:srgbClr val="F5F7FA"/>
                </a:solidFill>
                <a:latin typeface="Consolas"/>
              </a:rPr>
              <a:t>kubectl</a:t>
            </a:r>
            <a:r>
              <a:rPr sz="1100" dirty="0">
                <a:solidFill>
                  <a:srgbClr val="F5F7FA"/>
                </a:solidFill>
                <a:latin typeface="Consolas"/>
              </a:rPr>
              <a:t> auth can-i get secrets --as=$SA -n finance</a:t>
            </a:r>
            <a:br>
              <a:rPr dirty="0"/>
            </a:br>
            <a:r>
              <a:rPr sz="1100" dirty="0" err="1">
                <a:solidFill>
                  <a:srgbClr val="F5F7FA"/>
                </a:solidFill>
                <a:latin typeface="Consolas"/>
              </a:rPr>
              <a:t>kubectl</a:t>
            </a:r>
            <a:r>
              <a:rPr sz="1100" dirty="0">
                <a:solidFill>
                  <a:srgbClr val="F5F7FA"/>
                </a:solidFill>
                <a:latin typeface="Consolas"/>
              </a:rPr>
              <a:t> auth can-i get pods --as=$SA -n default</a:t>
            </a:r>
            <a:br>
              <a:rPr dirty="0"/>
            </a:br>
            <a:br>
              <a:rPr dirty="0"/>
            </a:br>
            <a:r>
              <a:rPr sz="1100" dirty="0">
                <a:solidFill>
                  <a:srgbClr val="F5F7FA"/>
                </a:solidFill>
                <a:latin typeface="Consolas"/>
              </a:rPr>
              <a:t># Inspect everything the identity can do</a:t>
            </a:r>
            <a:br>
              <a:rPr dirty="0"/>
            </a:br>
            <a:r>
              <a:rPr sz="1100" dirty="0" err="1">
                <a:solidFill>
                  <a:srgbClr val="F5F7FA"/>
                </a:solidFill>
                <a:latin typeface="Consolas"/>
              </a:rPr>
              <a:t>kubectl</a:t>
            </a:r>
            <a:r>
              <a:rPr sz="1100" dirty="0">
                <a:solidFill>
                  <a:srgbClr val="F5F7FA"/>
                </a:solidFill>
                <a:latin typeface="Consolas"/>
              </a:rPr>
              <a:t> auth can-i --list --as=$SA -n finance</a:t>
            </a:r>
            <a:endParaRPr sz="1300" dirty="0">
              <a:solidFill>
                <a:srgbClr val="F5F7FA"/>
              </a:solidFill>
              <a:latin typeface="Consolas"/>
            </a:endParaRPr>
          </a:p>
        </p:txBody>
      </p:sp>
      <p:sp>
        <p:nvSpPr>
          <p:cNvPr id="12" name="Rounded Rectangle 11"/>
          <p:cNvSpPr/>
          <p:nvPr/>
        </p:nvSpPr>
        <p:spPr>
          <a:xfrm>
            <a:off x="7463324" y="1885950"/>
            <a:ext cx="3900000" cy="27000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800" b="1">
                <a:solidFill>
                  <a:srgbClr val="FF7882"/>
                </a:solidFill>
                <a:latin typeface="Space Grotesk"/>
              </a:rPr>
              <a:t>Challenge</a:t>
            </a:r>
          </a:p>
          <a:p>
            <a:pPr algn="l">
              <a:spcAft>
                <a:spcPts val="400"/>
              </a:spcAft>
            </a:pPr>
            <a:r>
              <a:rPr sz="1350">
                <a:solidFill>
                  <a:srgbClr val="D7DEE8"/>
                </a:solidFill>
                <a:latin typeface="Plus Jakarta Sans"/>
              </a:rPr>
              <a:t>Why are the first two “yes”?</a:t>
            </a:r>
          </a:p>
          <a:p>
            <a:pPr algn="l">
              <a:spcAft>
                <a:spcPts val="400"/>
              </a:spcAft>
            </a:pPr>
            <a:r>
              <a:rPr sz="1350">
                <a:solidFill>
                  <a:srgbClr val="D7DEE8"/>
                </a:solidFill>
                <a:latin typeface="Plus Jakarta Sans"/>
              </a:rPr>
              <a:t>Why should delete / secrets be “no”?</a:t>
            </a:r>
          </a:p>
          <a:p>
            <a:pPr algn="l">
              <a:spcAft>
                <a:spcPts val="400"/>
              </a:spcAft>
            </a:pPr>
            <a:r>
              <a:rPr sz="1350">
                <a:solidFill>
                  <a:srgbClr val="D7DEE8"/>
                </a:solidFill>
                <a:latin typeface="Plus Jakarta Sans"/>
              </a:rPr>
              <a:t>Why does the same Pod read fail</a:t>
            </a:r>
          </a:p>
          <a:p>
            <a:pPr algn="l">
              <a:spcAft>
                <a:spcPts val="400"/>
              </a:spcAft>
            </a:pPr>
            <a:r>
              <a:rPr sz="1350">
                <a:solidFill>
                  <a:srgbClr val="D7DEE8"/>
                </a:solidFill>
                <a:latin typeface="Plus Jakarta Sans"/>
              </a:rPr>
              <a:t>in another namespace?</a:t>
            </a:r>
          </a:p>
          <a:p>
            <a:pPr algn="l">
              <a:spcAft>
                <a:spcPts val="400"/>
              </a:spcAft>
            </a:pPr>
            <a:endParaRPr sz="1350">
              <a:solidFill>
                <a:srgbClr val="D7DEE8"/>
              </a:solidFill>
              <a:latin typeface="Plus Jakarta Sans"/>
            </a:endParaRPr>
          </a:p>
          <a:p>
            <a:pPr algn="l">
              <a:spcAft>
                <a:spcPts val="400"/>
              </a:spcAft>
            </a:pPr>
            <a:r>
              <a:rPr sz="1350">
                <a:solidFill>
                  <a:srgbClr val="D7DEE8"/>
                </a:solidFill>
                <a:latin typeface="Plus Jakarta Sans"/>
              </a:rPr>
              <a:t>Optional: add Deployment read access</a:t>
            </a:r>
          </a:p>
          <a:p>
            <a:pPr algn="l">
              <a:spcAft>
                <a:spcPts val="400"/>
              </a:spcAft>
            </a:pPr>
            <a:r>
              <a:rPr sz="1350">
                <a:solidFill>
                  <a:srgbClr val="D7DEE8"/>
                </a:solidFill>
                <a:latin typeface="Plus Jakarta Sans"/>
              </a:rPr>
              <a:t>using apiGroups: ["apps"].</a:t>
            </a:r>
          </a:p>
        </p:txBody>
      </p:sp>
      <p:sp>
        <p:nvSpPr>
          <p:cNvPr id="13" name="TextBox 12"/>
          <p:cNvSpPr txBox="1"/>
          <p:nvPr/>
        </p:nvSpPr>
        <p:spPr>
          <a:xfrm>
            <a:off x="1025872" y="5425000"/>
            <a:ext cx="10050000" cy="192360"/>
          </a:xfrm>
          <a:prstGeom prst="rect">
            <a:avLst/>
          </a:prstGeom>
          <a:noFill/>
        </p:spPr>
        <p:txBody>
          <a:bodyPr wrap="square" lIns="27432" tIns="0" rIns="27432" bIns="0">
            <a:spAutoFit/>
          </a:bodyPr>
          <a:lstStyle/>
          <a:p>
            <a:pPr algn="l"/>
            <a:r>
              <a:rPr sz="1250" b="0" dirty="0">
                <a:solidFill>
                  <a:srgbClr val="99A6B7"/>
                </a:solidFill>
                <a:latin typeface="Plus Jakarta Sans"/>
              </a:rPr>
              <a:t>This is the key learning moment: validate both positive and negative cases.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Template Background Backing"/>
          <p:cNvSpPr/>
          <p:nvPr/>
        </p:nvSpPr>
        <p:spPr>
          <a:xfrm>
            <a:off x="0" y="0"/>
            <a:ext cx="12192000" cy="6858000"/>
          </a:xfrm>
          <a:prstGeom prst="rect">
            <a:avLst/>
          </a:prstGeom>
          <a:solidFill>
            <a:srgbClr val="0B0F19"/>
          </a:solidFill>
          <a:ln>
            <a:noFill/>
          </a:ln>
        </p:spPr>
        <p:txBody>
          <a:bodyPr/>
          <a:lstStyle/>
          <a:p>
            <a:endParaRPr lang="en-US"/>
          </a:p>
        </p:txBody>
      </p:sp>
      <p:pic>
        <p:nvPicPr>
          <p:cNvPr id="2" name="Picture 1" descr="image.png"/>
          <p:cNvPicPr>
            <a:picLocks noChangeAspect="1"/>
          </p:cNvPicPr>
          <p:nvPr/>
        </p:nvPicPr>
        <p:blipFill>
          <a:blip r:embed="rId2"/>
          <a:stretch>
            <a:fillRect/>
          </a:stretch>
        </p:blipFill>
        <p:spPr>
          <a:xfrm>
            <a:off x="1587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 y="5067300"/>
            <a:ext cx="10934700" cy="1257300"/>
          </a:xfrm>
          <a:prstGeom prst="rect">
            <a:avLst/>
          </a:prstGeom>
        </p:spPr>
      </p:pic>
      <p:sp>
        <p:nvSpPr>
          <p:cNvPr id="5" name="TextBox 4"/>
          <p:cNvSpPr txBox="1"/>
          <p:nvPr/>
        </p:nvSpPr>
        <p:spPr>
          <a:xfrm>
            <a:off x="1025872" y="5253394"/>
            <a:ext cx="10337452" cy="123111"/>
          </a:xfrm>
          <a:prstGeom prst="rect">
            <a:avLst/>
          </a:prstGeom>
          <a:noFill/>
        </p:spPr>
        <p:txBody>
          <a:bodyPr wrap="square" lIns="0" tIns="0" rIns="0" bIns="0" anchor="ctr">
            <a:spAutoFit/>
          </a:bodyPr>
          <a:lstStyle/>
          <a:p>
            <a:pPr algn="l"/>
            <a:r>
              <a:rPr sz="969" b="0" i="0" u="none" dirty="0">
                <a:solidFill>
                  <a:srgbClr val="99A6B7"/>
                </a:solidFill>
                <a:latin typeface="Space Grotesk"/>
              </a:rPr>
              <a:t>NOTES</a:t>
            </a:r>
          </a:p>
        </p:txBody>
      </p:sp>
      <p:pic>
        <p:nvPicPr>
          <p:cNvPr id="8" name="Picture 7" descr="image.png"/>
          <p:cNvPicPr>
            <a:picLocks noChangeAspect="1"/>
          </p:cNvPicPr>
          <p:nvPr/>
        </p:nvPicPr>
        <p:blipFill>
          <a:blip r:embed="rId4"/>
          <a:stretch>
            <a:fillRect/>
          </a:stretch>
        </p:blipFill>
        <p:spPr>
          <a:xfrm>
            <a:off x="828675" y="5248275"/>
            <a:ext cx="120997" cy="133350"/>
          </a:xfrm>
          <a:prstGeom prst="rect">
            <a:avLst/>
          </a:prstGeom>
        </p:spPr>
      </p:pic>
      <p:sp>
        <p:nvSpPr>
          <p:cNvPr id="9" name="TextBox 8"/>
          <p:cNvSpPr txBox="1"/>
          <p:nvPr/>
        </p:nvSpPr>
        <p:spPr>
          <a:xfrm>
            <a:off x="628650" y="533400"/>
            <a:ext cx="11481435" cy="581025"/>
          </a:xfrm>
          <a:prstGeom prst="rect">
            <a:avLst/>
          </a:prstGeom>
          <a:noFill/>
        </p:spPr>
        <p:txBody>
          <a:bodyPr wrap="square" lIns="27432" tIns="0" rIns="27432" bIns="0">
            <a:spAutoFit/>
          </a:bodyPr>
          <a:lstStyle/>
          <a:p>
            <a:pPr algn="l"/>
            <a:r>
              <a:rPr sz="2900" b="1">
                <a:solidFill>
                  <a:srgbClr val="F5F7FA"/>
                </a:solidFill>
                <a:latin typeface="Space Grotesk"/>
              </a:rPr>
              <a:t>Knowledge check + mental model</a:t>
            </a:r>
          </a:p>
        </p:txBody>
      </p:sp>
      <p:sp>
        <p:nvSpPr>
          <p:cNvPr id="10" name="TextBox 9"/>
          <p:cNvSpPr txBox="1"/>
          <p:nvPr/>
        </p:nvSpPr>
        <p:spPr>
          <a:xfrm>
            <a:off x="628650" y="1400175"/>
            <a:ext cx="10001250" cy="323850"/>
          </a:xfrm>
          <a:prstGeom prst="rect">
            <a:avLst/>
          </a:prstGeom>
          <a:noFill/>
        </p:spPr>
        <p:txBody>
          <a:bodyPr wrap="square" lIns="27432" tIns="0" rIns="27432" bIns="0">
            <a:spAutoFit/>
          </a:bodyPr>
          <a:lstStyle/>
          <a:p>
            <a:pPr algn="l"/>
            <a:r>
              <a:rPr sz="1600" b="0">
                <a:solidFill>
                  <a:srgbClr val="51E0FF"/>
                </a:solidFill>
                <a:latin typeface="Plus Jakarta Sans"/>
              </a:rPr>
              <a:t>If these answers are clear, the RBAC section is doing its job</a:t>
            </a:r>
          </a:p>
        </p:txBody>
      </p:sp>
      <p:sp>
        <p:nvSpPr>
          <p:cNvPr id="11" name="TextBox 10"/>
          <p:cNvSpPr txBox="1"/>
          <p:nvPr/>
        </p:nvSpPr>
        <p:spPr>
          <a:xfrm>
            <a:off x="628650" y="1900000"/>
            <a:ext cx="5600000" cy="3000000"/>
          </a:xfrm>
          <a:prstGeom prst="rect">
            <a:avLst/>
          </a:prstGeom>
          <a:noFill/>
        </p:spPr>
        <p:txBody>
          <a:bodyPr wrap="square" lIns="18288" tIns="0" rIns="18288" bIns="0">
            <a:spAutoFit/>
          </a:bodyPr>
          <a:lstStyle/>
          <a:p>
            <a:pPr algn="l">
              <a:spcAft>
                <a:spcPts val="700"/>
              </a:spcAft>
              <a:defRPr sz="1600">
                <a:solidFill>
                  <a:srgbClr val="D7DEE8"/>
                </a:solidFill>
                <a:latin typeface="Plus Jakarta Sans"/>
              </a:defRPr>
            </a:pPr>
            <a:r>
              <a:rPr sz="1600">
                <a:solidFill>
                  <a:srgbClr val="D7DEE8"/>
                </a:solidFill>
                <a:latin typeface="Plus Jakarta Sans"/>
              </a:rPr>
              <a:t>• What is the difference between authentication and authorization?</a:t>
            </a:r>
          </a:p>
          <a:p>
            <a:pPr algn="l">
              <a:spcAft>
                <a:spcPts val="700"/>
              </a:spcAft>
            </a:pPr>
            <a:r>
              <a:rPr sz="1600">
                <a:solidFill>
                  <a:srgbClr val="D7DEE8"/>
                </a:solidFill>
                <a:latin typeface="Plus Jakarta Sans"/>
              </a:rPr>
              <a:t>• Role vs ClusterRole: what changes?</a:t>
            </a:r>
          </a:p>
          <a:p>
            <a:pPr algn="l">
              <a:spcAft>
                <a:spcPts val="700"/>
              </a:spcAft>
            </a:pPr>
            <a:r>
              <a:rPr sz="1600">
                <a:solidFill>
                  <a:srgbClr val="D7DEE8"/>
                </a:solidFill>
                <a:latin typeface="Plus Jakarta Sans"/>
              </a:rPr>
              <a:t>• RoleBinding vs ClusterRoleBinding: what changes?</a:t>
            </a:r>
          </a:p>
          <a:p>
            <a:pPr algn="l">
              <a:spcAft>
                <a:spcPts val="700"/>
              </a:spcAft>
            </a:pPr>
            <a:r>
              <a:rPr sz="1600">
                <a:solidFill>
                  <a:srgbClr val="D7DEE8"/>
                </a:solidFill>
                <a:latin typeface="Plus Jakarta Sans"/>
              </a:rPr>
              <a:t>• Can a RoleBinding reference a ClusterRole?</a:t>
            </a:r>
          </a:p>
          <a:p>
            <a:pPr algn="l">
              <a:spcAft>
                <a:spcPts val="700"/>
              </a:spcAft>
            </a:pPr>
            <a:r>
              <a:rPr sz="1600">
                <a:solidFill>
                  <a:srgbClr val="D7DEE8"/>
                </a:solidFill>
                <a:latin typeface="Plus Jakarta Sans"/>
              </a:rPr>
              <a:t>• What does apiGroups: [""] mean?</a:t>
            </a:r>
          </a:p>
          <a:p>
            <a:pPr algn="l">
              <a:spcAft>
                <a:spcPts val="700"/>
              </a:spcAft>
            </a:pPr>
            <a:r>
              <a:rPr sz="1600">
                <a:solidFill>
                  <a:srgbClr val="D7DEE8"/>
                </a:solidFill>
                <a:latin typeface="Plus Jakarta Sans"/>
              </a:rPr>
              <a:t>• Does RBAC have explicit deny rules?</a:t>
            </a:r>
          </a:p>
          <a:p>
            <a:pPr algn="l">
              <a:spcAft>
                <a:spcPts val="700"/>
              </a:spcAft>
            </a:pPr>
            <a:r>
              <a:rPr sz="1600">
                <a:solidFill>
                  <a:srgbClr val="D7DEE8"/>
                </a:solidFill>
                <a:latin typeface="Plus Jakarta Sans"/>
              </a:rPr>
              <a:t>• What command checks whether an action is allowed?</a:t>
            </a:r>
          </a:p>
        </p:txBody>
      </p:sp>
      <p:sp>
        <p:nvSpPr>
          <p:cNvPr id="12" name="Rounded Rectangle 11"/>
          <p:cNvSpPr/>
          <p:nvPr/>
        </p:nvSpPr>
        <p:spPr>
          <a:xfrm>
            <a:off x="7920810" y="1257200"/>
            <a:ext cx="3155062" cy="3642800"/>
          </a:xfrm>
          <a:prstGeom prst="roundRect">
            <a:avLst/>
          </a:prstGeom>
          <a:solidFill>
            <a:srgbClr val="0C1B2D"/>
          </a:solidFill>
          <a:ln w="12700">
            <a:solidFill>
              <a:srgbClr val="314963"/>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100" b="1">
                <a:solidFill>
                  <a:srgbClr val="51E0FF"/>
                </a:solidFill>
                <a:latin typeface="Space Grotesk"/>
              </a:rPr>
              <a:t>Mental model</a:t>
            </a:r>
          </a:p>
          <a:p>
            <a:pPr algn="l">
              <a:spcAft>
                <a:spcPts val="400"/>
              </a:spcAft>
            </a:pPr>
            <a:r>
              <a:rPr sz="1450">
                <a:solidFill>
                  <a:srgbClr val="D7DEE8"/>
                </a:solidFill>
                <a:latin typeface="Plus Jakarta Sans"/>
              </a:rPr>
              <a:t>Subject</a:t>
            </a:r>
          </a:p>
          <a:p>
            <a:pPr algn="l">
              <a:spcAft>
                <a:spcPts val="400"/>
              </a:spcAft>
            </a:pPr>
            <a:r>
              <a:rPr sz="1450">
                <a:solidFill>
                  <a:srgbClr val="D7DEE8"/>
                </a:solidFill>
                <a:latin typeface="Plus Jakarta Sans"/>
              </a:rPr>
              <a:t>↓</a:t>
            </a:r>
          </a:p>
          <a:p>
            <a:pPr algn="l">
              <a:spcAft>
                <a:spcPts val="400"/>
              </a:spcAft>
            </a:pPr>
            <a:r>
              <a:rPr sz="1450">
                <a:solidFill>
                  <a:srgbClr val="D7DEE8"/>
                </a:solidFill>
                <a:latin typeface="Plus Jakarta Sans"/>
              </a:rPr>
              <a:t>Binding</a:t>
            </a:r>
          </a:p>
          <a:p>
            <a:pPr algn="l">
              <a:spcAft>
                <a:spcPts val="400"/>
              </a:spcAft>
            </a:pPr>
            <a:r>
              <a:rPr sz="1450">
                <a:solidFill>
                  <a:srgbClr val="D7DEE8"/>
                </a:solidFill>
                <a:latin typeface="Plus Jakarta Sans"/>
              </a:rPr>
              <a:t>↓</a:t>
            </a:r>
          </a:p>
          <a:p>
            <a:pPr algn="l">
              <a:spcAft>
                <a:spcPts val="400"/>
              </a:spcAft>
            </a:pPr>
            <a:r>
              <a:rPr sz="1450">
                <a:solidFill>
                  <a:srgbClr val="D7DEE8"/>
                </a:solidFill>
                <a:latin typeface="Plus Jakarta Sans"/>
              </a:rPr>
              <a:t>Role / ClusterRole</a:t>
            </a:r>
          </a:p>
          <a:p>
            <a:pPr algn="l">
              <a:spcAft>
                <a:spcPts val="400"/>
              </a:spcAft>
            </a:pPr>
            <a:r>
              <a:rPr sz="1450">
                <a:solidFill>
                  <a:srgbClr val="D7DEE8"/>
                </a:solidFill>
                <a:latin typeface="Plus Jakarta Sans"/>
              </a:rPr>
              <a:t>↓</a:t>
            </a:r>
          </a:p>
          <a:p>
            <a:pPr algn="l">
              <a:spcAft>
                <a:spcPts val="400"/>
              </a:spcAft>
            </a:pPr>
            <a:r>
              <a:rPr sz="1450">
                <a:solidFill>
                  <a:srgbClr val="D7DEE8"/>
                </a:solidFill>
                <a:latin typeface="Plus Jakarta Sans"/>
              </a:rPr>
              <a:t>apiGroups + resources + verbs</a:t>
            </a:r>
          </a:p>
          <a:p>
            <a:pPr algn="l">
              <a:spcAft>
                <a:spcPts val="400"/>
              </a:spcAft>
            </a:pPr>
            <a:endParaRPr sz="1450">
              <a:solidFill>
                <a:srgbClr val="D7DEE8"/>
              </a:solidFill>
              <a:latin typeface="Plus Jakarta Sans"/>
            </a:endParaRPr>
          </a:p>
          <a:p>
            <a:pPr algn="l">
              <a:spcAft>
                <a:spcPts val="400"/>
              </a:spcAft>
            </a:pPr>
            <a:r>
              <a:rPr sz="1450">
                <a:solidFill>
                  <a:srgbClr val="D7DEE8"/>
                </a:solidFill>
                <a:latin typeface="Plus Jakarta Sans"/>
              </a:rPr>
              <a:t>Scope comes from the binding.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20142</TotalTime>
  <Words>10854</Words>
  <Application>Microsoft Office PowerPoint</Application>
  <PresentationFormat>Widescreen</PresentationFormat>
  <Paragraphs>1300</Paragraphs>
  <Slides>96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96</vt:i4>
      </vt:variant>
    </vt:vector>
  </HeadingPairs>
  <TitlesOfParts>
    <vt:vector size="103" baseType="lpstr">
      <vt:lpstr>Aptos</vt:lpstr>
      <vt:lpstr>Arial</vt:lpstr>
      <vt:lpstr>Calibri</vt:lpstr>
      <vt:lpstr>Consolas</vt:lpstr>
      <vt:lpstr>Plus Jakarta Sans</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Rolling Updates — Beginner Training Sample</dc:title>
  <dc:subject>Rolling Updates training sample using the original Kubernetes template</dc:subject>
  <dc:creator>OpenAI</dc:creator>
  <cp:keywords/>
  <dc:description>Technical content based on official Kubernetes documentation; original slide template preserved.</dc:description>
  <cp:lastModifiedBy>Petkov, Aleks</cp:lastModifiedBy>
  <cp:revision>74</cp:revision>
  <dcterms:created xsi:type="dcterms:W3CDTF">2013-01-27T09:14:16Z</dcterms:created>
  <dcterms:modified xsi:type="dcterms:W3CDTF">2026-09-24T23:16:58Z</dcterms:modified>
  <cp:category/>
</cp:coreProperties>
</file>